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38"/>
  </p:notesMasterIdLst>
  <p:sldIdLst>
    <p:sldId id="312" r:id="rId2"/>
    <p:sldId id="259" r:id="rId3"/>
    <p:sldId id="326" r:id="rId4"/>
    <p:sldId id="327" r:id="rId5"/>
    <p:sldId id="328" r:id="rId6"/>
    <p:sldId id="329" r:id="rId7"/>
    <p:sldId id="330" r:id="rId8"/>
    <p:sldId id="359" r:id="rId9"/>
    <p:sldId id="331" r:id="rId10"/>
    <p:sldId id="360" r:id="rId11"/>
    <p:sldId id="269" r:id="rId12"/>
    <p:sldId id="334" r:id="rId13"/>
    <p:sldId id="342" r:id="rId14"/>
    <p:sldId id="343" r:id="rId15"/>
    <p:sldId id="275" r:id="rId16"/>
    <p:sldId id="344" r:id="rId17"/>
    <p:sldId id="345" r:id="rId18"/>
    <p:sldId id="346" r:id="rId19"/>
    <p:sldId id="279" r:id="rId20"/>
    <p:sldId id="347" r:id="rId21"/>
    <p:sldId id="348" r:id="rId22"/>
    <p:sldId id="362" r:id="rId23"/>
    <p:sldId id="350" r:id="rId24"/>
    <p:sldId id="351" r:id="rId25"/>
    <p:sldId id="352" r:id="rId26"/>
    <p:sldId id="353" r:id="rId27"/>
    <p:sldId id="354" r:id="rId28"/>
    <p:sldId id="290" r:id="rId29"/>
    <p:sldId id="291" r:id="rId30"/>
    <p:sldId id="363" r:id="rId31"/>
    <p:sldId id="364" r:id="rId32"/>
    <p:sldId id="365" r:id="rId33"/>
    <p:sldId id="366" r:id="rId34"/>
    <p:sldId id="358" r:id="rId35"/>
    <p:sldId id="300" r:id="rId36"/>
    <p:sldId id="318" r:id="rId37"/>
  </p:sldIdLst>
  <p:sldSz cx="24384000" cy="13716000"/>
  <p:notesSz cx="6858000" cy="9144000"/>
  <p:embeddedFontLst>
    <p:embeddedFont>
      <p:font typeface="Consolas" panose="020B0609020204030204" pitchFamily="49" charset="0"/>
      <p:regular r:id="rId39"/>
      <p:bold r:id="rId40"/>
      <p:italic r:id="rId41"/>
      <p:boldItalic r:id="rId42"/>
    </p:embeddedFont>
    <p:embeddedFont>
      <p:font typeface="Helvetica Neue" panose="02000503000000020004" pitchFamily="2" charset="0"/>
      <p:regular r:id="rId43"/>
      <p:bold r:id="rId44"/>
      <p:italic r:id="rId45"/>
      <p:boldItalic r:id="rId46"/>
    </p:embeddedFont>
    <p:embeddedFont>
      <p:font typeface="Helvetica Neue Light" panose="02000403000000020004" pitchFamily="2" charset="0"/>
      <p:regular r:id="rId47"/>
      <p:bold r:id="rId48"/>
      <p:italic r:id="rId49"/>
      <p:boldItalic r:id="rId50"/>
    </p:embeddedFont>
    <p:embeddedFont>
      <p:font typeface="Montserrat" pitchFamily="2" charset="77"/>
      <p:regular r:id="rId51"/>
      <p:bold r:id="rId52"/>
      <p:italic r:id="rId53"/>
      <p:boldItalic r:id="rId54"/>
    </p:embeddedFont>
    <p:embeddedFont>
      <p:font typeface="Tahoma" panose="020B0604030504040204" pitchFamily="34" charset="0"/>
      <p:regular r:id="rId55"/>
      <p:bold r:id="rId56"/>
    </p:embeddedFont>
    <p:embeddedFont>
      <p:font typeface="Verdana" panose="020B0604030504040204" pitchFamily="34" charset="0"/>
      <p:regular r:id="rId57"/>
      <p:bold r:id="rId58"/>
      <p:italic r:id="rId59"/>
      <p:boldItalic r:id="rId6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4F4FF"/>
    <a:srgbClr val="03A2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B6E92BE-64E8-42D7-B354-80DF0D40E2A8}" styleName="Table_0">
    <a:wholeTbl>
      <a:tcTxStyle>
        <a:font>
          <a:latin typeface="Founders Grotesk Semibold"/>
          <a:ea typeface="Founders Grotesk Semibold"/>
          <a:cs typeface="Founders Grotesk Semibold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7CD1BBAE-DF79-4AA9-A3E9-C57606AD820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81"/>
    <p:restoredTop sz="94658"/>
  </p:normalViewPr>
  <p:slideViewPr>
    <p:cSldViewPr snapToGrid="0">
      <p:cViewPr varScale="1">
        <p:scale>
          <a:sx n="55" d="100"/>
          <a:sy n="55" d="100"/>
        </p:scale>
        <p:origin x="280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font" Target="fonts/font12.fntdata"/><Relationship Id="rId55" Type="http://schemas.openxmlformats.org/officeDocument/2006/relationships/font" Target="fonts/font17.fntdata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font" Target="fonts/font15.fntdata"/><Relationship Id="rId58" Type="http://schemas.openxmlformats.org/officeDocument/2006/relationships/font" Target="fonts/font20.fntdata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56" Type="http://schemas.openxmlformats.org/officeDocument/2006/relationships/font" Target="fonts/font18.fntdata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1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59" Type="http://schemas.openxmlformats.org/officeDocument/2006/relationships/font" Target="fonts/font21.fntdata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54" Type="http://schemas.openxmlformats.org/officeDocument/2006/relationships/font" Target="fonts/font16.fntdata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1.fntdata"/><Relationship Id="rId57" Type="http://schemas.openxmlformats.org/officeDocument/2006/relationships/font" Target="fonts/font19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52" Type="http://schemas.openxmlformats.org/officeDocument/2006/relationships/font" Target="fonts/font14.fntdata"/><Relationship Id="rId60" Type="http://schemas.openxmlformats.org/officeDocument/2006/relationships/font" Target="fonts/font22.fntdata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c0dca32b2c_0_5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c0dca32b2c_0_5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9" name="Google Shape;16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0" name="Google Shape;26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5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4" name="Google Shape;30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7" name="Google Shape;31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15</a:t>
            </a:fld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26" name="Google Shape;32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2388" cy="36020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7" name="Google Shape;327;p17:notes"/>
          <p:cNvSpPr txBox="1">
            <a:spLocks noGrp="1"/>
          </p:cNvSpPr>
          <p:nvPr>
            <p:ph type="body" idx="1"/>
          </p:nvPr>
        </p:nvSpPr>
        <p:spPr>
          <a:xfrm>
            <a:off x="976313" y="4560888"/>
            <a:ext cx="536257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0" name="Google Shape;34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9" name="Google Shape;34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9" name="Google Shape;36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0" name="Google Shape;38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9" name="Google Shape;38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8" name="Google Shape;398;p2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TODO: stick to those rather than dataflow, switch level</a:t>
            </a:r>
          </a:p>
        </p:txBody>
      </p:sp>
      <p:sp>
        <p:nvSpPr>
          <p:cNvPr id="399" name="Google Shape;399;p2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2" name="Google Shape;42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3" name="Google Shape;44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9" name="Google Shape;45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7" name="Google Shape;477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5" name="Google Shape;49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9" name="Google Shape;529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3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4" name="Google Shape;574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4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7" name="Google Shape;667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4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80" name="Google Shape;680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>
          <a:extLst>
            <a:ext uri="{FF2B5EF4-FFF2-40B4-BE49-F238E27FC236}">
              <a16:creationId xmlns:a16="http://schemas.microsoft.com/office/drawing/2014/main" id="{B1802800-3E33-FBC4-1FDB-3C6401507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c0dca32b2c_0_585:notes">
            <a:extLst>
              <a:ext uri="{FF2B5EF4-FFF2-40B4-BE49-F238E27FC236}">
                <a16:creationId xmlns:a16="http://schemas.microsoft.com/office/drawing/2014/main" id="{EA9D2693-0E23-0BC5-1F57-9023FE33C1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c0dca32b2c_0_585:notes">
            <a:extLst>
              <a:ext uri="{FF2B5EF4-FFF2-40B4-BE49-F238E27FC236}">
                <a16:creationId xmlns:a16="http://schemas.microsoft.com/office/drawing/2014/main" id="{3FCC514F-B941-27DC-BF61-AFCEB63169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3052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hyperlink" Target="mailto:jgonzalez@utec.edu.pe" TargetMode="External"/><Relationship Id="rId5" Type="http://schemas.openxmlformats.org/officeDocument/2006/relationships/hyperlink" Target="mailto:LADANAQUE@UTEC.EDU.PE" TargetMode="External"/><Relationship Id="rId4" Type="http://schemas.openxmlformats.org/officeDocument/2006/relationships/hyperlink" Target="mailto:CWILLIAMS@UTEC.EDU.PE" TargetMode="Externa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Fact">
  <p:cSld name="Big Fa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8" descr="Image"/>
          <p:cNvPicPr preferRelativeResize="0"/>
          <p:nvPr/>
        </p:nvPicPr>
        <p:blipFill rotWithShape="1">
          <a:blip r:embed="rId2">
            <a:alphaModFix amt="95000"/>
          </a:blip>
          <a:srcRect l="23939" t="4190" r="19218" b="11250"/>
          <a:stretch>
            <a:fillRect/>
          </a:stretch>
        </p:blipFill>
        <p:spPr>
          <a:xfrm>
            <a:off x="0" y="1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8"/>
          <p:cNvSpPr/>
          <p:nvPr/>
        </p:nvSpPr>
        <p:spPr>
          <a:xfrm>
            <a:off x="0" y="53662"/>
            <a:ext cx="24384000" cy="13716000"/>
          </a:xfrm>
          <a:prstGeom prst="rect">
            <a:avLst/>
          </a:prstGeom>
          <a:solidFill>
            <a:srgbClr val="00B0F0">
              <a:alpha val="51372"/>
            </a:srgbClr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 panose="020B0604020202020204"/>
              <a:buNone/>
            </a:pPr>
            <a:endParaRPr sz="3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9" name="Google Shape;19;p48"/>
          <p:cNvSpPr txBox="1">
            <a:spLocks noGrp="1"/>
          </p:cNvSpPr>
          <p:nvPr>
            <p:ph type="body" idx="1"/>
          </p:nvPr>
        </p:nvSpPr>
        <p:spPr>
          <a:xfrm>
            <a:off x="3798093" y="4197928"/>
            <a:ext cx="3018343" cy="4655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425" tIns="71425" rIns="71425" bIns="7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  <a:defRPr sz="66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800"/>
              <a:buFont typeface="Calibri"/>
              <a:buNone/>
              <a:defRPr sz="288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  <a:defRPr sz="48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  <a:defRPr sz="48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  <a:defRPr sz="48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8"/>
          <p:cNvSpPr txBox="1">
            <a:spLocks noGrp="1"/>
          </p:cNvSpPr>
          <p:nvPr>
            <p:ph type="body" idx="2"/>
          </p:nvPr>
        </p:nvSpPr>
        <p:spPr>
          <a:xfrm>
            <a:off x="7206311" y="5759981"/>
            <a:ext cx="11497325" cy="2303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425" tIns="71425" rIns="71425" bIns="71425" anchor="t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  <a:defRPr sz="5200" b="1" u="sng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48"/>
          <p:cNvSpPr txBox="1">
            <a:spLocks noGrp="1"/>
          </p:cNvSpPr>
          <p:nvPr>
            <p:ph type="sldNum" idx="12"/>
          </p:nvPr>
        </p:nvSpPr>
        <p:spPr>
          <a:xfrm>
            <a:off x="22983974" y="12722275"/>
            <a:ext cx="632802" cy="63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b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3 Up">
  <p:cSld name="Photo - 3 Up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1"/>
          <p:cNvSpPr>
            <a:spLocks noGrp="1"/>
          </p:cNvSpPr>
          <p:nvPr>
            <p:ph type="pic" idx="2"/>
          </p:nvPr>
        </p:nvSpPr>
        <p:spPr>
          <a:xfrm>
            <a:off x="12031265" y="6518950"/>
            <a:ext cx="8709021" cy="5840017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51"/>
          <p:cNvSpPr>
            <a:spLocks noGrp="1"/>
          </p:cNvSpPr>
          <p:nvPr>
            <p:ph type="pic" idx="3"/>
          </p:nvPr>
        </p:nvSpPr>
        <p:spPr>
          <a:xfrm>
            <a:off x="12084843" y="839390"/>
            <a:ext cx="8626257" cy="5731879"/>
          </a:xfrm>
          <a:prstGeom prst="rect">
            <a:avLst/>
          </a:prstGeom>
          <a:noFill/>
          <a:ln>
            <a:noFill/>
          </a:ln>
        </p:spPr>
      </p:sp>
      <p:sp>
        <p:nvSpPr>
          <p:cNvPr id="39" name="Google Shape;39;p51"/>
          <p:cNvSpPr>
            <a:spLocks noGrp="1"/>
          </p:cNvSpPr>
          <p:nvPr>
            <p:ph type="pic" idx="4"/>
          </p:nvPr>
        </p:nvSpPr>
        <p:spPr>
          <a:xfrm>
            <a:off x="3369468" y="839390"/>
            <a:ext cx="9269017" cy="11444659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51"/>
          <p:cNvSpPr txBox="1">
            <a:spLocks noGrp="1"/>
          </p:cNvSpPr>
          <p:nvPr>
            <p:ph type="sldNum" idx="12"/>
          </p:nvPr>
        </p:nvSpPr>
        <p:spPr>
          <a:xfrm>
            <a:off x="20299523" y="12441864"/>
            <a:ext cx="309576" cy="454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b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">
  <p:cSld name="Photo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2"/>
          <p:cNvSpPr>
            <a:spLocks noGrp="1"/>
          </p:cNvSpPr>
          <p:nvPr>
            <p:ph type="pic" idx="2"/>
          </p:nvPr>
        </p:nvSpPr>
        <p:spPr>
          <a:xfrm>
            <a:off x="2101453" y="-535782"/>
            <a:ext cx="23520797" cy="14510756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52"/>
          <p:cNvSpPr txBox="1">
            <a:spLocks noGrp="1"/>
          </p:cNvSpPr>
          <p:nvPr>
            <p:ph type="sldNum" idx="12"/>
          </p:nvPr>
        </p:nvSpPr>
        <p:spPr>
          <a:xfrm>
            <a:off x="20299523" y="12441864"/>
            <a:ext cx="309576" cy="454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b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3"/>
          <p:cNvSpPr txBox="1">
            <a:spLocks noGrp="1"/>
          </p:cNvSpPr>
          <p:nvPr>
            <p:ph type="sldNum" idx="12"/>
          </p:nvPr>
        </p:nvSpPr>
        <p:spPr>
          <a:xfrm>
            <a:off x="20299523" y="12441864"/>
            <a:ext cx="309576" cy="454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b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">
  <p:cSld name="Title &amp; Subtitle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Google Shape;47;p54"/>
          <p:cNvCxnSpPr/>
          <p:nvPr/>
        </p:nvCxnSpPr>
        <p:spPr>
          <a:xfrm>
            <a:off x="3851671" y="6679406"/>
            <a:ext cx="16689508" cy="182"/>
          </a:xfrm>
          <a:prstGeom prst="straightConnector1">
            <a:avLst/>
          </a:prstGeom>
          <a:noFill/>
          <a:ln w="12700" cap="flat" cmpd="sng">
            <a:solidFill>
              <a:srgbClr val="9A9A9A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48" name="Google Shape;48;p54"/>
          <p:cNvSpPr txBox="1">
            <a:spLocks noGrp="1"/>
          </p:cNvSpPr>
          <p:nvPr>
            <p:ph type="title"/>
          </p:nvPr>
        </p:nvSpPr>
        <p:spPr>
          <a:xfrm>
            <a:off x="3851671" y="1857375"/>
            <a:ext cx="16680658" cy="4464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425" tIns="71425" rIns="71425" bIns="7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Helvetica Neue Light"/>
              <a:buNone/>
              <a:defRPr sz="58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4"/>
          <p:cNvSpPr txBox="1">
            <a:spLocks noGrp="1"/>
          </p:cNvSpPr>
          <p:nvPr>
            <p:ph type="body" idx="1"/>
          </p:nvPr>
        </p:nvSpPr>
        <p:spPr>
          <a:xfrm>
            <a:off x="3851671" y="7054453"/>
            <a:ext cx="16680658" cy="1428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425" tIns="71425" rIns="71425" bIns="7142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3600"/>
              <a:buFont typeface="Helvetica Neue"/>
              <a:buNone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3600"/>
              <a:buFont typeface="Helvetica Neue"/>
              <a:buNone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3600"/>
              <a:buFont typeface="Helvetica Neue"/>
              <a:buNone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3600"/>
              <a:buFont typeface="Helvetica Neue"/>
              <a:buNone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3600"/>
              <a:buFont typeface="Helvetica Neue"/>
              <a:buNone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54"/>
          <p:cNvSpPr txBox="1">
            <a:spLocks noGrp="1"/>
          </p:cNvSpPr>
          <p:nvPr>
            <p:ph type="sldNum" idx="12"/>
          </p:nvPr>
        </p:nvSpPr>
        <p:spPr>
          <a:xfrm>
            <a:off x="20329146" y="12942938"/>
            <a:ext cx="409779" cy="41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425" tIns="71425" rIns="71425" bIns="71425" anchor="b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Top">
  <p:cSld name="Title - Top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55"/>
          <p:cNvCxnSpPr/>
          <p:nvPr/>
        </p:nvCxnSpPr>
        <p:spPr>
          <a:xfrm>
            <a:off x="3851671" y="1357312"/>
            <a:ext cx="16689524" cy="182"/>
          </a:xfrm>
          <a:prstGeom prst="straightConnector1">
            <a:avLst/>
          </a:prstGeom>
          <a:noFill/>
          <a:ln w="12700" cap="flat" cmpd="sng">
            <a:solidFill>
              <a:srgbClr val="9A9A9A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53" name="Google Shape;53;p55"/>
          <p:cNvSpPr txBox="1">
            <a:spLocks noGrp="1"/>
          </p:cNvSpPr>
          <p:nvPr>
            <p:ph type="title"/>
          </p:nvPr>
        </p:nvSpPr>
        <p:spPr>
          <a:xfrm>
            <a:off x="3851671" y="-839391"/>
            <a:ext cx="16680658" cy="1964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425" tIns="71425" rIns="71425" bIns="7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Helvetica Neue Light"/>
              <a:buNone/>
              <a:defRPr sz="58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55"/>
          <p:cNvSpPr txBox="1">
            <a:spLocks noGrp="1"/>
          </p:cNvSpPr>
          <p:nvPr>
            <p:ph type="sldNum" idx="12"/>
          </p:nvPr>
        </p:nvSpPr>
        <p:spPr>
          <a:xfrm>
            <a:off x="20074943" y="12670399"/>
            <a:ext cx="663982" cy="688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425" tIns="71425" rIns="71425" bIns="71425" anchor="b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" userDrawn="1">
  <p:cSld name="9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10"/>
          <p:cNvPicPr preferRelativeResize="0"/>
          <p:nvPr/>
        </p:nvPicPr>
        <p:blipFill rotWithShape="1">
          <a:blip r:embed="rId2">
            <a:alphaModFix/>
          </a:blip>
          <a:srcRect t="92127"/>
          <a:stretch/>
        </p:blipFill>
        <p:spPr>
          <a:xfrm>
            <a:off x="0" y="12616253"/>
            <a:ext cx="24384000" cy="107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33;p10">
            <a:extLst>
              <a:ext uri="{FF2B5EF4-FFF2-40B4-BE49-F238E27FC236}">
                <a16:creationId xmlns:a16="http://schemas.microsoft.com/office/drawing/2014/main" id="{E19754B6-EC70-4BA2-DD95-152CE939744A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80051" t="6515" r="812" b="87543"/>
          <a:stretch/>
        </p:blipFill>
        <p:spPr>
          <a:xfrm>
            <a:off x="19645285" y="12616253"/>
            <a:ext cx="4666273" cy="815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96264" y="13243677"/>
            <a:ext cx="3550825" cy="39532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3;p49">
            <a:extLst>
              <a:ext uri="{FF2B5EF4-FFF2-40B4-BE49-F238E27FC236}">
                <a16:creationId xmlns:a16="http://schemas.microsoft.com/office/drawing/2014/main" id="{45F6C0AB-F843-2CF2-F391-004FAF9CD2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8090" y="216675"/>
            <a:ext cx="22211762" cy="1772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b="1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 dirty="0"/>
          </a:p>
        </p:txBody>
      </p:sp>
      <p:sp>
        <p:nvSpPr>
          <p:cNvPr id="3" name="Google Shape;24;p49">
            <a:extLst>
              <a:ext uri="{FF2B5EF4-FFF2-40B4-BE49-F238E27FC236}">
                <a16:creationId xmlns:a16="http://schemas.microsoft.com/office/drawing/2014/main" id="{EF2C62AB-DE47-AB79-08F3-25F4DB7AB0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88090" y="2580094"/>
            <a:ext cx="22211762" cy="9829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5" name="Google Shape;26;p49">
            <a:extLst>
              <a:ext uri="{FF2B5EF4-FFF2-40B4-BE49-F238E27FC236}">
                <a16:creationId xmlns:a16="http://schemas.microsoft.com/office/drawing/2014/main" id="{F07AEDF7-27BB-18BC-CCBC-CEC4B7FAB97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2442" y="12901281"/>
            <a:ext cx="914033" cy="923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  <a:defRPr sz="4800" b="1" i="0" u="none" strike="noStrike" cap="none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  <a:defRPr sz="4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  <a:defRPr sz="4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  <a:defRPr sz="4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  <a:defRPr sz="4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  <a:defRPr sz="4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  <a:defRPr sz="4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  <a:defRPr sz="4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  <a:defRPr sz="4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6334BC-DE7B-67B5-F58C-BA0AE69CDAD6}"/>
              </a:ext>
            </a:extLst>
          </p:cNvPr>
          <p:cNvSpPr txBox="1"/>
          <p:nvPr userDrawn="1"/>
        </p:nvSpPr>
        <p:spPr>
          <a:xfrm>
            <a:off x="1058917" y="13209056"/>
            <a:ext cx="56781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E" sz="2400" b="1" dirty="0">
                <a:solidFill>
                  <a:srgbClr val="002060"/>
                </a:solidFill>
              </a:rPr>
              <a:t>CS3051-COMPUTER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1563781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" userDrawn="1">
  <p:cSld name="4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24383987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7703" y="1036457"/>
            <a:ext cx="4666799" cy="51956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6245897-FDC7-AA19-DB9C-C2810867725A}"/>
              </a:ext>
            </a:extLst>
          </p:cNvPr>
          <p:cNvSpPr txBox="1"/>
          <p:nvPr userDrawn="1"/>
        </p:nvSpPr>
        <p:spPr>
          <a:xfrm>
            <a:off x="279816" y="12339137"/>
            <a:ext cx="12192000" cy="95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alibri"/>
              <a:buNone/>
            </a:pPr>
            <a:r>
              <a:rPr lang="en-US" sz="1867" b="1" dirty="0"/>
              <a:t>CS3051 - 2025II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alibri"/>
              <a:buNone/>
              <a:tabLst/>
              <a:defRPr/>
            </a:pPr>
            <a:r>
              <a:rPr lang="en-US" sz="1867" b="1" dirty="0"/>
              <a:t>PROF.: </a:t>
            </a:r>
            <a:r>
              <a:rPr lang="en-US" sz="1867" b="1" dirty="0">
                <a:hlinkClick r:id="rId4"/>
              </a:rPr>
              <a:t>CWILLIAMS</a:t>
            </a:r>
            <a:r>
              <a:rPr lang="en-US" sz="1867" b="1" u="sng" dirty="0">
                <a:solidFill>
                  <a:schemeClr val="hlink"/>
                </a:solidFill>
                <a:hlinkClick r:id="rId4"/>
              </a:rPr>
              <a:t>@UTEC.EDU.PE</a:t>
            </a:r>
            <a:r>
              <a:rPr lang="en-US" sz="1867" b="1" dirty="0"/>
              <a:t>, </a:t>
            </a:r>
            <a:r>
              <a:rPr lang="en-US" sz="1867" b="1" dirty="0">
                <a:hlinkClick r:id="rId5"/>
              </a:rPr>
              <a:t>LADANAQUE</a:t>
            </a:r>
            <a:r>
              <a:rPr lang="en-US" sz="1867" b="1" u="sng" dirty="0">
                <a:solidFill>
                  <a:schemeClr val="hlink"/>
                </a:solidFill>
                <a:hlinkClick r:id="rId5"/>
              </a:rPr>
              <a:t>@UTEC.EDU.PE</a:t>
            </a:r>
            <a:r>
              <a:rPr lang="en-US" sz="1867" b="1" u="sng" dirty="0">
                <a:solidFill>
                  <a:schemeClr val="hlink"/>
                </a:solidFill>
              </a:rPr>
              <a:t>, </a:t>
            </a:r>
            <a:r>
              <a:rPr lang="en-US" sz="1867" b="1" u="sng" dirty="0">
                <a:solidFill>
                  <a:schemeClr val="hlink"/>
                </a:solidFill>
                <a:hlinkClick r:id="rId6"/>
              </a:rPr>
              <a:t>JGONZALEZ@UTEC.EDU.PE</a:t>
            </a:r>
            <a:endParaRPr lang="en-US" sz="1867" b="1" u="sng" dirty="0">
              <a:solidFill>
                <a:schemeClr val="hlink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lang="en-US" sz="1867" b="1" dirty="0"/>
              <a:t>SRC: HARRIS &amp; HARRIS - DIGITAL DESIGN AND COMPUTER ARCHITECTURE RISC-V </a:t>
            </a:r>
            <a:endParaRPr lang="en-PE" sz="1867" b="1" dirty="0"/>
          </a:p>
        </p:txBody>
      </p:sp>
      <p:sp>
        <p:nvSpPr>
          <p:cNvPr id="2" name="Google Shape;12;p47">
            <a:extLst>
              <a:ext uri="{FF2B5EF4-FFF2-40B4-BE49-F238E27FC236}">
                <a16:creationId xmlns:a16="http://schemas.microsoft.com/office/drawing/2014/main" id="{8F2F439E-3FEC-2B0E-6727-80E8DD1451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05221" y="2416857"/>
            <a:ext cx="20881032" cy="2244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b" anchorCtr="0">
            <a:norm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14800"/>
              <a:buFont typeface="Calibri"/>
              <a:buNone/>
              <a:defRPr sz="14800" b="1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 dirty="0"/>
          </a:p>
        </p:txBody>
      </p:sp>
      <p:sp>
        <p:nvSpPr>
          <p:cNvPr id="4" name="Google Shape;13;p47">
            <a:extLst>
              <a:ext uri="{FF2B5EF4-FFF2-40B4-BE49-F238E27FC236}">
                <a16:creationId xmlns:a16="http://schemas.microsoft.com/office/drawing/2014/main" id="{7DCB2497-3CA5-E596-40AF-481465C90A0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89007" y="4755109"/>
            <a:ext cx="19587328" cy="2102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Calibri"/>
              <a:buNone/>
              <a:defRPr sz="66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Calibri"/>
              <a:buNone/>
              <a:defRPr sz="66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Calibri"/>
              <a:buNone/>
              <a:defRPr sz="66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Calibri"/>
              <a:buNone/>
              <a:defRPr sz="66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Calibri"/>
              <a:buNone/>
              <a:defRPr sz="66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6" name="Google Shape;231;p20">
            <a:extLst>
              <a:ext uri="{FF2B5EF4-FFF2-40B4-BE49-F238E27FC236}">
                <a16:creationId xmlns:a16="http://schemas.microsoft.com/office/drawing/2014/main" id="{6AC35109-03A3-0C93-640A-BF755DDFC9C5}"/>
              </a:ext>
            </a:extLst>
          </p:cNvPr>
          <p:cNvCxnSpPr/>
          <p:nvPr userDrawn="1"/>
        </p:nvCxnSpPr>
        <p:spPr>
          <a:xfrm rot="10800000">
            <a:off x="1828103" y="4464513"/>
            <a:ext cx="1529600" cy="0"/>
          </a:xfrm>
          <a:prstGeom prst="straightConnector1">
            <a:avLst/>
          </a:prstGeom>
          <a:noFill/>
          <a:ln w="76200" cap="flat" cmpd="sng">
            <a:solidFill>
              <a:srgbClr val="00BFFF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7" name="Google Shape;232;p20">
            <a:extLst>
              <a:ext uri="{FF2B5EF4-FFF2-40B4-BE49-F238E27FC236}">
                <a16:creationId xmlns:a16="http://schemas.microsoft.com/office/drawing/2014/main" id="{24BC82F3-6B76-6B2E-53C2-7620F5B5A404}"/>
              </a:ext>
            </a:extLst>
          </p:cNvPr>
          <p:cNvGrpSpPr/>
          <p:nvPr userDrawn="1"/>
        </p:nvGrpSpPr>
        <p:grpSpPr>
          <a:xfrm>
            <a:off x="721475" y="2966051"/>
            <a:ext cx="975099" cy="1356777"/>
            <a:chOff x="910723" y="1508212"/>
            <a:chExt cx="251660" cy="350166"/>
          </a:xfrm>
        </p:grpSpPr>
        <p:sp>
          <p:nvSpPr>
            <p:cNvPr id="8" name="Google Shape;233;p20">
              <a:extLst>
                <a:ext uri="{FF2B5EF4-FFF2-40B4-BE49-F238E27FC236}">
                  <a16:creationId xmlns:a16="http://schemas.microsoft.com/office/drawing/2014/main" id="{F7219738-01D5-B73A-05F6-53F57E500ACE}"/>
                </a:ext>
              </a:extLst>
            </p:cNvPr>
            <p:cNvSpPr/>
            <p:nvPr/>
          </p:nvSpPr>
          <p:spPr>
            <a:xfrm>
              <a:off x="910723" y="1508212"/>
              <a:ext cx="251660" cy="350166"/>
            </a:xfrm>
            <a:custGeom>
              <a:avLst/>
              <a:gdLst/>
              <a:ahLst/>
              <a:cxnLst/>
              <a:rect l="l" t="t" r="r" b="b"/>
              <a:pathLst>
                <a:path w="7907" h="11002" extrusionOk="0">
                  <a:moveTo>
                    <a:pt x="3942" y="334"/>
                  </a:moveTo>
                  <a:cubicBezTo>
                    <a:pt x="4132" y="334"/>
                    <a:pt x="4299" y="441"/>
                    <a:pt x="4394" y="608"/>
                  </a:cubicBezTo>
                  <a:cubicBezTo>
                    <a:pt x="4418" y="644"/>
                    <a:pt x="4466" y="679"/>
                    <a:pt x="4525" y="679"/>
                  </a:cubicBezTo>
                  <a:lnTo>
                    <a:pt x="5132" y="679"/>
                  </a:lnTo>
                  <a:cubicBezTo>
                    <a:pt x="5240" y="679"/>
                    <a:pt x="5311" y="763"/>
                    <a:pt x="5311" y="858"/>
                  </a:cubicBezTo>
                  <a:lnTo>
                    <a:pt x="5311" y="1382"/>
                  </a:lnTo>
                  <a:lnTo>
                    <a:pt x="2573" y="1382"/>
                  </a:lnTo>
                  <a:lnTo>
                    <a:pt x="2573" y="858"/>
                  </a:lnTo>
                  <a:cubicBezTo>
                    <a:pt x="2573" y="751"/>
                    <a:pt x="2668" y="679"/>
                    <a:pt x="2751" y="679"/>
                  </a:cubicBezTo>
                  <a:lnTo>
                    <a:pt x="3358" y="679"/>
                  </a:lnTo>
                  <a:cubicBezTo>
                    <a:pt x="3418" y="679"/>
                    <a:pt x="3466" y="644"/>
                    <a:pt x="3501" y="608"/>
                  </a:cubicBezTo>
                  <a:cubicBezTo>
                    <a:pt x="3585" y="441"/>
                    <a:pt x="3763" y="334"/>
                    <a:pt x="3942" y="334"/>
                  </a:cubicBezTo>
                  <a:close/>
                  <a:moveTo>
                    <a:pt x="7240" y="1013"/>
                  </a:moveTo>
                  <a:cubicBezTo>
                    <a:pt x="7442" y="1013"/>
                    <a:pt x="7609" y="1179"/>
                    <a:pt x="7609" y="1370"/>
                  </a:cubicBezTo>
                  <a:lnTo>
                    <a:pt x="7609" y="10323"/>
                  </a:lnTo>
                  <a:lnTo>
                    <a:pt x="7585" y="10323"/>
                  </a:lnTo>
                  <a:cubicBezTo>
                    <a:pt x="7585" y="10514"/>
                    <a:pt x="7430" y="10681"/>
                    <a:pt x="7228" y="10681"/>
                  </a:cubicBezTo>
                  <a:lnTo>
                    <a:pt x="691" y="10681"/>
                  </a:lnTo>
                  <a:cubicBezTo>
                    <a:pt x="501" y="10681"/>
                    <a:pt x="334" y="10514"/>
                    <a:pt x="334" y="10323"/>
                  </a:cubicBezTo>
                  <a:lnTo>
                    <a:pt x="334" y="1370"/>
                  </a:lnTo>
                  <a:cubicBezTo>
                    <a:pt x="334" y="1179"/>
                    <a:pt x="501" y="1013"/>
                    <a:pt x="691" y="1013"/>
                  </a:cubicBezTo>
                  <a:lnTo>
                    <a:pt x="2263" y="1013"/>
                  </a:lnTo>
                  <a:lnTo>
                    <a:pt x="2263" y="1537"/>
                  </a:lnTo>
                  <a:cubicBezTo>
                    <a:pt x="2263" y="1632"/>
                    <a:pt x="2335" y="1703"/>
                    <a:pt x="2418" y="1703"/>
                  </a:cubicBezTo>
                  <a:lnTo>
                    <a:pt x="5525" y="1703"/>
                  </a:lnTo>
                  <a:cubicBezTo>
                    <a:pt x="5609" y="1703"/>
                    <a:pt x="5680" y="1632"/>
                    <a:pt x="5680" y="1537"/>
                  </a:cubicBezTo>
                  <a:lnTo>
                    <a:pt x="5680" y="1013"/>
                  </a:lnTo>
                  <a:close/>
                  <a:moveTo>
                    <a:pt x="3954" y="1"/>
                  </a:moveTo>
                  <a:cubicBezTo>
                    <a:pt x="3692" y="1"/>
                    <a:pt x="3442" y="144"/>
                    <a:pt x="3275" y="346"/>
                  </a:cubicBezTo>
                  <a:lnTo>
                    <a:pt x="2751" y="346"/>
                  </a:lnTo>
                  <a:cubicBezTo>
                    <a:pt x="2525" y="346"/>
                    <a:pt x="2335" y="501"/>
                    <a:pt x="2275" y="691"/>
                  </a:cubicBezTo>
                  <a:lnTo>
                    <a:pt x="680" y="691"/>
                  </a:lnTo>
                  <a:cubicBezTo>
                    <a:pt x="310" y="691"/>
                    <a:pt x="1" y="989"/>
                    <a:pt x="1" y="1382"/>
                  </a:cubicBezTo>
                  <a:lnTo>
                    <a:pt x="1" y="10323"/>
                  </a:lnTo>
                  <a:cubicBezTo>
                    <a:pt x="1" y="10692"/>
                    <a:pt x="299" y="11002"/>
                    <a:pt x="680" y="11002"/>
                  </a:cubicBezTo>
                  <a:lnTo>
                    <a:pt x="7216" y="11002"/>
                  </a:lnTo>
                  <a:cubicBezTo>
                    <a:pt x="7585" y="11002"/>
                    <a:pt x="7907" y="10704"/>
                    <a:pt x="7907" y="10323"/>
                  </a:cubicBezTo>
                  <a:lnTo>
                    <a:pt x="7907" y="1382"/>
                  </a:lnTo>
                  <a:cubicBezTo>
                    <a:pt x="7907" y="989"/>
                    <a:pt x="7609" y="691"/>
                    <a:pt x="7228" y="691"/>
                  </a:cubicBezTo>
                  <a:lnTo>
                    <a:pt x="5644" y="691"/>
                  </a:lnTo>
                  <a:cubicBezTo>
                    <a:pt x="5561" y="501"/>
                    <a:pt x="5383" y="346"/>
                    <a:pt x="5168" y="346"/>
                  </a:cubicBezTo>
                  <a:lnTo>
                    <a:pt x="4644" y="346"/>
                  </a:lnTo>
                  <a:cubicBezTo>
                    <a:pt x="4478" y="144"/>
                    <a:pt x="4228" y="1"/>
                    <a:pt x="3954" y="1"/>
                  </a:cubicBezTo>
                  <a:close/>
                </a:path>
              </a:pathLst>
            </a:custGeom>
            <a:solidFill>
              <a:srgbClr val="00BFFF"/>
            </a:solidFill>
            <a:ln w="9525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3800" tIns="243800" rIns="243800" bIns="243800" anchor="ctr" anchorCtr="0">
              <a:noAutofit/>
            </a:bodyPr>
            <a:lstStyle/>
            <a:p>
              <a:pPr>
                <a:buSzPts val="1400"/>
              </a:pPr>
              <a:endParaRPr sz="1867"/>
            </a:p>
          </p:txBody>
        </p:sp>
        <p:sp>
          <p:nvSpPr>
            <p:cNvPr id="9" name="Google Shape;234;p20">
              <a:extLst>
                <a:ext uri="{FF2B5EF4-FFF2-40B4-BE49-F238E27FC236}">
                  <a16:creationId xmlns:a16="http://schemas.microsoft.com/office/drawing/2014/main" id="{D6AD7061-A857-50B5-4766-AA0B01D76123}"/>
                </a:ext>
              </a:extLst>
            </p:cNvPr>
            <p:cNvSpPr/>
            <p:nvPr/>
          </p:nvSpPr>
          <p:spPr>
            <a:xfrm>
              <a:off x="1031604" y="1530205"/>
              <a:ext cx="10280" cy="10248"/>
            </a:xfrm>
            <a:custGeom>
              <a:avLst/>
              <a:gdLst/>
              <a:ahLst/>
              <a:cxnLst/>
              <a:rect l="l" t="t" r="r" b="b"/>
              <a:pathLst>
                <a:path w="323" h="322" extrusionOk="0">
                  <a:moveTo>
                    <a:pt x="156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56" y="322"/>
                  </a:cubicBezTo>
                  <a:cubicBezTo>
                    <a:pt x="251" y="322"/>
                    <a:pt x="322" y="250"/>
                    <a:pt x="322" y="167"/>
                  </a:cubicBezTo>
                  <a:cubicBezTo>
                    <a:pt x="322" y="72"/>
                    <a:pt x="251" y="0"/>
                    <a:pt x="156" y="0"/>
                  </a:cubicBezTo>
                  <a:close/>
                </a:path>
              </a:pathLst>
            </a:custGeom>
            <a:solidFill>
              <a:srgbClr val="00BFFF"/>
            </a:solidFill>
            <a:ln w="9525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3800" tIns="243800" rIns="243800" bIns="243800" anchor="ctr" anchorCtr="0">
              <a:noAutofit/>
            </a:bodyPr>
            <a:lstStyle/>
            <a:p>
              <a:pPr>
                <a:buSzPts val="1400"/>
              </a:pPr>
              <a:endParaRPr sz="1867"/>
            </a:p>
          </p:txBody>
        </p:sp>
        <p:sp>
          <p:nvSpPr>
            <p:cNvPr id="10" name="Google Shape;235;p20">
              <a:extLst>
                <a:ext uri="{FF2B5EF4-FFF2-40B4-BE49-F238E27FC236}">
                  <a16:creationId xmlns:a16="http://schemas.microsoft.com/office/drawing/2014/main" id="{917AF04A-B2F1-11FF-6BC8-973C3FE596AC}"/>
                </a:ext>
              </a:extLst>
            </p:cNvPr>
            <p:cNvSpPr/>
            <p:nvPr/>
          </p:nvSpPr>
          <p:spPr>
            <a:xfrm>
              <a:off x="932334" y="1551784"/>
              <a:ext cx="208088" cy="273653"/>
            </a:xfrm>
            <a:custGeom>
              <a:avLst/>
              <a:gdLst/>
              <a:ahLst/>
              <a:cxnLst/>
              <a:rect l="l" t="t" r="r" b="b"/>
              <a:pathLst>
                <a:path w="6538" h="8598" extrusionOk="0">
                  <a:moveTo>
                    <a:pt x="167" y="1"/>
                  </a:moveTo>
                  <a:cubicBezTo>
                    <a:pt x="72" y="1"/>
                    <a:pt x="1" y="84"/>
                    <a:pt x="1" y="168"/>
                  </a:cubicBezTo>
                  <a:lnTo>
                    <a:pt x="1" y="8430"/>
                  </a:lnTo>
                  <a:cubicBezTo>
                    <a:pt x="1" y="8526"/>
                    <a:pt x="72" y="8597"/>
                    <a:pt x="167" y="8597"/>
                  </a:cubicBezTo>
                  <a:lnTo>
                    <a:pt x="6358" y="8597"/>
                  </a:lnTo>
                  <a:cubicBezTo>
                    <a:pt x="6442" y="8597"/>
                    <a:pt x="6525" y="8526"/>
                    <a:pt x="6525" y="8430"/>
                  </a:cubicBezTo>
                  <a:lnTo>
                    <a:pt x="6525" y="168"/>
                  </a:lnTo>
                  <a:cubicBezTo>
                    <a:pt x="6537" y="84"/>
                    <a:pt x="6466" y="13"/>
                    <a:pt x="6370" y="13"/>
                  </a:cubicBezTo>
                  <a:lnTo>
                    <a:pt x="5513" y="13"/>
                  </a:lnTo>
                  <a:cubicBezTo>
                    <a:pt x="5418" y="13"/>
                    <a:pt x="5346" y="84"/>
                    <a:pt x="5346" y="168"/>
                  </a:cubicBezTo>
                  <a:cubicBezTo>
                    <a:pt x="5346" y="263"/>
                    <a:pt x="5418" y="334"/>
                    <a:pt x="5513" y="334"/>
                  </a:cubicBezTo>
                  <a:lnTo>
                    <a:pt x="6204" y="334"/>
                  </a:lnTo>
                  <a:lnTo>
                    <a:pt x="6204" y="8264"/>
                  </a:lnTo>
                  <a:lnTo>
                    <a:pt x="334" y="8264"/>
                  </a:lnTo>
                  <a:lnTo>
                    <a:pt x="334" y="334"/>
                  </a:lnTo>
                  <a:lnTo>
                    <a:pt x="1024" y="334"/>
                  </a:lnTo>
                  <a:cubicBezTo>
                    <a:pt x="1120" y="334"/>
                    <a:pt x="1191" y="263"/>
                    <a:pt x="1191" y="168"/>
                  </a:cubicBezTo>
                  <a:cubicBezTo>
                    <a:pt x="1191" y="84"/>
                    <a:pt x="1120" y="1"/>
                    <a:pt x="1024" y="1"/>
                  </a:cubicBezTo>
                  <a:close/>
                </a:path>
              </a:pathLst>
            </a:custGeom>
            <a:solidFill>
              <a:srgbClr val="00BFFF"/>
            </a:solidFill>
            <a:ln w="9525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3800" tIns="243800" rIns="243800" bIns="243800" anchor="ctr" anchorCtr="0">
              <a:noAutofit/>
            </a:bodyPr>
            <a:lstStyle/>
            <a:p>
              <a:pPr>
                <a:buSzPts val="1400"/>
              </a:pPr>
              <a:endParaRPr sz="1867"/>
            </a:p>
          </p:txBody>
        </p:sp>
        <p:sp>
          <p:nvSpPr>
            <p:cNvPr id="11" name="Google Shape;236;p20">
              <a:extLst>
                <a:ext uri="{FF2B5EF4-FFF2-40B4-BE49-F238E27FC236}">
                  <a16:creationId xmlns:a16="http://schemas.microsoft.com/office/drawing/2014/main" id="{A4C53D78-2E20-8C08-9C3E-8D16B256B833}"/>
                </a:ext>
              </a:extLst>
            </p:cNvPr>
            <p:cNvSpPr/>
            <p:nvPr/>
          </p:nvSpPr>
          <p:spPr>
            <a:xfrm>
              <a:off x="965689" y="1661302"/>
              <a:ext cx="32241" cy="32241"/>
            </a:xfrm>
            <a:custGeom>
              <a:avLst/>
              <a:gdLst/>
              <a:ahLst/>
              <a:cxnLst/>
              <a:rect l="l" t="t" r="r" b="b"/>
              <a:pathLst>
                <a:path w="1013" h="1013" extrusionOk="0">
                  <a:moveTo>
                    <a:pt x="500" y="346"/>
                  </a:moveTo>
                  <a:cubicBezTo>
                    <a:pt x="608" y="346"/>
                    <a:pt x="679" y="441"/>
                    <a:pt x="679" y="525"/>
                  </a:cubicBezTo>
                  <a:cubicBezTo>
                    <a:pt x="703" y="620"/>
                    <a:pt x="608" y="703"/>
                    <a:pt x="500" y="703"/>
                  </a:cubicBezTo>
                  <a:cubicBezTo>
                    <a:pt x="405" y="703"/>
                    <a:pt x="322" y="620"/>
                    <a:pt x="322" y="525"/>
                  </a:cubicBezTo>
                  <a:cubicBezTo>
                    <a:pt x="322" y="417"/>
                    <a:pt x="417" y="346"/>
                    <a:pt x="500" y="346"/>
                  </a:cubicBezTo>
                  <a:close/>
                  <a:moveTo>
                    <a:pt x="500" y="1"/>
                  </a:moveTo>
                  <a:cubicBezTo>
                    <a:pt x="227" y="1"/>
                    <a:pt x="0" y="227"/>
                    <a:pt x="0" y="513"/>
                  </a:cubicBezTo>
                  <a:cubicBezTo>
                    <a:pt x="0" y="787"/>
                    <a:pt x="227" y="1013"/>
                    <a:pt x="500" y="1013"/>
                  </a:cubicBezTo>
                  <a:cubicBezTo>
                    <a:pt x="786" y="1013"/>
                    <a:pt x="1012" y="787"/>
                    <a:pt x="1012" y="513"/>
                  </a:cubicBezTo>
                  <a:cubicBezTo>
                    <a:pt x="1012" y="227"/>
                    <a:pt x="786" y="1"/>
                    <a:pt x="500" y="1"/>
                  </a:cubicBezTo>
                  <a:close/>
                </a:path>
              </a:pathLst>
            </a:custGeom>
            <a:solidFill>
              <a:srgbClr val="00BFFF"/>
            </a:solidFill>
            <a:ln w="9525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3800" tIns="243800" rIns="243800" bIns="243800" anchor="ctr" anchorCtr="0">
              <a:noAutofit/>
            </a:bodyPr>
            <a:lstStyle/>
            <a:p>
              <a:pPr>
                <a:buSzPts val="1400"/>
              </a:pPr>
              <a:endParaRPr sz="1867"/>
            </a:p>
          </p:txBody>
        </p:sp>
        <p:sp>
          <p:nvSpPr>
            <p:cNvPr id="12" name="Google Shape;237;p20">
              <a:extLst>
                <a:ext uri="{FF2B5EF4-FFF2-40B4-BE49-F238E27FC236}">
                  <a16:creationId xmlns:a16="http://schemas.microsoft.com/office/drawing/2014/main" id="{DF882190-911C-0682-2949-AA86F25498A0}"/>
                </a:ext>
              </a:extLst>
            </p:cNvPr>
            <p:cNvSpPr/>
            <p:nvPr/>
          </p:nvSpPr>
          <p:spPr>
            <a:xfrm>
              <a:off x="965689" y="1710571"/>
              <a:ext cx="32241" cy="32241"/>
            </a:xfrm>
            <a:custGeom>
              <a:avLst/>
              <a:gdLst/>
              <a:ahLst/>
              <a:cxnLst/>
              <a:rect l="l" t="t" r="r" b="b"/>
              <a:pathLst>
                <a:path w="1013" h="1013" extrusionOk="0">
                  <a:moveTo>
                    <a:pt x="500" y="346"/>
                  </a:moveTo>
                  <a:cubicBezTo>
                    <a:pt x="608" y="346"/>
                    <a:pt x="679" y="441"/>
                    <a:pt x="679" y="524"/>
                  </a:cubicBezTo>
                  <a:cubicBezTo>
                    <a:pt x="679" y="608"/>
                    <a:pt x="608" y="703"/>
                    <a:pt x="500" y="703"/>
                  </a:cubicBezTo>
                  <a:cubicBezTo>
                    <a:pt x="405" y="703"/>
                    <a:pt x="322" y="608"/>
                    <a:pt x="322" y="524"/>
                  </a:cubicBezTo>
                  <a:cubicBezTo>
                    <a:pt x="322" y="441"/>
                    <a:pt x="417" y="346"/>
                    <a:pt x="500" y="346"/>
                  </a:cubicBezTo>
                  <a:close/>
                  <a:moveTo>
                    <a:pt x="500" y="1"/>
                  </a:moveTo>
                  <a:cubicBezTo>
                    <a:pt x="227" y="1"/>
                    <a:pt x="0" y="227"/>
                    <a:pt x="0" y="513"/>
                  </a:cubicBezTo>
                  <a:cubicBezTo>
                    <a:pt x="0" y="786"/>
                    <a:pt x="227" y="1013"/>
                    <a:pt x="500" y="1013"/>
                  </a:cubicBezTo>
                  <a:cubicBezTo>
                    <a:pt x="786" y="1013"/>
                    <a:pt x="1012" y="786"/>
                    <a:pt x="1012" y="513"/>
                  </a:cubicBezTo>
                  <a:cubicBezTo>
                    <a:pt x="1012" y="227"/>
                    <a:pt x="786" y="1"/>
                    <a:pt x="500" y="1"/>
                  </a:cubicBezTo>
                  <a:close/>
                </a:path>
              </a:pathLst>
            </a:custGeom>
            <a:solidFill>
              <a:srgbClr val="00BFFF"/>
            </a:solidFill>
            <a:ln w="9525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3800" tIns="243800" rIns="243800" bIns="243800" anchor="ctr" anchorCtr="0">
              <a:noAutofit/>
            </a:bodyPr>
            <a:lstStyle/>
            <a:p>
              <a:pPr>
                <a:buSzPts val="1400"/>
              </a:pPr>
              <a:endParaRPr sz="1867"/>
            </a:p>
          </p:txBody>
        </p:sp>
        <p:sp>
          <p:nvSpPr>
            <p:cNvPr id="13" name="Google Shape;238;p20">
              <a:extLst>
                <a:ext uri="{FF2B5EF4-FFF2-40B4-BE49-F238E27FC236}">
                  <a16:creationId xmlns:a16="http://schemas.microsoft.com/office/drawing/2014/main" id="{750B6899-BC26-2D39-A3A3-4C79A2286A4B}"/>
                </a:ext>
              </a:extLst>
            </p:cNvPr>
            <p:cNvSpPr/>
            <p:nvPr/>
          </p:nvSpPr>
          <p:spPr>
            <a:xfrm>
              <a:off x="965689" y="1760604"/>
              <a:ext cx="32241" cy="31859"/>
            </a:xfrm>
            <a:custGeom>
              <a:avLst/>
              <a:gdLst/>
              <a:ahLst/>
              <a:cxnLst/>
              <a:rect l="l" t="t" r="r" b="b"/>
              <a:pathLst>
                <a:path w="1013" h="1001" extrusionOk="0">
                  <a:moveTo>
                    <a:pt x="500" y="322"/>
                  </a:moveTo>
                  <a:cubicBezTo>
                    <a:pt x="608" y="322"/>
                    <a:pt x="679" y="417"/>
                    <a:pt x="679" y="500"/>
                  </a:cubicBezTo>
                  <a:cubicBezTo>
                    <a:pt x="703" y="596"/>
                    <a:pt x="608" y="679"/>
                    <a:pt x="500" y="679"/>
                  </a:cubicBezTo>
                  <a:cubicBezTo>
                    <a:pt x="405" y="679"/>
                    <a:pt x="322" y="584"/>
                    <a:pt x="322" y="500"/>
                  </a:cubicBezTo>
                  <a:cubicBezTo>
                    <a:pt x="322" y="393"/>
                    <a:pt x="417" y="322"/>
                    <a:pt x="500" y="322"/>
                  </a:cubicBezTo>
                  <a:close/>
                  <a:moveTo>
                    <a:pt x="500" y="0"/>
                  </a:moveTo>
                  <a:cubicBezTo>
                    <a:pt x="227" y="0"/>
                    <a:pt x="0" y="215"/>
                    <a:pt x="0" y="500"/>
                  </a:cubicBezTo>
                  <a:cubicBezTo>
                    <a:pt x="0" y="786"/>
                    <a:pt x="227" y="1000"/>
                    <a:pt x="500" y="1000"/>
                  </a:cubicBezTo>
                  <a:cubicBezTo>
                    <a:pt x="786" y="1000"/>
                    <a:pt x="1012" y="786"/>
                    <a:pt x="1012" y="500"/>
                  </a:cubicBezTo>
                  <a:cubicBezTo>
                    <a:pt x="1012" y="215"/>
                    <a:pt x="786" y="0"/>
                    <a:pt x="500" y="0"/>
                  </a:cubicBezTo>
                  <a:close/>
                </a:path>
              </a:pathLst>
            </a:custGeom>
            <a:solidFill>
              <a:srgbClr val="00BFFF"/>
            </a:solidFill>
            <a:ln w="9525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3800" tIns="243800" rIns="243800" bIns="243800" anchor="ctr" anchorCtr="0">
              <a:noAutofit/>
            </a:bodyPr>
            <a:lstStyle/>
            <a:p>
              <a:pPr>
                <a:buSzPts val="1400"/>
              </a:pPr>
              <a:endParaRPr sz="1867"/>
            </a:p>
          </p:txBody>
        </p:sp>
        <p:sp>
          <p:nvSpPr>
            <p:cNvPr id="14" name="Google Shape;239;p20">
              <a:extLst>
                <a:ext uri="{FF2B5EF4-FFF2-40B4-BE49-F238E27FC236}">
                  <a16:creationId xmlns:a16="http://schemas.microsoft.com/office/drawing/2014/main" id="{6A300CCA-0FEA-7BC7-0E47-623E76C65E87}"/>
                </a:ext>
              </a:extLst>
            </p:cNvPr>
            <p:cNvSpPr/>
            <p:nvPr/>
          </p:nvSpPr>
          <p:spPr>
            <a:xfrm>
              <a:off x="1009643" y="1661302"/>
              <a:ext cx="59899" cy="10662"/>
            </a:xfrm>
            <a:custGeom>
              <a:avLst/>
              <a:gdLst/>
              <a:ahLst/>
              <a:cxnLst/>
              <a:rect l="l" t="t" r="r" b="b"/>
              <a:pathLst>
                <a:path w="1882" h="335" extrusionOk="0">
                  <a:moveTo>
                    <a:pt x="167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63"/>
                    <a:pt x="72" y="334"/>
                    <a:pt x="167" y="334"/>
                  </a:cubicBezTo>
                  <a:lnTo>
                    <a:pt x="1715" y="334"/>
                  </a:lnTo>
                  <a:cubicBezTo>
                    <a:pt x="1798" y="334"/>
                    <a:pt x="1882" y="263"/>
                    <a:pt x="1882" y="167"/>
                  </a:cubicBezTo>
                  <a:cubicBezTo>
                    <a:pt x="1882" y="72"/>
                    <a:pt x="1798" y="1"/>
                    <a:pt x="1715" y="1"/>
                  </a:cubicBezTo>
                  <a:close/>
                </a:path>
              </a:pathLst>
            </a:custGeom>
            <a:solidFill>
              <a:srgbClr val="00BFFF"/>
            </a:solidFill>
            <a:ln w="9525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3800" tIns="243800" rIns="243800" bIns="243800" anchor="ctr" anchorCtr="0">
              <a:noAutofit/>
            </a:bodyPr>
            <a:lstStyle/>
            <a:p>
              <a:pPr>
                <a:buSzPts val="1400"/>
              </a:pPr>
              <a:endParaRPr sz="1867"/>
            </a:p>
          </p:txBody>
        </p:sp>
        <p:sp>
          <p:nvSpPr>
            <p:cNvPr id="15" name="Google Shape;240;p20">
              <a:extLst>
                <a:ext uri="{FF2B5EF4-FFF2-40B4-BE49-F238E27FC236}">
                  <a16:creationId xmlns:a16="http://schemas.microsoft.com/office/drawing/2014/main" id="{4729FE1C-AC4C-9C22-D40B-921A49334C96}"/>
                </a:ext>
              </a:extLst>
            </p:cNvPr>
            <p:cNvSpPr/>
            <p:nvPr/>
          </p:nvSpPr>
          <p:spPr>
            <a:xfrm>
              <a:off x="1009643" y="1683677"/>
              <a:ext cx="98188" cy="10630"/>
            </a:xfrm>
            <a:custGeom>
              <a:avLst/>
              <a:gdLst/>
              <a:ahLst/>
              <a:cxnLst/>
              <a:rect l="l" t="t" r="r" b="b"/>
              <a:pathLst>
                <a:path w="3085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2917" y="334"/>
                  </a:lnTo>
                  <a:cubicBezTo>
                    <a:pt x="3013" y="334"/>
                    <a:pt x="3084" y="250"/>
                    <a:pt x="3084" y="167"/>
                  </a:cubicBezTo>
                  <a:cubicBezTo>
                    <a:pt x="3084" y="72"/>
                    <a:pt x="3013" y="0"/>
                    <a:pt x="2917" y="0"/>
                  </a:cubicBezTo>
                  <a:close/>
                </a:path>
              </a:pathLst>
            </a:custGeom>
            <a:solidFill>
              <a:srgbClr val="00BFFF"/>
            </a:solidFill>
            <a:ln w="9525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3800" tIns="243800" rIns="243800" bIns="243800" anchor="ctr" anchorCtr="0">
              <a:noAutofit/>
            </a:bodyPr>
            <a:lstStyle/>
            <a:p>
              <a:pPr>
                <a:buSzPts val="1400"/>
              </a:pPr>
              <a:endParaRPr sz="1867"/>
            </a:p>
          </p:txBody>
        </p:sp>
        <p:sp>
          <p:nvSpPr>
            <p:cNvPr id="16" name="Google Shape;241;p20">
              <a:extLst>
                <a:ext uri="{FF2B5EF4-FFF2-40B4-BE49-F238E27FC236}">
                  <a16:creationId xmlns:a16="http://schemas.microsoft.com/office/drawing/2014/main" id="{828351C9-3280-CBED-BB33-EB6F463EC009}"/>
                </a:ext>
              </a:extLst>
            </p:cNvPr>
            <p:cNvSpPr/>
            <p:nvPr/>
          </p:nvSpPr>
          <p:spPr>
            <a:xfrm>
              <a:off x="1009643" y="1710571"/>
              <a:ext cx="59899" cy="10630"/>
            </a:xfrm>
            <a:custGeom>
              <a:avLst/>
              <a:gdLst/>
              <a:ahLst/>
              <a:cxnLst/>
              <a:rect l="l" t="t" r="r" b="b"/>
              <a:pathLst>
                <a:path w="1882" h="334" extrusionOk="0">
                  <a:moveTo>
                    <a:pt x="167" y="1"/>
                  </a:moveTo>
                  <a:cubicBezTo>
                    <a:pt x="72" y="1"/>
                    <a:pt x="0" y="84"/>
                    <a:pt x="0" y="167"/>
                  </a:cubicBezTo>
                  <a:cubicBezTo>
                    <a:pt x="0" y="263"/>
                    <a:pt x="72" y="334"/>
                    <a:pt x="167" y="334"/>
                  </a:cubicBezTo>
                  <a:lnTo>
                    <a:pt x="1715" y="334"/>
                  </a:lnTo>
                  <a:cubicBezTo>
                    <a:pt x="1798" y="334"/>
                    <a:pt x="1882" y="263"/>
                    <a:pt x="1882" y="167"/>
                  </a:cubicBezTo>
                  <a:cubicBezTo>
                    <a:pt x="1882" y="84"/>
                    <a:pt x="1798" y="1"/>
                    <a:pt x="1715" y="1"/>
                  </a:cubicBezTo>
                  <a:close/>
                </a:path>
              </a:pathLst>
            </a:custGeom>
            <a:solidFill>
              <a:srgbClr val="00BFFF"/>
            </a:solidFill>
            <a:ln w="9525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3800" tIns="243800" rIns="243800" bIns="243800" anchor="ctr" anchorCtr="0">
              <a:noAutofit/>
            </a:bodyPr>
            <a:lstStyle/>
            <a:p>
              <a:pPr>
                <a:buSzPts val="1400"/>
              </a:pPr>
              <a:endParaRPr sz="1867"/>
            </a:p>
          </p:txBody>
        </p:sp>
        <p:sp>
          <p:nvSpPr>
            <p:cNvPr id="19" name="Google Shape;242;p20">
              <a:extLst>
                <a:ext uri="{FF2B5EF4-FFF2-40B4-BE49-F238E27FC236}">
                  <a16:creationId xmlns:a16="http://schemas.microsoft.com/office/drawing/2014/main" id="{63DC13D3-15D3-63F6-8B0D-F0E516084577}"/>
                </a:ext>
              </a:extLst>
            </p:cNvPr>
            <p:cNvSpPr/>
            <p:nvPr/>
          </p:nvSpPr>
          <p:spPr>
            <a:xfrm>
              <a:off x="1009643" y="1732946"/>
              <a:ext cx="98188" cy="10630"/>
            </a:xfrm>
            <a:custGeom>
              <a:avLst/>
              <a:gdLst/>
              <a:ahLst/>
              <a:cxnLst/>
              <a:rect l="l" t="t" r="r" b="b"/>
              <a:pathLst>
                <a:path w="3085" h="334" extrusionOk="0">
                  <a:moveTo>
                    <a:pt x="167" y="0"/>
                  </a:moveTo>
                  <a:cubicBezTo>
                    <a:pt x="72" y="0"/>
                    <a:pt x="0" y="71"/>
                    <a:pt x="0" y="167"/>
                  </a:cubicBezTo>
                  <a:cubicBezTo>
                    <a:pt x="0" y="250"/>
                    <a:pt x="72" y="333"/>
                    <a:pt x="167" y="333"/>
                  </a:cubicBezTo>
                  <a:lnTo>
                    <a:pt x="2917" y="333"/>
                  </a:lnTo>
                  <a:cubicBezTo>
                    <a:pt x="3013" y="333"/>
                    <a:pt x="3084" y="250"/>
                    <a:pt x="3084" y="167"/>
                  </a:cubicBezTo>
                  <a:cubicBezTo>
                    <a:pt x="3084" y="71"/>
                    <a:pt x="3013" y="0"/>
                    <a:pt x="2917" y="0"/>
                  </a:cubicBezTo>
                  <a:close/>
                </a:path>
              </a:pathLst>
            </a:custGeom>
            <a:solidFill>
              <a:srgbClr val="00BFFF"/>
            </a:solidFill>
            <a:ln w="9525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3800" tIns="243800" rIns="243800" bIns="243800" anchor="ctr" anchorCtr="0">
              <a:noAutofit/>
            </a:bodyPr>
            <a:lstStyle/>
            <a:p>
              <a:pPr>
                <a:buSzPts val="1400"/>
              </a:pPr>
              <a:endParaRPr sz="1867"/>
            </a:p>
          </p:txBody>
        </p:sp>
        <p:sp>
          <p:nvSpPr>
            <p:cNvPr id="20" name="Google Shape;243;p20">
              <a:extLst>
                <a:ext uri="{FF2B5EF4-FFF2-40B4-BE49-F238E27FC236}">
                  <a16:creationId xmlns:a16="http://schemas.microsoft.com/office/drawing/2014/main" id="{4AA25175-93B9-1C0A-3E13-4D7D4102FF3D}"/>
                </a:ext>
              </a:extLst>
            </p:cNvPr>
            <p:cNvSpPr/>
            <p:nvPr/>
          </p:nvSpPr>
          <p:spPr>
            <a:xfrm>
              <a:off x="1009643" y="1760604"/>
              <a:ext cx="59899" cy="10248"/>
            </a:xfrm>
            <a:custGeom>
              <a:avLst/>
              <a:gdLst/>
              <a:ahLst/>
              <a:cxnLst/>
              <a:rect l="l" t="t" r="r" b="b"/>
              <a:pathLst>
                <a:path w="1882" h="322" extrusionOk="0">
                  <a:moveTo>
                    <a:pt x="167" y="0"/>
                  </a:moveTo>
                  <a:cubicBezTo>
                    <a:pt x="72" y="0"/>
                    <a:pt x="0" y="72"/>
                    <a:pt x="0" y="155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1715" y="322"/>
                  </a:lnTo>
                  <a:cubicBezTo>
                    <a:pt x="1798" y="322"/>
                    <a:pt x="1882" y="250"/>
                    <a:pt x="1882" y="155"/>
                  </a:cubicBezTo>
                  <a:cubicBezTo>
                    <a:pt x="1882" y="72"/>
                    <a:pt x="1798" y="0"/>
                    <a:pt x="1715" y="0"/>
                  </a:cubicBezTo>
                  <a:close/>
                </a:path>
              </a:pathLst>
            </a:custGeom>
            <a:solidFill>
              <a:srgbClr val="00BFFF"/>
            </a:solidFill>
            <a:ln w="9525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3800" tIns="243800" rIns="243800" bIns="243800" anchor="ctr" anchorCtr="0">
              <a:noAutofit/>
            </a:bodyPr>
            <a:lstStyle/>
            <a:p>
              <a:pPr>
                <a:buSzPts val="1400"/>
              </a:pPr>
              <a:endParaRPr sz="1867"/>
            </a:p>
          </p:txBody>
        </p:sp>
        <p:sp>
          <p:nvSpPr>
            <p:cNvPr id="21" name="Google Shape;244;p20">
              <a:extLst>
                <a:ext uri="{FF2B5EF4-FFF2-40B4-BE49-F238E27FC236}">
                  <a16:creationId xmlns:a16="http://schemas.microsoft.com/office/drawing/2014/main" id="{8E094281-9016-8758-B3A9-678F3BFB9D31}"/>
                </a:ext>
              </a:extLst>
            </p:cNvPr>
            <p:cNvSpPr/>
            <p:nvPr/>
          </p:nvSpPr>
          <p:spPr>
            <a:xfrm>
              <a:off x="1009643" y="1782183"/>
              <a:ext cx="98188" cy="10662"/>
            </a:xfrm>
            <a:custGeom>
              <a:avLst/>
              <a:gdLst/>
              <a:ahLst/>
              <a:cxnLst/>
              <a:rect l="l" t="t" r="r" b="b"/>
              <a:pathLst>
                <a:path w="3085" h="335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34"/>
                    <a:pt x="167" y="334"/>
                  </a:cubicBezTo>
                  <a:lnTo>
                    <a:pt x="2917" y="334"/>
                  </a:lnTo>
                  <a:cubicBezTo>
                    <a:pt x="3013" y="334"/>
                    <a:pt x="3084" y="251"/>
                    <a:pt x="3084" y="168"/>
                  </a:cubicBezTo>
                  <a:cubicBezTo>
                    <a:pt x="3084" y="72"/>
                    <a:pt x="3013" y="1"/>
                    <a:pt x="2917" y="1"/>
                  </a:cubicBezTo>
                  <a:close/>
                </a:path>
              </a:pathLst>
            </a:custGeom>
            <a:solidFill>
              <a:srgbClr val="00BFFF"/>
            </a:solidFill>
            <a:ln w="9525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3800" tIns="243800" rIns="243800" bIns="243800" anchor="ctr" anchorCtr="0">
              <a:noAutofit/>
            </a:bodyPr>
            <a:lstStyle/>
            <a:p>
              <a:pPr>
                <a:buSzPts val="1400"/>
              </a:pPr>
              <a:endParaRPr sz="1867"/>
            </a:p>
          </p:txBody>
        </p:sp>
        <p:sp>
          <p:nvSpPr>
            <p:cNvPr id="22" name="Google Shape;245;p20">
              <a:extLst>
                <a:ext uri="{FF2B5EF4-FFF2-40B4-BE49-F238E27FC236}">
                  <a16:creationId xmlns:a16="http://schemas.microsoft.com/office/drawing/2014/main" id="{9C47B7A6-879A-8E33-D195-F5D0BEE98772}"/>
                </a:ext>
              </a:extLst>
            </p:cNvPr>
            <p:cNvSpPr/>
            <p:nvPr/>
          </p:nvSpPr>
          <p:spPr>
            <a:xfrm>
              <a:off x="1009643" y="1579473"/>
              <a:ext cx="98188" cy="10630"/>
            </a:xfrm>
            <a:custGeom>
              <a:avLst/>
              <a:gdLst/>
              <a:ahLst/>
              <a:cxnLst/>
              <a:rect l="l" t="t" r="r" b="b"/>
              <a:pathLst>
                <a:path w="3085" h="334" extrusionOk="0">
                  <a:moveTo>
                    <a:pt x="167" y="0"/>
                  </a:moveTo>
                  <a:cubicBezTo>
                    <a:pt x="72" y="0"/>
                    <a:pt x="0" y="71"/>
                    <a:pt x="0" y="167"/>
                  </a:cubicBezTo>
                  <a:cubicBezTo>
                    <a:pt x="0" y="250"/>
                    <a:pt x="72" y="333"/>
                    <a:pt x="167" y="333"/>
                  </a:cubicBezTo>
                  <a:lnTo>
                    <a:pt x="2917" y="333"/>
                  </a:lnTo>
                  <a:cubicBezTo>
                    <a:pt x="3013" y="333"/>
                    <a:pt x="3084" y="250"/>
                    <a:pt x="3084" y="167"/>
                  </a:cubicBezTo>
                  <a:cubicBezTo>
                    <a:pt x="3084" y="71"/>
                    <a:pt x="3013" y="0"/>
                    <a:pt x="2917" y="0"/>
                  </a:cubicBezTo>
                  <a:close/>
                </a:path>
              </a:pathLst>
            </a:custGeom>
            <a:solidFill>
              <a:srgbClr val="00BFFF"/>
            </a:solidFill>
            <a:ln w="9525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3800" tIns="243800" rIns="243800" bIns="243800" anchor="ctr" anchorCtr="0">
              <a:noAutofit/>
            </a:bodyPr>
            <a:lstStyle/>
            <a:p>
              <a:pPr>
                <a:buSzPts val="1400"/>
              </a:pPr>
              <a:endParaRPr sz="1867"/>
            </a:p>
          </p:txBody>
        </p:sp>
        <p:sp>
          <p:nvSpPr>
            <p:cNvPr id="23" name="Google Shape;246;p20">
              <a:extLst>
                <a:ext uri="{FF2B5EF4-FFF2-40B4-BE49-F238E27FC236}">
                  <a16:creationId xmlns:a16="http://schemas.microsoft.com/office/drawing/2014/main" id="{3FDE362D-2954-B816-705A-43AA7E705BCF}"/>
                </a:ext>
              </a:extLst>
            </p:cNvPr>
            <p:cNvSpPr/>
            <p:nvPr/>
          </p:nvSpPr>
          <p:spPr>
            <a:xfrm>
              <a:off x="965689" y="1628711"/>
              <a:ext cx="142142" cy="10662"/>
            </a:xfrm>
            <a:custGeom>
              <a:avLst/>
              <a:gdLst/>
              <a:ahLst/>
              <a:cxnLst/>
              <a:rect l="l" t="t" r="r" b="b"/>
              <a:pathLst>
                <a:path w="4466" h="335" extrusionOk="0">
                  <a:moveTo>
                    <a:pt x="155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34"/>
                    <a:pt x="155" y="334"/>
                  </a:cubicBezTo>
                  <a:lnTo>
                    <a:pt x="4298" y="334"/>
                  </a:lnTo>
                  <a:cubicBezTo>
                    <a:pt x="4394" y="334"/>
                    <a:pt x="4465" y="251"/>
                    <a:pt x="4465" y="168"/>
                  </a:cubicBezTo>
                  <a:cubicBezTo>
                    <a:pt x="4465" y="72"/>
                    <a:pt x="4394" y="1"/>
                    <a:pt x="4298" y="1"/>
                  </a:cubicBezTo>
                  <a:close/>
                </a:path>
              </a:pathLst>
            </a:custGeom>
            <a:solidFill>
              <a:srgbClr val="00BFFF"/>
            </a:solidFill>
            <a:ln w="9525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3800" tIns="243800" rIns="243800" bIns="243800" anchor="ctr" anchorCtr="0">
              <a:noAutofit/>
            </a:bodyPr>
            <a:lstStyle/>
            <a:p>
              <a:pPr>
                <a:buSzPts val="1400"/>
              </a:pPr>
              <a:endParaRPr sz="1867"/>
            </a:p>
          </p:txBody>
        </p:sp>
        <p:sp>
          <p:nvSpPr>
            <p:cNvPr id="24" name="Google Shape;247;p20">
              <a:extLst>
                <a:ext uri="{FF2B5EF4-FFF2-40B4-BE49-F238E27FC236}">
                  <a16:creationId xmlns:a16="http://schemas.microsoft.com/office/drawing/2014/main" id="{9C4C503A-FAB5-72DE-C3CA-53D4CC45836B}"/>
                </a:ext>
              </a:extLst>
            </p:cNvPr>
            <p:cNvSpPr/>
            <p:nvPr/>
          </p:nvSpPr>
          <p:spPr>
            <a:xfrm>
              <a:off x="1009643" y="1601434"/>
              <a:ext cx="26926" cy="10280"/>
            </a:xfrm>
            <a:custGeom>
              <a:avLst/>
              <a:gdLst/>
              <a:ahLst/>
              <a:cxnLst/>
              <a:rect l="l" t="t" r="r" b="b"/>
              <a:pathLst>
                <a:path w="846" h="323" extrusionOk="0">
                  <a:moveTo>
                    <a:pt x="167" y="1"/>
                  </a:moveTo>
                  <a:cubicBezTo>
                    <a:pt x="72" y="1"/>
                    <a:pt x="0" y="72"/>
                    <a:pt x="0" y="155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691" y="322"/>
                  </a:lnTo>
                  <a:cubicBezTo>
                    <a:pt x="774" y="322"/>
                    <a:pt x="846" y="251"/>
                    <a:pt x="846" y="155"/>
                  </a:cubicBezTo>
                  <a:cubicBezTo>
                    <a:pt x="846" y="72"/>
                    <a:pt x="762" y="1"/>
                    <a:pt x="691" y="1"/>
                  </a:cubicBezTo>
                  <a:close/>
                </a:path>
              </a:pathLst>
            </a:custGeom>
            <a:solidFill>
              <a:srgbClr val="00BFFF"/>
            </a:solidFill>
            <a:ln w="9525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3800" tIns="243800" rIns="243800" bIns="243800" anchor="ctr" anchorCtr="0">
              <a:noAutofit/>
            </a:bodyPr>
            <a:lstStyle/>
            <a:p>
              <a:pPr>
                <a:buSzPts val="1400"/>
              </a:pPr>
              <a:endParaRPr sz="1867"/>
            </a:p>
          </p:txBody>
        </p:sp>
        <p:sp>
          <p:nvSpPr>
            <p:cNvPr id="25" name="Google Shape;248;p20">
              <a:extLst>
                <a:ext uri="{FF2B5EF4-FFF2-40B4-BE49-F238E27FC236}">
                  <a16:creationId xmlns:a16="http://schemas.microsoft.com/office/drawing/2014/main" id="{0D5528F5-30BD-0EB3-BF10-9583D57FB483}"/>
                </a:ext>
              </a:extLst>
            </p:cNvPr>
            <p:cNvSpPr/>
            <p:nvPr/>
          </p:nvSpPr>
          <p:spPr>
            <a:xfrm>
              <a:off x="1047550" y="1601434"/>
              <a:ext cx="26926" cy="10280"/>
            </a:xfrm>
            <a:custGeom>
              <a:avLst/>
              <a:gdLst/>
              <a:ahLst/>
              <a:cxnLst/>
              <a:rect l="l" t="t" r="r" b="b"/>
              <a:pathLst>
                <a:path w="846" h="323" extrusionOk="0">
                  <a:moveTo>
                    <a:pt x="167" y="1"/>
                  </a:moveTo>
                  <a:cubicBezTo>
                    <a:pt x="71" y="1"/>
                    <a:pt x="0" y="72"/>
                    <a:pt x="0" y="155"/>
                  </a:cubicBezTo>
                  <a:cubicBezTo>
                    <a:pt x="0" y="251"/>
                    <a:pt x="71" y="322"/>
                    <a:pt x="167" y="322"/>
                  </a:cubicBezTo>
                  <a:lnTo>
                    <a:pt x="691" y="322"/>
                  </a:lnTo>
                  <a:cubicBezTo>
                    <a:pt x="774" y="322"/>
                    <a:pt x="845" y="251"/>
                    <a:pt x="845" y="155"/>
                  </a:cubicBezTo>
                  <a:cubicBezTo>
                    <a:pt x="845" y="72"/>
                    <a:pt x="774" y="1"/>
                    <a:pt x="691" y="1"/>
                  </a:cubicBezTo>
                  <a:close/>
                </a:path>
              </a:pathLst>
            </a:custGeom>
            <a:solidFill>
              <a:srgbClr val="00BFFF"/>
            </a:solidFill>
            <a:ln w="9525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3800" tIns="243800" rIns="243800" bIns="243800" anchor="ctr" anchorCtr="0">
              <a:noAutofit/>
            </a:bodyPr>
            <a:lstStyle/>
            <a:p>
              <a:pPr>
                <a:buSzPts val="1400"/>
              </a:pPr>
              <a:endParaRPr sz="1867"/>
            </a:p>
          </p:txBody>
        </p:sp>
        <p:sp>
          <p:nvSpPr>
            <p:cNvPr id="26" name="Google Shape;249;p20">
              <a:extLst>
                <a:ext uri="{FF2B5EF4-FFF2-40B4-BE49-F238E27FC236}">
                  <a16:creationId xmlns:a16="http://schemas.microsoft.com/office/drawing/2014/main" id="{7C3C714B-F603-3387-50A0-F14FB6BB1F83}"/>
                </a:ext>
              </a:extLst>
            </p:cNvPr>
            <p:cNvSpPr/>
            <p:nvPr/>
          </p:nvSpPr>
          <p:spPr>
            <a:xfrm>
              <a:off x="966071" y="1579473"/>
              <a:ext cx="32241" cy="32241"/>
            </a:xfrm>
            <a:custGeom>
              <a:avLst/>
              <a:gdLst/>
              <a:ahLst/>
              <a:cxnLst/>
              <a:rect l="l" t="t" r="r" b="b"/>
              <a:pathLst>
                <a:path w="1013" h="1013" extrusionOk="0">
                  <a:moveTo>
                    <a:pt x="691" y="310"/>
                  </a:moveTo>
                  <a:lnTo>
                    <a:pt x="691" y="691"/>
                  </a:lnTo>
                  <a:lnTo>
                    <a:pt x="310" y="691"/>
                  </a:lnTo>
                  <a:lnTo>
                    <a:pt x="310" y="310"/>
                  </a:lnTo>
                  <a:close/>
                  <a:moveTo>
                    <a:pt x="167" y="0"/>
                  </a:moveTo>
                  <a:cubicBezTo>
                    <a:pt x="72" y="0"/>
                    <a:pt x="0" y="71"/>
                    <a:pt x="0" y="167"/>
                  </a:cubicBezTo>
                  <a:lnTo>
                    <a:pt x="0" y="845"/>
                  </a:lnTo>
                  <a:cubicBezTo>
                    <a:pt x="0" y="941"/>
                    <a:pt x="72" y="1012"/>
                    <a:pt x="167" y="1012"/>
                  </a:cubicBezTo>
                  <a:lnTo>
                    <a:pt x="846" y="1012"/>
                  </a:lnTo>
                  <a:cubicBezTo>
                    <a:pt x="941" y="1012"/>
                    <a:pt x="1012" y="941"/>
                    <a:pt x="1012" y="845"/>
                  </a:cubicBezTo>
                  <a:lnTo>
                    <a:pt x="1012" y="167"/>
                  </a:lnTo>
                  <a:cubicBezTo>
                    <a:pt x="1000" y="71"/>
                    <a:pt x="941" y="0"/>
                    <a:pt x="846" y="0"/>
                  </a:cubicBezTo>
                  <a:close/>
                </a:path>
              </a:pathLst>
            </a:custGeom>
            <a:solidFill>
              <a:srgbClr val="00BFFF"/>
            </a:solidFill>
            <a:ln w="9525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3800" tIns="243800" rIns="243800" bIns="243800" anchor="ctr" anchorCtr="0">
              <a:noAutofit/>
            </a:bodyPr>
            <a:lstStyle/>
            <a:p>
              <a:pPr>
                <a:buSzPts val="1400"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3786706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">
  <p:cSld name="2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24383987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434" y="12295534"/>
            <a:ext cx="4666799" cy="7383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2744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>
  <p:cSld name="标题和内容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6"/>
          <p:cNvSpPr txBox="1">
            <a:spLocks noGrp="1"/>
          </p:cNvSpPr>
          <p:nvPr>
            <p:ph type="title"/>
          </p:nvPr>
        </p:nvSpPr>
        <p:spPr>
          <a:xfrm>
            <a:off x="888090" y="0"/>
            <a:ext cx="22211762" cy="1772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b="1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6"/>
          <p:cNvSpPr txBox="1">
            <a:spLocks noGrp="1"/>
          </p:cNvSpPr>
          <p:nvPr>
            <p:ph type="body" idx="1"/>
          </p:nvPr>
        </p:nvSpPr>
        <p:spPr>
          <a:xfrm>
            <a:off x="888090" y="2580094"/>
            <a:ext cx="22211762" cy="9829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46"/>
          <p:cNvSpPr txBox="1">
            <a:spLocks noGrp="1"/>
          </p:cNvSpPr>
          <p:nvPr>
            <p:ph type="body" idx="2"/>
          </p:nvPr>
        </p:nvSpPr>
        <p:spPr>
          <a:xfrm>
            <a:off x="496387" y="13112511"/>
            <a:ext cx="10424160" cy="790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2"/>
              <a:buFont typeface="Calibri"/>
              <a:buNone/>
              <a:defRPr sz="2550" b="1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46"/>
          <p:cNvSpPr/>
          <p:nvPr/>
        </p:nvSpPr>
        <p:spPr>
          <a:xfrm rot="5400000">
            <a:off x="-783589" y="1198227"/>
            <a:ext cx="2664823" cy="1149531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71425" tIns="71425" rIns="71425" bIns="714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 panose="020B0604020202020204"/>
              <a:buNone/>
            </a:pPr>
            <a:endParaRPr sz="30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7" name="Google Shape;27;p46"/>
          <p:cNvSpPr txBox="1">
            <a:spLocks noGrp="1"/>
          </p:cNvSpPr>
          <p:nvPr>
            <p:ph type="sldNum" idx="12"/>
          </p:nvPr>
        </p:nvSpPr>
        <p:spPr>
          <a:xfrm>
            <a:off x="-25943" y="1452344"/>
            <a:ext cx="914033" cy="67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  <a:defRPr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  <a:defRPr sz="4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  <a:defRPr sz="4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  <a:defRPr sz="4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  <a:defRPr sz="4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  <a:defRPr sz="4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  <a:defRPr sz="4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  <a:defRPr sz="4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  <a:defRPr sz="4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pic>
        <p:nvPicPr>
          <p:cNvPr id="28" name="Google Shape;28;p46"/>
          <p:cNvPicPr preferRelativeResize="0"/>
          <p:nvPr/>
        </p:nvPicPr>
        <p:blipFill rotWithShape="1">
          <a:blip r:embed="rId2"/>
          <a:srcRect t="-1912" r="54024"/>
          <a:stretch>
            <a:fillRect/>
          </a:stretch>
        </p:blipFill>
        <p:spPr>
          <a:xfrm>
            <a:off x="21880286" y="12409713"/>
            <a:ext cx="2503714" cy="13567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84793772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标题和内容">
  <p:cSld name="1_标题和内容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7"/>
          <p:cNvSpPr txBox="1">
            <a:spLocks noGrp="1"/>
          </p:cNvSpPr>
          <p:nvPr>
            <p:ph type="title"/>
          </p:nvPr>
        </p:nvSpPr>
        <p:spPr>
          <a:xfrm>
            <a:off x="888090" y="0"/>
            <a:ext cx="22211762" cy="1772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b="1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7"/>
          <p:cNvSpPr txBox="1">
            <a:spLocks noGrp="1"/>
          </p:cNvSpPr>
          <p:nvPr>
            <p:ph type="body" idx="1"/>
          </p:nvPr>
        </p:nvSpPr>
        <p:spPr>
          <a:xfrm>
            <a:off x="888090" y="2580094"/>
            <a:ext cx="22211762" cy="9829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47"/>
          <p:cNvSpPr/>
          <p:nvPr/>
        </p:nvSpPr>
        <p:spPr>
          <a:xfrm rot="5400000">
            <a:off x="-783589" y="1198227"/>
            <a:ext cx="2664823" cy="1149531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71425" tIns="71425" rIns="71425" bIns="714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 panose="020B0604020202020204"/>
              <a:buNone/>
            </a:pPr>
            <a:endParaRPr sz="30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3" name="Google Shape;33;p47"/>
          <p:cNvSpPr txBox="1">
            <a:spLocks noGrp="1"/>
          </p:cNvSpPr>
          <p:nvPr>
            <p:ph type="sldNum" idx="12"/>
          </p:nvPr>
        </p:nvSpPr>
        <p:spPr>
          <a:xfrm>
            <a:off x="-25943" y="1327548"/>
            <a:ext cx="914033" cy="923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  <a:defRPr sz="4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  <a:defRPr sz="4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  <a:defRPr sz="4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  <a:defRPr sz="4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  <a:defRPr sz="4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  <a:defRPr sz="4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  <a:defRPr sz="4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  <a:defRPr sz="4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  <a:defRPr sz="4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pic>
        <p:nvPicPr>
          <p:cNvPr id="34" name="Google Shape;34;p47"/>
          <p:cNvPicPr preferRelativeResize="0"/>
          <p:nvPr/>
        </p:nvPicPr>
        <p:blipFill rotWithShape="1">
          <a:blip r:embed="rId2"/>
          <a:srcRect t="-1912" r="54024"/>
          <a:stretch>
            <a:fillRect/>
          </a:stretch>
        </p:blipFill>
        <p:spPr>
          <a:xfrm>
            <a:off x="21880286" y="12409713"/>
            <a:ext cx="2503714" cy="1356712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7"/>
          <p:cNvSpPr txBox="1"/>
          <p:nvPr/>
        </p:nvSpPr>
        <p:spPr>
          <a:xfrm>
            <a:off x="634570" y="12932505"/>
            <a:ext cx="7166412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425" tIns="71425" rIns="71425" bIns="7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CS</a:t>
            </a:r>
            <a:r>
              <a:rPr lang="es-ES_tradnl" altLang="en-US" sz="2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35</a:t>
            </a:r>
            <a:r>
              <a:rPr lang="en-US" sz="2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01-COMPUTER ARCHITECTURE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652861216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6"/>
          <p:cNvSpPr txBox="1">
            <a:spLocks noGrp="1"/>
          </p:cNvSpPr>
          <p:nvPr>
            <p:ph type="title"/>
          </p:nvPr>
        </p:nvSpPr>
        <p:spPr>
          <a:xfrm>
            <a:off x="1676400" y="730250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6"/>
          <p:cNvSpPr txBox="1"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 panose="020B0604020202020204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 panose="020B0604020202020204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 panose="020B0604020202020204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 panose="020B0604020202020204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 panose="020B0604020202020204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 panose="020B0604020202020204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 panose="020B0604020202020204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 panose="020B0604020202020204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 panose="020B0604020202020204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6"/>
          <p:cNvSpPr txBox="1">
            <a:spLocks noGrp="1"/>
          </p:cNvSpPr>
          <p:nvPr>
            <p:ph type="sldNum" idx="12"/>
          </p:nvPr>
        </p:nvSpPr>
        <p:spPr>
          <a:xfrm>
            <a:off x="22203052" y="12835870"/>
            <a:ext cx="504548" cy="483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62" r:id="rId7"/>
    <p:sldLayoutId id="2147483663" r:id="rId8"/>
    <p:sldLayoutId id="2147483665" r:id="rId9"/>
    <p:sldLayoutId id="2147483666" r:id="rId10"/>
    <p:sldLayoutId id="2147483667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iHg0mmIg0UU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edaplayground.com/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BFAC8-384C-13B8-0A37-8FBDC06AF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11100" noProof="1"/>
              <a:t>2.Hardware Description Languages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FBDD17-6068-8CF6-608F-805604A09C2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9007" y="4799491"/>
            <a:ext cx="19587328" cy="2102891"/>
          </a:xfrm>
        </p:spPr>
        <p:txBody>
          <a:bodyPr/>
          <a:lstStyle/>
          <a:p>
            <a:r>
              <a:rPr lang="en-US" noProof="1"/>
              <a:t>Computer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/>
              <a:t>Executive Summary</a:t>
            </a:r>
          </a:p>
        </p:txBody>
      </p:sp>
      <p:sp>
        <p:nvSpPr>
          <p:cNvPr id="105" name="Google Shape;105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 b="1"/>
              <a:t>Motivation: </a:t>
            </a:r>
            <a:r>
              <a:rPr lang="en-US"/>
              <a:t>Hardware functionality and complexity in the processor design is increasing over the years.</a:t>
            </a:r>
          </a:p>
          <a:p>
            <a:pPr marL="457200" lvl="0" indent="-457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BFFF"/>
              </a:buClr>
              <a:buSzPct val="100000"/>
              <a:buChar char="•"/>
            </a:pPr>
            <a:r>
              <a:rPr lang="en-US" b="1">
                <a:solidFill>
                  <a:srgbClr val="00BFFF"/>
                </a:solidFill>
              </a:rPr>
              <a:t>Problem: </a:t>
            </a:r>
            <a:r>
              <a:rPr lang="en-US">
                <a:solidFill>
                  <a:srgbClr val="00BFFF"/>
                </a:solidFill>
              </a:rPr>
              <a:t>Computer Architect needs to reduce the project complexity to implement diverse hardware </a:t>
            </a:r>
          </a:p>
          <a:p>
            <a:pPr marL="457200" lvl="0" indent="-457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 b="1">
                <a:solidFill>
                  <a:srgbClr val="FF0000"/>
                </a:solidFill>
              </a:rPr>
              <a:t>Overview:</a:t>
            </a:r>
          </a:p>
          <a:p>
            <a:pPr marL="0" lvl="0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lang="en-US" b="1">
                <a:solidFill>
                  <a:srgbClr val="FF0000"/>
                </a:solidFill>
              </a:rPr>
              <a:t> - </a:t>
            </a:r>
            <a:r>
              <a:rPr lang="en-US">
                <a:solidFill>
                  <a:srgbClr val="FF0000"/>
                </a:solidFill>
              </a:rPr>
              <a:t>Installation of Hardware Description Language (HDL) tools in the designer environment.</a:t>
            </a:r>
            <a:endParaRPr b="1"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/>
              <a:t> </a:t>
            </a:r>
            <a:r>
              <a:rPr lang="en-US">
                <a:solidFill>
                  <a:srgbClr val="FF0000"/>
                </a:solidFill>
              </a:rPr>
              <a:t>- Motivate the usage of Verilog HDL for designing at a higher level of abstraction.</a:t>
            </a:r>
          </a:p>
          <a:p>
            <a:pPr marL="0" lvl="0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lang="en-US">
                <a:solidFill>
                  <a:srgbClr val="FF0000"/>
                </a:solidFill>
              </a:rPr>
              <a:t> - Design and testing based on modules for efficient reuse.</a:t>
            </a:r>
          </a:p>
          <a:p>
            <a:pPr marL="457200" lvl="0" indent="-457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B050"/>
              </a:buClr>
              <a:buSzPct val="100000"/>
              <a:buChar char="•"/>
            </a:pPr>
            <a:r>
              <a:rPr lang="en-US" b="1">
                <a:solidFill>
                  <a:srgbClr val="00B050"/>
                </a:solidFill>
              </a:rPr>
              <a:t>Conclusion: </a:t>
            </a:r>
            <a:r>
              <a:rPr lang="en-US">
                <a:solidFill>
                  <a:srgbClr val="00B050"/>
                </a:solidFill>
              </a:rPr>
              <a:t>Using Verilog HDL the computer architect can reduce the design effort of designing complex hardware.</a:t>
            </a:r>
          </a:p>
        </p:txBody>
      </p:sp>
      <p:sp>
        <p:nvSpPr>
          <p:cNvPr id="107" name="Google Shape;107;p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fld id="{00000000-1234-1234-1234-12341234123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/>
              <a:t>Outline</a:t>
            </a:r>
          </a:p>
        </p:txBody>
      </p:sp>
      <p:sp>
        <p:nvSpPr>
          <p:cNvPr id="126" name="Google Shape;126;p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fld id="{00000000-1234-1234-1234-123412341234}" type="slidenum">
              <a:rPr lang="en-US"/>
              <a:t>3</a:t>
            </a:fld>
            <a:endParaRPr lang="en-US"/>
          </a:p>
        </p:txBody>
      </p:sp>
      <p:sp>
        <p:nvSpPr>
          <p:cNvPr id="127" name="Google Shape;127;p4"/>
          <p:cNvSpPr txBox="1"/>
          <p:nvPr/>
        </p:nvSpPr>
        <p:spPr>
          <a:xfrm>
            <a:off x="496387" y="3595476"/>
            <a:ext cx="23125795" cy="14523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71425" tIns="71425" rIns="71425" bIns="7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lang="en-US" sz="6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496387" y="5224309"/>
            <a:ext cx="23125795" cy="1452320"/>
          </a:xfrm>
          <a:prstGeom prst="rect">
            <a:avLst/>
          </a:prstGeom>
          <a:solidFill>
            <a:srgbClr val="999D95"/>
          </a:solidFill>
          <a:ln>
            <a:noFill/>
          </a:ln>
        </p:spPr>
        <p:txBody>
          <a:bodyPr spcFirstLastPara="1" wrap="square" lIns="71425" tIns="71425" rIns="71425" bIns="7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lang="en-US" sz="6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Working Environment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496387" y="6851298"/>
            <a:ext cx="23125795" cy="1452320"/>
          </a:xfrm>
          <a:prstGeom prst="rect">
            <a:avLst/>
          </a:prstGeom>
          <a:solidFill>
            <a:srgbClr val="999D95"/>
          </a:solidFill>
          <a:ln>
            <a:noFill/>
          </a:ln>
        </p:spPr>
        <p:txBody>
          <a:bodyPr spcFirstLastPara="1" wrap="square" lIns="71425" tIns="71425" rIns="71425" bIns="7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lang="en-US" sz="6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Verilog Syntax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496387" y="8478287"/>
            <a:ext cx="23125795" cy="1452320"/>
          </a:xfrm>
          <a:prstGeom prst="rect">
            <a:avLst/>
          </a:prstGeom>
          <a:solidFill>
            <a:srgbClr val="999D95"/>
          </a:solidFill>
          <a:ln>
            <a:noFill/>
          </a:ln>
        </p:spPr>
        <p:txBody>
          <a:bodyPr spcFirstLastPara="1" wrap="square" lIns="71425" tIns="71425" rIns="71425" bIns="7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lang="en-US" sz="6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Design Examples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1" name="Google Shape;131;p4"/>
          <p:cNvSpPr txBox="1"/>
          <p:nvPr/>
        </p:nvSpPr>
        <p:spPr>
          <a:xfrm>
            <a:off x="496386" y="10105276"/>
            <a:ext cx="23125795" cy="1452320"/>
          </a:xfrm>
          <a:prstGeom prst="rect">
            <a:avLst/>
          </a:prstGeom>
          <a:solidFill>
            <a:srgbClr val="999D95"/>
          </a:solidFill>
          <a:ln>
            <a:noFill/>
          </a:ln>
        </p:spPr>
        <p:txBody>
          <a:bodyPr spcFirstLastPara="1" wrap="square" lIns="71425" tIns="71425" rIns="71425" bIns="7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lang="en-US" sz="6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493283B-8525-618F-E9E0-85C77094D4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/>
          <p:nvPr/>
        </p:nvSpPr>
        <p:spPr>
          <a:xfrm>
            <a:off x="-25943" y="11311467"/>
            <a:ext cx="24409943" cy="1411182"/>
          </a:xfrm>
          <a:prstGeom prst="rect">
            <a:avLst/>
          </a:prstGeom>
          <a:solidFill>
            <a:srgbClr val="92D050">
              <a:alpha val="31372"/>
            </a:srgbClr>
          </a:solidFill>
          <a:ln>
            <a:noFill/>
          </a:ln>
        </p:spPr>
        <p:txBody>
          <a:bodyPr spcFirstLastPara="1" wrap="square" lIns="71425" tIns="71425" rIns="71425" bIns="714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 panose="020B0604020202020204"/>
              <a:buNone/>
            </a:pPr>
            <a:endParaRPr sz="30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8" name="Google Shape;138;p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/>
              <a:t>Introduction</a:t>
            </a:r>
          </a:p>
        </p:txBody>
      </p:sp>
      <p:sp>
        <p:nvSpPr>
          <p:cNvPr id="139" name="Google Shape;139;p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Char char="•"/>
            </a:pPr>
            <a:r>
              <a:rPr lang="en-US" sz="4800" b="1" dirty="0">
                <a:solidFill>
                  <a:srgbClr val="C00000"/>
                </a:solidFill>
              </a:rPr>
              <a:t>Building blocks allows </a:t>
            </a:r>
            <a:r>
              <a:rPr lang="en-US" sz="4800" dirty="0"/>
              <a:t>to implement </a:t>
            </a:r>
            <a:r>
              <a:rPr lang="en-US" sz="4800" b="1" dirty="0"/>
              <a:t>large and complex systems.</a:t>
            </a:r>
          </a:p>
          <a:p>
            <a:pPr marL="990600" lvl="1" indent="-5334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B050"/>
              </a:buClr>
              <a:buSzPct val="100000"/>
              <a:buChar char="•"/>
            </a:pPr>
            <a:r>
              <a:rPr lang="en-US" sz="4800" b="1" dirty="0">
                <a:solidFill>
                  <a:srgbClr val="00B050"/>
                </a:solidFill>
              </a:rPr>
              <a:t>A building block can be defined </a:t>
            </a:r>
            <a:r>
              <a:rPr lang="en-US" sz="4800" dirty="0"/>
              <a:t>on </a:t>
            </a:r>
            <a:r>
              <a:rPr lang="en-US" sz="4800" b="1" dirty="0">
                <a:solidFill>
                  <a:srgbClr val="0070C0"/>
                </a:solidFill>
              </a:rPr>
              <a:t>each abstraction level</a:t>
            </a:r>
          </a:p>
          <a:p>
            <a:pPr marL="1554480" lvl="2" indent="-64008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 sz="4800" b="1" dirty="0"/>
              <a:t>User programs: </a:t>
            </a:r>
            <a:r>
              <a:rPr lang="en-US" sz="4800" dirty="0"/>
              <a:t>classes, functions, etc.</a:t>
            </a:r>
          </a:p>
          <a:p>
            <a:pPr marL="1554480" lvl="2" indent="-64008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 sz="4800" b="1" dirty="0"/>
              <a:t>Hardware: </a:t>
            </a:r>
            <a:r>
              <a:rPr lang="en-US" sz="4800" dirty="0"/>
              <a:t>modules, gates, transistors, etc.</a:t>
            </a:r>
          </a:p>
          <a:p>
            <a:pPr marL="990600" lvl="1" indent="-5334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7030A0"/>
              </a:buClr>
              <a:buSzPct val="100000"/>
              <a:buChar char="•"/>
            </a:pPr>
            <a:r>
              <a:rPr lang="en-US" sz="4800" b="1" dirty="0">
                <a:solidFill>
                  <a:srgbClr val="7030A0"/>
                </a:solidFill>
              </a:rPr>
              <a:t>Allows to focus on the function of the building block</a:t>
            </a:r>
            <a:r>
              <a:rPr lang="en-US" sz="4800" dirty="0"/>
              <a:t>, instead of the lower-level details (e.g.: transistors timing).</a:t>
            </a:r>
          </a:p>
          <a:p>
            <a:pPr marL="457200" lvl="0" indent="-457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DD8200"/>
              </a:buClr>
              <a:buSzPct val="100000"/>
              <a:buChar char="•"/>
            </a:pPr>
            <a:r>
              <a:rPr lang="en-US" sz="4800" b="1" dirty="0">
                <a:solidFill>
                  <a:srgbClr val="DD8200"/>
                </a:solidFill>
              </a:rPr>
              <a:t>Complex design needs to be verified and tested.</a:t>
            </a:r>
          </a:p>
          <a:p>
            <a:pPr marL="1371600" lvl="1" indent="-9144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1A1AFE"/>
              </a:buClr>
              <a:buSzPct val="100000"/>
              <a:buFont typeface="Arial" panose="020B0604020202020204"/>
              <a:buAutoNum type="arabicPeriod"/>
            </a:pPr>
            <a:r>
              <a:rPr lang="en-US" sz="4800" b="1" dirty="0">
                <a:solidFill>
                  <a:srgbClr val="1A1AFE"/>
                </a:solidFill>
              </a:rPr>
              <a:t>First the design is simulated.</a:t>
            </a:r>
          </a:p>
          <a:p>
            <a:pPr marL="1371600" lvl="1" indent="-9144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/>
              <a:buAutoNum type="arabicPeriod"/>
            </a:pPr>
            <a:r>
              <a:rPr lang="en-US" sz="4800" dirty="0"/>
              <a:t>Then, the design is synthetized (translated and ported) to a Field Programmable Gate Array (FPGA) for prototyping.</a:t>
            </a:r>
          </a:p>
          <a:p>
            <a:pPr marL="457200" lvl="0" indent="-12827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endParaRPr lang="en-US" sz="4800" dirty="0"/>
          </a:p>
        </p:txBody>
      </p:sp>
      <p:sp>
        <p:nvSpPr>
          <p:cNvPr id="141" name="Google Shape;141;p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fld id="{00000000-1234-1234-1234-123412341234}" type="slidenum">
              <a:rPr lang="en-US"/>
              <a:t>4</a:t>
            </a:fld>
            <a:endParaRPr lang="en-US"/>
          </a:p>
        </p:txBody>
      </p:sp>
      <p:sp>
        <p:nvSpPr>
          <p:cNvPr id="10" name="Google Shape;156;p7">
            <a:extLst>
              <a:ext uri="{FF2B5EF4-FFF2-40B4-BE49-F238E27FC236}">
                <a16:creationId xmlns:a16="http://schemas.microsoft.com/office/drawing/2014/main" id="{300380F4-EAD7-6A6B-E3BF-A1BA8797294C}"/>
              </a:ext>
            </a:extLst>
          </p:cNvPr>
          <p:cNvSpPr txBox="1"/>
          <p:nvPr/>
        </p:nvSpPr>
        <p:spPr>
          <a:xfrm>
            <a:off x="1887685" y="11250297"/>
            <a:ext cx="20582685" cy="180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425" tIns="71425" rIns="71425" bIns="714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Calibri"/>
              <a:buNone/>
            </a:pPr>
            <a:r>
              <a:rPr lang="en-US" sz="5400" b="1" i="0" u="none" strike="noStrike" cap="none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 our course we design a microprocessor</a:t>
            </a:r>
            <a:r>
              <a:rPr lang="en-US" sz="5400" b="1" i="0" u="none" strike="noStrike" cap="none" dirty="0">
                <a:solidFill>
                  <a:srgbClr val="1A1AFE"/>
                </a:solidFill>
                <a:latin typeface="Calibri"/>
                <a:ea typeface="Calibri"/>
                <a:cs typeface="Calibri"/>
                <a:sym typeface="Calibri"/>
              </a:rPr>
              <a:t>, create a prototype using Verilog and an FPGA. 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Calibri"/>
              <a:buNone/>
            </a:pPr>
            <a:r>
              <a:rPr lang="en-US" sz="8000" dirty="0"/>
              <a:t>Types of devices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DC5488-A585-C388-A925-2B5C1F8299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E" dirty="0"/>
          </a:p>
        </p:txBody>
      </p:sp>
      <p:sp>
        <p:nvSpPr>
          <p:cNvPr id="157" name="Google Shape;157;p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fld id="{00000000-1234-1234-1234-123412341234}" type="slidenum">
              <a:rPr lang="en-US"/>
              <a:t>5</a:t>
            </a:fld>
            <a:endParaRPr lang="en-US"/>
          </a:p>
        </p:txBody>
      </p:sp>
      <p:pic>
        <p:nvPicPr>
          <p:cNvPr id="148" name="Google Shape;148;p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42656" y="2346181"/>
            <a:ext cx="3609013" cy="239999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9" name="Google Shape;149;p7"/>
          <p:cNvGraphicFramePr/>
          <p:nvPr>
            <p:extLst>
              <p:ext uri="{D42A27DB-BD31-4B8C-83A1-F6EECF244321}">
                <p14:modId xmlns:p14="http://schemas.microsoft.com/office/powerpoint/2010/main" val="3037133142"/>
              </p:ext>
            </p:extLst>
          </p:nvPr>
        </p:nvGraphicFramePr>
        <p:xfrm>
          <a:off x="1802123" y="4789481"/>
          <a:ext cx="19879750" cy="758685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40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6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98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1081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000"/>
                        <a:buFont typeface="Arial" panose="020B0604020202020204"/>
                        <a:buNone/>
                      </a:pPr>
                      <a:endParaRPr sz="32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000"/>
                        <a:buFont typeface="Calibri"/>
                        <a:buNone/>
                      </a:pPr>
                      <a:r>
                        <a:rPr lang="en-US" sz="3200" u="none" strike="noStrike" cap="none">
                          <a:solidFill>
                            <a:srgbClr val="FFFFFF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Microprocessors</a:t>
                      </a:r>
                      <a:endParaRPr sz="3200" u="none" strike="noStrike" cap="none">
                        <a:latin typeface="+mn-l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000"/>
                        <a:buFont typeface="Calibri"/>
                        <a:buNone/>
                      </a:pPr>
                      <a:r>
                        <a:rPr lang="en-US" sz="3200" u="none" strike="noStrike" cap="none">
                          <a:solidFill>
                            <a:srgbClr val="FFFFFF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FPGAs</a:t>
                      </a:r>
                      <a:endParaRPr sz="3200" u="none" strike="noStrike" cap="none">
                        <a:latin typeface="+mn-l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000"/>
                        <a:buFont typeface="Calibri"/>
                        <a:buNone/>
                      </a:pPr>
                      <a:r>
                        <a:rPr lang="en-US" sz="3200" u="none" strike="noStrike" cap="none">
                          <a:solidFill>
                            <a:srgbClr val="FFFFFF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ASICs</a:t>
                      </a:r>
                      <a:endParaRPr sz="3200" u="none" strike="noStrike" cap="none">
                        <a:latin typeface="+mn-l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0891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000"/>
                        <a:buFont typeface="Calibri"/>
                        <a:buNone/>
                      </a:pPr>
                      <a:endParaRPr sz="3200" b="1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000"/>
                        <a:buFont typeface="Calibri"/>
                        <a:buNone/>
                      </a:pPr>
                      <a:r>
                        <a:rPr lang="es-ES" sz="3200" u="none" strike="noStrike" cap="none" dirty="0" err="1">
                          <a:latin typeface="+mn-lt"/>
                        </a:rPr>
                        <a:t>Processor</a:t>
                      </a:r>
                      <a:endParaRPr sz="3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000"/>
                        <a:buFont typeface="Calibri"/>
                        <a:buNone/>
                      </a:pPr>
                      <a:r>
                        <a:rPr lang="es-ES" sz="3200" u="none" strike="noStrike" cap="none" dirty="0">
                          <a:latin typeface="+mn-lt"/>
                        </a:rPr>
                        <a:t>FPGA</a:t>
                      </a:r>
                      <a:endParaRPr sz="3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000"/>
                        <a:buFont typeface="Calibri"/>
                        <a:buNone/>
                      </a:pPr>
                      <a:r>
                        <a:rPr lang="es-ES" sz="3200" u="none" strike="noStrike" cap="none" dirty="0">
                          <a:latin typeface="+mn-lt"/>
                        </a:rPr>
                        <a:t>ASIC</a:t>
                      </a:r>
                      <a:endParaRPr sz="3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7642870"/>
                  </a:ext>
                </a:extLst>
              </a:tr>
              <a:tr h="930891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000"/>
                        <a:buFont typeface="Calibri"/>
                        <a:buNone/>
                      </a:pPr>
                      <a:r>
                        <a:rPr lang="en-US" sz="3200" u="none" strike="noStrike" cap="none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Characteristics</a:t>
                      </a:r>
                      <a:endParaRPr sz="3200" b="1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000"/>
                        <a:buFont typeface="Calibri"/>
                        <a:buNone/>
                      </a:pPr>
                      <a:r>
                        <a:rPr lang="en-US" sz="3200" u="none" strike="noStrike" cap="none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General purpose hardware</a:t>
                      </a:r>
                      <a:endParaRPr sz="3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000"/>
                        <a:buFont typeface="Calibri"/>
                        <a:buNone/>
                      </a:pPr>
                      <a:r>
                        <a:rPr lang="en-US" sz="3200" u="none" strike="noStrike" cap="none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Reconfigurable hardware</a:t>
                      </a:r>
                      <a:endParaRPr sz="3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000"/>
                        <a:buFont typeface="Calibri"/>
                        <a:buNone/>
                      </a:pPr>
                      <a:r>
                        <a:rPr lang="en-US" sz="3200" u="none" strike="noStrike" cap="none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Custom design</a:t>
                      </a:r>
                      <a:endParaRPr sz="3200" u="none" strike="noStrike" cap="none" dirty="0">
                        <a:latin typeface="+mn-l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0891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000"/>
                        <a:buFont typeface="Calibri"/>
                        <a:buNone/>
                      </a:pPr>
                      <a:r>
                        <a:rPr lang="en-US" sz="3200" u="none" strike="noStrike" cap="none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Purpose</a:t>
                      </a:r>
                      <a:endParaRPr sz="3200" b="1" u="none" strike="noStrike" cap="none" dirty="0">
                        <a:solidFill>
                          <a:schemeClr val="dk1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000"/>
                        <a:buFont typeface="Calibri"/>
                        <a:buNone/>
                      </a:pPr>
                      <a:r>
                        <a:rPr lang="en-US" sz="3200" u="none" strike="noStrike" cap="none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General</a:t>
                      </a:r>
                      <a:endParaRPr sz="3200" u="none" strike="noStrike" cap="none">
                        <a:solidFill>
                          <a:schemeClr val="dk1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000"/>
                        <a:buFont typeface="Calibri"/>
                        <a:buNone/>
                      </a:pPr>
                      <a:r>
                        <a:rPr lang="en-US" sz="3200" u="none" strike="noStrike" cap="none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Prototyping</a:t>
                      </a:r>
                      <a:endParaRPr sz="3200" u="none" strike="noStrike" cap="none">
                        <a:latin typeface="+mn-lt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000"/>
                        <a:buFont typeface="Calibri"/>
                        <a:buNone/>
                      </a:pPr>
                      <a:r>
                        <a:rPr lang="en-US" sz="3200" u="none" strike="noStrike" cap="none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Max performance</a:t>
                      </a:r>
                      <a:endParaRPr sz="3200" u="none" strike="noStrike" cap="none">
                        <a:solidFill>
                          <a:schemeClr val="dk1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081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000"/>
                        <a:buFont typeface="Calibri"/>
                        <a:buNone/>
                      </a:pPr>
                      <a:r>
                        <a:rPr lang="en-US" sz="3200" u="none" strike="noStrike" cap="none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Programming</a:t>
                      </a:r>
                      <a:endParaRPr sz="3200" b="1" u="none" strike="noStrike" cap="none">
                        <a:solidFill>
                          <a:schemeClr val="dk1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000"/>
                        <a:buFont typeface="Calibri"/>
                        <a:buNone/>
                      </a:pPr>
                      <a:r>
                        <a:rPr lang="en-US" sz="3200" u="none" strike="noStrike" cap="none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Executable file</a:t>
                      </a:r>
                      <a:endParaRPr sz="3200" u="none" strike="noStrike" cap="none">
                        <a:solidFill>
                          <a:schemeClr val="dk1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000"/>
                        <a:buFont typeface="Calibri"/>
                        <a:buNone/>
                      </a:pPr>
                      <a:r>
                        <a:rPr lang="en-US" sz="3200" u="none" strike="noStrike" cap="none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Bit file</a:t>
                      </a:r>
                      <a:endParaRPr sz="3200" u="none" strike="noStrike" cap="none">
                        <a:solidFill>
                          <a:schemeClr val="dk1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000"/>
                        <a:buFont typeface="Calibri"/>
                        <a:buNone/>
                      </a:pPr>
                      <a:r>
                        <a:rPr lang="en-US" sz="3200" u="none" strike="noStrike" cap="none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Design masks</a:t>
                      </a:r>
                      <a:endParaRPr sz="3200" u="none" strike="noStrike" cap="none">
                        <a:solidFill>
                          <a:schemeClr val="dk1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7253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000"/>
                        <a:buFont typeface="Calibri"/>
                        <a:buNone/>
                      </a:pPr>
                      <a:r>
                        <a:rPr lang="en-US" sz="3200" u="none" strike="noStrike" cap="none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Program Development Time</a:t>
                      </a:r>
                      <a:endParaRPr sz="3200" b="1" u="none" strike="noStrike" cap="none">
                        <a:solidFill>
                          <a:schemeClr val="dk1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000"/>
                        <a:buFont typeface="Calibri"/>
                        <a:buNone/>
                      </a:pPr>
                      <a:r>
                        <a:rPr lang="en-US" sz="3200" u="none" strike="noStrike" cap="none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minutes</a:t>
                      </a:r>
                      <a:endParaRPr sz="3200" u="none" strike="noStrike" cap="none">
                        <a:solidFill>
                          <a:schemeClr val="dk1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000"/>
                        <a:buFont typeface="Calibri"/>
                        <a:buNone/>
                      </a:pPr>
                      <a:r>
                        <a:rPr lang="en-US" sz="3200" u="none" strike="noStrike" cap="none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days</a:t>
                      </a:r>
                      <a:endParaRPr sz="3200" u="none" strike="noStrike" cap="none">
                        <a:solidFill>
                          <a:schemeClr val="dk1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000"/>
                        <a:buFont typeface="Calibri"/>
                        <a:buNone/>
                      </a:pPr>
                      <a:r>
                        <a:rPr lang="en-US" sz="3200" u="none" strike="noStrike" cap="none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months</a:t>
                      </a:r>
                      <a:endParaRPr sz="3200" u="none" strike="noStrike" cap="none">
                        <a:solidFill>
                          <a:schemeClr val="dk1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081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000"/>
                        <a:buFont typeface="Calibri"/>
                        <a:buNone/>
                      </a:pPr>
                      <a:r>
                        <a:rPr lang="en-US" sz="3200" u="none" strike="noStrike" cap="none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Languages</a:t>
                      </a:r>
                      <a:endParaRPr sz="3200" b="1" u="none" strike="noStrike" cap="none">
                        <a:solidFill>
                          <a:schemeClr val="dk1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000"/>
                        <a:buFont typeface="Calibri"/>
                        <a:buNone/>
                      </a:pPr>
                      <a:r>
                        <a:rPr lang="es-ES_tradnl" altLang="en-US" sz="3200" u="none" strike="noStrike" cap="none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  </a:t>
                      </a:r>
                      <a:r>
                        <a:rPr lang="en-US" sz="3200" u="none" strike="noStrike" cap="none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C/C++,Python, etc.</a:t>
                      </a:r>
                      <a:endParaRPr sz="3200" u="none" strike="noStrike" cap="none">
                        <a:solidFill>
                          <a:schemeClr val="dk1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000"/>
                        <a:buFont typeface="Calibri"/>
                        <a:buNone/>
                      </a:pPr>
                      <a:r>
                        <a:rPr lang="en-US" sz="3200" u="none" strike="noStrike" cap="none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Verilog/VHDL</a:t>
                      </a:r>
                      <a:endParaRPr sz="3200" b="1" u="none" strike="noStrike" cap="none">
                        <a:solidFill>
                          <a:schemeClr val="lt1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000"/>
                        <a:buFont typeface="Calibri"/>
                        <a:buNone/>
                      </a:pPr>
                      <a:r>
                        <a:rPr lang="en-US" sz="3200" u="none" strike="noStrike" cap="none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Verilog/VHDL</a:t>
                      </a:r>
                      <a:endParaRPr sz="3200" b="1" u="none" strike="noStrike" cap="none">
                        <a:solidFill>
                          <a:schemeClr val="lt1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87253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000"/>
                        <a:buFont typeface="Calibri"/>
                        <a:buNone/>
                      </a:pPr>
                      <a:r>
                        <a:rPr lang="en-US" sz="3200" u="none" strike="noStrike" cap="none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Main Companies</a:t>
                      </a:r>
                      <a:endParaRPr sz="3200" b="1" u="none" strike="noStrike" cap="none" dirty="0">
                        <a:solidFill>
                          <a:schemeClr val="dk1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000"/>
                        <a:buFont typeface="Calibri"/>
                        <a:buNone/>
                      </a:pPr>
                      <a:r>
                        <a:rPr lang="en-US" sz="3200" u="none" strike="noStrike" cap="none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Intel, ARM, AMD</a:t>
                      </a:r>
                      <a:endParaRPr sz="3200" u="none" strike="noStrike" cap="none">
                        <a:solidFill>
                          <a:schemeClr val="dk1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000"/>
                        <a:buFont typeface="Calibri"/>
                        <a:buNone/>
                      </a:pPr>
                      <a:r>
                        <a:rPr lang="en-US" sz="3200" u="none" strike="noStrike" cap="none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AMD Xilinx, Intel Altera, Lattice</a:t>
                      </a:r>
                      <a:endParaRPr sz="3200" u="none" strike="noStrike" cap="none" dirty="0">
                        <a:solidFill>
                          <a:schemeClr val="dk1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000"/>
                        <a:buFont typeface="Calibri"/>
                        <a:buNone/>
                      </a:pPr>
                      <a:r>
                        <a:rPr lang="en-US" sz="3200" u="none" strike="noStrike" cap="none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TSMC, UMC, ST,  Global foundries</a:t>
                      </a:r>
                      <a:endParaRPr sz="3200" u="none" strike="noStrike" cap="none" dirty="0">
                        <a:solidFill>
                          <a:schemeClr val="dk1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87253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000"/>
                        <a:buFont typeface="Calibri"/>
                        <a:buNone/>
                      </a:pPr>
                      <a:r>
                        <a:rPr lang="es-ES" sz="3200" b="1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Examples</a:t>
                      </a:r>
                      <a:endParaRPr sz="3200" b="1" u="none" strike="noStrike" cap="none" dirty="0">
                        <a:solidFill>
                          <a:schemeClr val="dk1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000"/>
                        <a:buFont typeface="Calibri"/>
                        <a:buNone/>
                      </a:pPr>
                      <a:r>
                        <a:rPr lang="es-ES" sz="320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Intel i9 14900</a:t>
                      </a:r>
                      <a:endParaRPr sz="3200" u="none" strike="noStrike" cap="none" dirty="0">
                        <a:solidFill>
                          <a:schemeClr val="dk1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000"/>
                        <a:buFont typeface="Calibri"/>
                        <a:buNone/>
                      </a:pPr>
                      <a:r>
                        <a:rPr lang="es-ES" sz="320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Xilinx </a:t>
                      </a:r>
                      <a:r>
                        <a:rPr lang="es-ES" sz="320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Artyx</a:t>
                      </a:r>
                      <a:r>
                        <a:rPr lang="es-ES" sz="320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 7</a:t>
                      </a:r>
                      <a:endParaRPr sz="3200" u="none" strike="noStrike" cap="none" dirty="0">
                        <a:solidFill>
                          <a:schemeClr val="dk1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000"/>
                        <a:buFont typeface="Calibri"/>
                        <a:buNone/>
                      </a:pPr>
                      <a:r>
                        <a:rPr lang="es-ES" sz="320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NVIDIA H100, Google TPU v2</a:t>
                      </a:r>
                      <a:endParaRPr sz="3200" u="none" strike="noStrike" cap="none" dirty="0">
                        <a:solidFill>
                          <a:schemeClr val="dk1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4802276"/>
                  </a:ext>
                </a:extLst>
              </a:tr>
            </a:tbl>
          </a:graphicData>
        </a:graphic>
      </p:graphicFrame>
      <p:pic>
        <p:nvPicPr>
          <p:cNvPr id="150" name="Google Shape;150;p7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534947" y="2285073"/>
            <a:ext cx="4107406" cy="2472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7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8282020" y="2330692"/>
            <a:ext cx="2688637" cy="2373650"/>
          </a:xfrm>
          <a:prstGeom prst="rect">
            <a:avLst/>
          </a:prstGeom>
          <a:noFill/>
          <a:ln w="381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152" name="Google Shape;152;p7"/>
          <p:cNvGrpSpPr/>
          <p:nvPr/>
        </p:nvGrpSpPr>
        <p:grpSpPr>
          <a:xfrm>
            <a:off x="7534947" y="3545935"/>
            <a:ext cx="9253174" cy="7481845"/>
            <a:chOff x="7534947" y="3545935"/>
            <a:chExt cx="9253174" cy="7481845"/>
          </a:xfrm>
        </p:grpSpPr>
        <p:sp>
          <p:nvSpPr>
            <p:cNvPr id="153" name="Google Shape;153;p7"/>
            <p:cNvSpPr/>
            <p:nvPr/>
          </p:nvSpPr>
          <p:spPr>
            <a:xfrm>
              <a:off x="7534947" y="3557804"/>
              <a:ext cx="4107406" cy="7469976"/>
            </a:xfrm>
            <a:prstGeom prst="rect">
              <a:avLst/>
            </a:prstGeom>
            <a:solidFill>
              <a:srgbClr val="C00000">
                <a:alpha val="10588"/>
              </a:srgbClr>
            </a:solidFill>
            <a:ln>
              <a:noFill/>
            </a:ln>
          </p:spPr>
          <p:txBody>
            <a:bodyPr spcFirstLastPara="1" wrap="square" lIns="71425" tIns="71425" rIns="71425" bIns="71425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 panose="020B0604020202020204"/>
                <a:buNone/>
              </a:pPr>
              <a:endParaRPr sz="3000" b="1" i="0" u="none" strike="noStrike" cap="non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4" name="Google Shape;154;p7"/>
            <p:cNvSpPr/>
            <p:nvPr/>
          </p:nvSpPr>
          <p:spPr>
            <a:xfrm>
              <a:off x="12428678" y="3545935"/>
              <a:ext cx="4359443" cy="7469976"/>
            </a:xfrm>
            <a:prstGeom prst="rect">
              <a:avLst/>
            </a:prstGeom>
            <a:solidFill>
              <a:srgbClr val="C00000">
                <a:alpha val="10588"/>
              </a:srgbClr>
            </a:solidFill>
            <a:ln>
              <a:noFill/>
            </a:ln>
          </p:spPr>
          <p:txBody>
            <a:bodyPr spcFirstLastPara="1" wrap="square" lIns="71425" tIns="71425" rIns="71425" bIns="71425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 panose="020B0604020202020204"/>
                <a:buNone/>
              </a:pPr>
              <a:endParaRPr sz="30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"/>
          <p:cNvSpPr/>
          <p:nvPr/>
        </p:nvSpPr>
        <p:spPr>
          <a:xfrm>
            <a:off x="183" y="2417341"/>
            <a:ext cx="24384000" cy="1728000"/>
          </a:xfrm>
          <a:prstGeom prst="rect">
            <a:avLst/>
          </a:prstGeom>
          <a:solidFill>
            <a:srgbClr val="98CD06">
              <a:alpha val="52549"/>
            </a:srgbClr>
          </a:solidFill>
          <a:ln>
            <a:noFill/>
          </a:ln>
        </p:spPr>
        <p:txBody>
          <a:bodyPr spcFirstLastPara="1" wrap="square" lIns="71425" tIns="71425" rIns="71425" bIns="714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 panose="020B0604020202020204"/>
              <a:buNone/>
            </a:pPr>
            <a:endParaRPr sz="30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3" name="Google Shape;163;p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/>
              <a:t>Hardware Design</a:t>
            </a:r>
          </a:p>
        </p:txBody>
      </p:sp>
      <p:sp>
        <p:nvSpPr>
          <p:cNvPr id="164" name="Google Shape;164;p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990600" lvl="1" indent="-533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Char char="•"/>
            </a:pPr>
            <a:r>
              <a:rPr lang="en-US" sz="4800"/>
              <a:t>Computer Architect needs a </a:t>
            </a:r>
            <a:r>
              <a:rPr lang="en-US" sz="4800" b="1">
                <a:solidFill>
                  <a:srgbClr val="C00000"/>
                </a:solidFill>
              </a:rPr>
              <a:t>Hardware Description Language (HDL) </a:t>
            </a:r>
            <a:r>
              <a:rPr lang="en-US" sz="4800"/>
              <a:t>to work at a higher level of abstraction.</a:t>
            </a:r>
          </a:p>
          <a:p>
            <a:pPr marL="990600" lvl="1" indent="-228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4800" b="1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90600" lvl="1" indent="-5334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70C0"/>
              </a:buClr>
              <a:buSzPts val="4800"/>
              <a:buChar char="•"/>
            </a:pPr>
            <a:r>
              <a:rPr lang="en-US" sz="48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HDL allows </a:t>
            </a:r>
            <a:r>
              <a:rPr lang="en-US" sz="4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create complex designs, and provide both:</a:t>
            </a:r>
            <a:endParaRPr sz="4800" b="1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554480" lvl="2" indent="-64008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70C0"/>
              </a:buClr>
              <a:buSzPts val="4800"/>
              <a:buChar char="•"/>
            </a:pPr>
            <a:r>
              <a:rPr lang="en-US" sz="48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Simulation</a:t>
            </a:r>
          </a:p>
          <a:p>
            <a:pPr marL="1021080" lvl="2" indent="0" algn="l" rtl="0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 - Inputs applied to circuit</a:t>
            </a:r>
            <a:endParaRPr sz="4800" i="1">
              <a:latin typeface="Calibri"/>
              <a:ea typeface="Calibri"/>
              <a:cs typeface="Calibri"/>
              <a:sym typeface="Calibri"/>
            </a:endParaRPr>
          </a:p>
          <a:p>
            <a:pPr marL="1021080" lvl="2" indent="0" algn="l" rtl="0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 - Outputs checked for correctness</a:t>
            </a:r>
          </a:p>
          <a:p>
            <a:pPr marL="1021080" lvl="2" indent="0" algn="l" rtl="0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 - Millions of dollars saved by debugging in simulation instead of hardware</a:t>
            </a:r>
          </a:p>
          <a:p>
            <a:pPr marL="1306830" lvl="2" indent="0" algn="l" rtl="0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endParaRPr sz="4800">
              <a:latin typeface="Calibri"/>
              <a:ea typeface="Calibri"/>
              <a:cs typeface="Calibri"/>
              <a:sym typeface="Calibri"/>
            </a:endParaRPr>
          </a:p>
          <a:p>
            <a:pPr marL="1554480" lvl="2" indent="-640080" algn="l" rtl="0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rgbClr val="0070C0"/>
              </a:buClr>
              <a:buSzPts val="4800"/>
              <a:buChar char="•"/>
            </a:pPr>
            <a:r>
              <a:rPr lang="en-US" sz="48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Synthesis</a:t>
            </a:r>
          </a:p>
          <a:p>
            <a:pPr marL="1021080" lvl="2" indent="0" algn="l" rtl="0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 - Transforms HDL code into a </a:t>
            </a:r>
            <a:r>
              <a:rPr lang="en-US" sz="4800" i="1">
                <a:latin typeface="Calibri"/>
                <a:ea typeface="Calibri"/>
                <a:cs typeface="Calibri"/>
                <a:sym typeface="Calibri"/>
              </a:rPr>
              <a:t>netlist</a:t>
            </a: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 describing the hardware (i.e., a list of gates and the wires connecting them)</a:t>
            </a:r>
            <a:endParaRPr sz="4800"/>
          </a:p>
          <a:p>
            <a:pPr marL="990600" lvl="1" indent="-228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4800"/>
          </a:p>
        </p:txBody>
      </p:sp>
      <p:sp>
        <p:nvSpPr>
          <p:cNvPr id="165" name="Google Shape;165;p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fld id="{00000000-1234-1234-1234-123412341234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/>
              <a:t>Hardware Description Languages</a:t>
            </a:r>
          </a:p>
        </p:txBody>
      </p:sp>
      <p:sp>
        <p:nvSpPr>
          <p:cNvPr id="173" name="Google Shape;173;p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Char char="•"/>
            </a:pPr>
            <a:r>
              <a:rPr lang="en-US" sz="48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HDLs </a:t>
            </a:r>
            <a:r>
              <a:rPr lang="en-US" sz="4800" b="1" dirty="0">
                <a:solidFill>
                  <a:srgbClr val="1A1AFE"/>
                </a:solidFill>
                <a:latin typeface="Calibri"/>
                <a:ea typeface="Calibri"/>
                <a:cs typeface="Calibri"/>
                <a:sym typeface="Calibri"/>
              </a:rPr>
              <a:t>specifies logic function or models </a:t>
            </a:r>
            <a:r>
              <a:rPr lang="en-US" sz="4800" dirty="0">
                <a:latin typeface="Calibri"/>
                <a:ea typeface="Calibri"/>
                <a:cs typeface="Calibri"/>
                <a:sym typeface="Calibri"/>
              </a:rPr>
              <a:t>the electronic design.</a:t>
            </a:r>
          </a:p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Char char="•"/>
            </a:pPr>
            <a:r>
              <a:rPr lang="en-US" sz="4800" b="1" dirty="0">
                <a:latin typeface="Calibri"/>
                <a:ea typeface="Calibri"/>
                <a:cs typeface="Calibri"/>
                <a:sym typeface="Calibri"/>
              </a:rPr>
              <a:t>Additional computer-aided design (CAD) </a:t>
            </a:r>
            <a:r>
              <a:rPr lang="en-US" sz="4800" dirty="0">
                <a:latin typeface="Calibri"/>
                <a:ea typeface="Calibri"/>
                <a:cs typeface="Calibri"/>
                <a:sym typeface="Calibri"/>
              </a:rPr>
              <a:t>tool </a:t>
            </a:r>
            <a:r>
              <a:rPr lang="en-US" sz="4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produces or </a:t>
            </a:r>
            <a:r>
              <a:rPr lang="en-US" sz="4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synthesizes </a:t>
            </a:r>
            <a:r>
              <a:rPr lang="en-US" sz="4800" dirty="0">
                <a:latin typeface="Calibri"/>
                <a:ea typeface="Calibri"/>
                <a:cs typeface="Calibri"/>
                <a:sym typeface="Calibri"/>
              </a:rPr>
              <a:t>the optimized gates.</a:t>
            </a:r>
          </a:p>
          <a:p>
            <a:pPr marL="457200" lvl="0" indent="-114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None/>
            </a:pPr>
            <a:endParaRPr sz="4800" dirty="0">
              <a:latin typeface="Calibri"/>
              <a:ea typeface="Calibri"/>
              <a:cs typeface="Calibri"/>
              <a:sym typeface="Calibri"/>
            </a:endParaRPr>
          </a:p>
          <a:p>
            <a:pPr marL="990600" lvl="1" indent="-533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5400"/>
              <a:buChar char="•"/>
            </a:pPr>
            <a:r>
              <a:rPr lang="en-US" sz="4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Verilog</a:t>
            </a:r>
          </a:p>
          <a:p>
            <a:pPr marL="1554480" lvl="2" indent="-6400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5400"/>
              <a:buChar char="•"/>
            </a:pPr>
            <a:r>
              <a:rPr lang="en-US" sz="4800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developed in 1984 by Gateway Design Automation</a:t>
            </a:r>
          </a:p>
          <a:p>
            <a:pPr marL="1554480" lvl="2" indent="-6400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5400"/>
              <a:buChar char="•"/>
            </a:pPr>
            <a:r>
              <a:rPr lang="en-US" sz="4800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IEEE standard (1364) in 1995</a:t>
            </a:r>
          </a:p>
          <a:p>
            <a:pPr marL="1554480" lvl="2" indent="-6400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5400"/>
              <a:buChar char="•"/>
            </a:pPr>
            <a:r>
              <a:rPr lang="en-US" sz="4800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More popular in US than VHDL</a:t>
            </a:r>
          </a:p>
          <a:p>
            <a:pPr marL="1554480" lvl="2" indent="-2971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None/>
            </a:pPr>
            <a:endParaRPr sz="4800" dirty="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None/>
            </a:pPr>
            <a:endParaRPr sz="48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114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None/>
            </a:pPr>
            <a:endParaRPr sz="48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fld id="{00000000-1234-1234-1234-123412341234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71;p9">
            <a:extLst>
              <a:ext uri="{FF2B5EF4-FFF2-40B4-BE49-F238E27FC236}">
                <a16:creationId xmlns:a16="http://schemas.microsoft.com/office/drawing/2014/main" id="{BDB34689-F823-E07E-A1FF-51135CEDFCF5}"/>
              </a:ext>
            </a:extLst>
          </p:cNvPr>
          <p:cNvSpPr/>
          <p:nvPr/>
        </p:nvSpPr>
        <p:spPr>
          <a:xfrm>
            <a:off x="0" y="5245100"/>
            <a:ext cx="24384000" cy="3225800"/>
          </a:xfrm>
          <a:prstGeom prst="rect">
            <a:avLst/>
          </a:prstGeom>
          <a:solidFill>
            <a:srgbClr val="FF0000">
              <a:alpha val="19607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784CAD-21AD-493A-1B28-8FDB4F92D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E" dirty="0"/>
              <a:t>What is an FPGA?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6ADE9A-CECF-FB8C-CE37-530DA79E1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8090" y="6081823"/>
            <a:ext cx="22211762" cy="1772993"/>
          </a:xfrm>
        </p:spPr>
        <p:txBody>
          <a:bodyPr/>
          <a:lstStyle/>
          <a:p>
            <a:r>
              <a:rPr lang="en-US" dirty="0">
                <a:hlinkClick r:id="rId2"/>
              </a:rPr>
              <a:t>https://www.youtube.com/watch?v=iHg0mmIg0UU</a:t>
            </a:r>
            <a:endParaRPr lang="en-US" dirty="0"/>
          </a:p>
          <a:p>
            <a:endParaRPr lang="en-P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C0A494-EBDD-8D90-FA46-3E266DDB05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517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8"/>
          <p:cNvSpPr/>
          <p:nvPr/>
        </p:nvSpPr>
        <p:spPr>
          <a:xfrm>
            <a:off x="26537" y="8178810"/>
            <a:ext cx="24384000" cy="4428000"/>
          </a:xfrm>
          <a:prstGeom prst="rect">
            <a:avLst/>
          </a:prstGeom>
          <a:solidFill>
            <a:srgbClr val="FF0000">
              <a:alpha val="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1" name="Google Shape;181;p58"/>
          <p:cNvSpPr/>
          <p:nvPr/>
        </p:nvSpPr>
        <p:spPr>
          <a:xfrm>
            <a:off x="-25943" y="2133255"/>
            <a:ext cx="24384000" cy="4721980"/>
          </a:xfrm>
          <a:prstGeom prst="rect">
            <a:avLst/>
          </a:prstGeom>
          <a:solidFill>
            <a:srgbClr val="FFC000">
              <a:alpha val="1372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2" name="Google Shape;182;p5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1000"/>
              <a:buFont typeface="Calibri"/>
              <a:buNone/>
            </a:pPr>
            <a:r>
              <a:rPr lang="en-US"/>
              <a:t>General processor programming vs </a:t>
            </a:r>
            <a:br>
              <a:rPr lang="en-US"/>
            </a:br>
            <a:r>
              <a:rPr lang="en-US"/>
              <a:t>hardware description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25FF6C1-2DD5-61CA-7EC0-1BFB7F07B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183" name="Google Shape;183;p5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fld id="{00000000-1234-1234-1234-123412341234}" type="slidenum">
              <a:rPr lang="en-US"/>
              <a:t>9</a:t>
            </a:fld>
            <a:endParaRPr lang="en-US"/>
          </a:p>
        </p:txBody>
      </p:sp>
      <p:sp>
        <p:nvSpPr>
          <p:cNvPr id="184" name="Google Shape;184;p58"/>
          <p:cNvSpPr txBox="1"/>
          <p:nvPr/>
        </p:nvSpPr>
        <p:spPr>
          <a:xfrm>
            <a:off x="16698100" y="2161904"/>
            <a:ext cx="6079524" cy="4524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20204"/>
              <a:buChar char="•"/>
            </a:pPr>
            <a:r>
              <a:rPr lang="en-US" sz="36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Techniques</a:t>
            </a:r>
            <a:r>
              <a:rPr lang="en-US" sz="3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used to </a:t>
            </a:r>
            <a:r>
              <a:rPr lang="en-US" sz="3600" b="1" i="0" u="none" strike="noStrike" cap="none">
                <a:solidFill>
                  <a:srgbClr val="7030A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exploit parallelism and concurrency </a:t>
            </a:r>
            <a:r>
              <a:rPr lang="en-US" sz="3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because the </a:t>
            </a:r>
            <a:r>
              <a:rPr lang="en-US" sz="3600" b="1" i="0" u="none" strike="noStrike" cap="none">
                <a:solidFill>
                  <a:srgbClr val="C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program is restricted by the processor </a:t>
            </a:r>
            <a:r>
              <a:rPr lang="en-US" sz="3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(CPU, GPU) characteristics. 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20204"/>
              <a:buChar char="•"/>
            </a:pPr>
            <a:r>
              <a:rPr lang="en-US" sz="3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Result </a:t>
            </a:r>
            <a:r>
              <a:rPr lang="en-US" sz="3600" b="1" i="0" u="none" strike="noStrike" cap="none">
                <a:solidFill>
                  <a:srgbClr val="00B0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after compilation: binary</a:t>
            </a:r>
          </a:p>
        </p:txBody>
      </p:sp>
      <p:sp>
        <p:nvSpPr>
          <p:cNvPr id="185" name="Google Shape;185;p58"/>
          <p:cNvSpPr txBox="1"/>
          <p:nvPr/>
        </p:nvSpPr>
        <p:spPr>
          <a:xfrm>
            <a:off x="15880339" y="8053096"/>
            <a:ext cx="7417542" cy="562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20204"/>
              <a:buChar char="•"/>
            </a:pPr>
            <a:r>
              <a:rPr lang="en-US" sz="3600" b="1" i="0" u="none" strike="noStrike" cap="none">
                <a:solidFill>
                  <a:srgbClr val="0070C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Hardware is inherently parallel and concurrent (signals).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20204"/>
              <a:buChar char="•"/>
            </a:pPr>
            <a:r>
              <a:rPr lang="en-US" sz="36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Compilation </a:t>
            </a:r>
            <a:r>
              <a:rPr lang="es-ES_tradnl" altLang="en-US" sz="36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(almost) equivalent to s</a:t>
            </a:r>
            <a:r>
              <a:rPr lang="en-US" sz="36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ynthesis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20204"/>
              <a:buChar char="•"/>
            </a:pPr>
            <a:r>
              <a:rPr lang="en-US" sz="36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Result after synthesis: </a:t>
            </a:r>
            <a:r>
              <a:rPr lang="en-US" sz="36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netlist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20204"/>
              <a:buChar char="•"/>
            </a:pPr>
            <a:r>
              <a:rPr lang="en-US" sz="3600" b="1" i="0" u="none" strike="noStrike" cap="none">
                <a:solidFill>
                  <a:srgbClr val="C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Netlist used to map and represent connectivity between gates.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20204"/>
              <a:buChar char="•"/>
            </a:pPr>
            <a:r>
              <a:rPr lang="en-US" sz="3600" b="1" i="0" u="none" strike="noStrike" cap="none">
                <a:solidFill>
                  <a:srgbClr val="00B0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Netlist can be used to create a chip.</a:t>
            </a:r>
          </a:p>
        </p:txBody>
      </p:sp>
      <p:pic>
        <p:nvPicPr>
          <p:cNvPr id="186" name="Google Shape;186;p58" descr="Good Idea with solid fill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173514" y="3343272"/>
            <a:ext cx="1583261" cy="1583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58" descr="Group brainstorm with solid fill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735369" y="8632048"/>
            <a:ext cx="2459549" cy="245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58" descr="Web design with solid fill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637477" y="3196549"/>
            <a:ext cx="1772993" cy="1772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58" descr="Processor with solid fill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11356755" y="8819260"/>
            <a:ext cx="1772993" cy="1772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58" descr="Processor outline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7951969" y="9104852"/>
            <a:ext cx="1609429" cy="16094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58" descr="Web design outline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6429370" y="9043078"/>
            <a:ext cx="1772993" cy="1772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58" descr="Continuous Improvement with solid fill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10495042" y="2655311"/>
            <a:ext cx="2604077" cy="2604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58" descr="Arrow Right with solid fill"/>
          <p:cNvPicPr preferRelativeResize="0"/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4826417" y="3625846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58" descr="Arrow Right with solid fill"/>
          <p:cNvPicPr preferRelativeResize="0"/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9188182" y="3500149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58" descr="Arrow Right with solid fill"/>
          <p:cNvPicPr preferRelativeResize="0"/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4704159" y="9454312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58" descr="Arrow Right with solid fill"/>
          <p:cNvPicPr preferRelativeResize="0"/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10147141" y="9404622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58"/>
          <p:cNvSpPr txBox="1"/>
          <p:nvPr/>
        </p:nvSpPr>
        <p:spPr>
          <a:xfrm>
            <a:off x="1519397" y="4926533"/>
            <a:ext cx="315387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Idea/requirement</a:t>
            </a:r>
          </a:p>
        </p:txBody>
      </p:sp>
      <p:sp>
        <p:nvSpPr>
          <p:cNvPr id="198" name="Google Shape;198;p58"/>
          <p:cNvSpPr txBox="1"/>
          <p:nvPr/>
        </p:nvSpPr>
        <p:spPr>
          <a:xfrm>
            <a:off x="1550283" y="11091597"/>
            <a:ext cx="315387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Idea/requirement</a:t>
            </a:r>
          </a:p>
        </p:txBody>
      </p:sp>
      <p:sp>
        <p:nvSpPr>
          <p:cNvPr id="199" name="Google Shape;199;p58"/>
          <p:cNvSpPr txBox="1"/>
          <p:nvPr/>
        </p:nvSpPr>
        <p:spPr>
          <a:xfrm>
            <a:off x="6061826" y="4926533"/>
            <a:ext cx="3153875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Implement and testing</a:t>
            </a:r>
            <a:br>
              <a:rPr lang="en-US" sz="2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r>
              <a:rPr lang="en-US" sz="2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C++/C, go, etc.</a:t>
            </a:r>
          </a:p>
        </p:txBody>
      </p:sp>
      <p:sp>
        <p:nvSpPr>
          <p:cNvPr id="200" name="Google Shape;200;p58"/>
          <p:cNvSpPr txBox="1"/>
          <p:nvPr/>
        </p:nvSpPr>
        <p:spPr>
          <a:xfrm>
            <a:off x="6377363" y="10776055"/>
            <a:ext cx="3153875" cy="1815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Implement and simulate</a:t>
            </a:r>
            <a:br>
              <a:rPr lang="en-US" sz="2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r>
              <a:rPr lang="en-US" sz="2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VHDL, Verilog, etc. </a:t>
            </a:r>
          </a:p>
        </p:txBody>
      </p:sp>
      <p:sp>
        <p:nvSpPr>
          <p:cNvPr id="201" name="Google Shape;201;p58"/>
          <p:cNvSpPr txBox="1"/>
          <p:nvPr/>
        </p:nvSpPr>
        <p:spPr>
          <a:xfrm>
            <a:off x="10615062" y="4935087"/>
            <a:ext cx="3153875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Final program or app</a:t>
            </a:r>
          </a:p>
        </p:txBody>
      </p:sp>
      <p:sp>
        <p:nvSpPr>
          <p:cNvPr id="202" name="Google Shape;202;p58"/>
          <p:cNvSpPr txBox="1"/>
          <p:nvPr/>
        </p:nvSpPr>
        <p:spPr>
          <a:xfrm>
            <a:off x="11379963" y="10816071"/>
            <a:ext cx="3153875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Final chip</a:t>
            </a:r>
            <a:br>
              <a:rPr lang="en-US" sz="2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r>
              <a:rPr lang="en-US" sz="2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(additional testing)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84765-FBB0-EECA-3C66-D33C9820C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E" dirty="0"/>
              <a:t>Basys 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F2AD02-D4F7-5372-602D-E5F1283B55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46418" y="2580094"/>
            <a:ext cx="10553433" cy="9829619"/>
          </a:xfrm>
        </p:spPr>
        <p:txBody>
          <a:bodyPr/>
          <a:lstStyle/>
          <a:p>
            <a:r>
              <a:rPr lang="en-PE" dirty="0"/>
              <a:t>This is an FPGA board</a:t>
            </a:r>
          </a:p>
          <a:p>
            <a:pPr lvl="1"/>
            <a:r>
              <a:rPr lang="en-PE" dirty="0"/>
              <a:t>The FPGA is on-board</a:t>
            </a:r>
          </a:p>
          <a:p>
            <a:pPr lvl="2"/>
            <a:r>
              <a:rPr lang="en-PE" dirty="0"/>
              <a:t>AMD/Xilinx Artyx 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9B0D80-9179-F689-386F-B656DA3A1C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3074" name="Picture 2" descr="Basys 3 Artix-7 FPGA Trainer Board product image. ">
            <a:extLst>
              <a:ext uri="{FF2B5EF4-FFF2-40B4-BE49-F238E27FC236}">
                <a16:creationId xmlns:a16="http://schemas.microsoft.com/office/drawing/2014/main" id="{F1A06B68-3D2E-10AF-E024-4EBBA66F2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920" y="3365203"/>
            <a:ext cx="10320079" cy="8173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311F988-4418-255C-0C99-51C71E221254}"/>
              </a:ext>
            </a:extLst>
          </p:cNvPr>
          <p:cNvCxnSpPr/>
          <p:nvPr/>
        </p:nvCxnSpPr>
        <p:spPr>
          <a:xfrm flipH="1">
            <a:off x="7272670" y="4508205"/>
            <a:ext cx="6124353" cy="206271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E2815BAF-CEAC-B6A9-61D3-23F4EFBE7D68}"/>
              </a:ext>
            </a:extLst>
          </p:cNvPr>
          <p:cNvSpPr/>
          <p:nvPr/>
        </p:nvSpPr>
        <p:spPr>
          <a:xfrm>
            <a:off x="6400800" y="6039293"/>
            <a:ext cx="1020726" cy="99946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262186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/>
              <a:t>Outline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18CAE89-6776-7D0C-A9B4-1ECBE0A09E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264" name="Google Shape;264;p1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fld id="{00000000-1234-1234-1234-123412341234}" type="slidenum">
              <a:rPr lang="en-US"/>
              <a:t>11</a:t>
            </a:fld>
            <a:endParaRPr lang="en-US"/>
          </a:p>
        </p:txBody>
      </p:sp>
      <p:sp>
        <p:nvSpPr>
          <p:cNvPr id="265" name="Google Shape;265;p12"/>
          <p:cNvSpPr txBox="1"/>
          <p:nvPr/>
        </p:nvSpPr>
        <p:spPr>
          <a:xfrm>
            <a:off x="496387" y="3595476"/>
            <a:ext cx="23125795" cy="1452320"/>
          </a:xfrm>
          <a:prstGeom prst="rect">
            <a:avLst/>
          </a:prstGeom>
          <a:solidFill>
            <a:srgbClr val="999D95"/>
          </a:solidFill>
          <a:ln>
            <a:noFill/>
          </a:ln>
        </p:spPr>
        <p:txBody>
          <a:bodyPr spcFirstLastPara="1" wrap="square" lIns="71425" tIns="71425" rIns="71425" bIns="7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lang="en-US" sz="6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66" name="Google Shape;266;p12"/>
          <p:cNvSpPr txBox="1"/>
          <p:nvPr/>
        </p:nvSpPr>
        <p:spPr>
          <a:xfrm>
            <a:off x="496387" y="5224309"/>
            <a:ext cx="23125795" cy="145232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spcFirstLastPara="1" wrap="square" lIns="71425" tIns="71425" rIns="71425" bIns="7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Working environment</a:t>
            </a:r>
            <a:endParaRPr sz="6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67" name="Google Shape;267;p12"/>
          <p:cNvSpPr txBox="1"/>
          <p:nvPr/>
        </p:nvSpPr>
        <p:spPr>
          <a:xfrm>
            <a:off x="496387" y="6851298"/>
            <a:ext cx="23125795" cy="1452320"/>
          </a:xfrm>
          <a:prstGeom prst="rect">
            <a:avLst/>
          </a:prstGeom>
          <a:solidFill>
            <a:srgbClr val="999D95"/>
          </a:solidFill>
          <a:ln>
            <a:noFill/>
          </a:ln>
        </p:spPr>
        <p:txBody>
          <a:bodyPr spcFirstLastPara="1" wrap="square" lIns="71425" tIns="71425" rIns="71425" bIns="7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lang="en-US" sz="6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Verilog Syntax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68" name="Google Shape;268;p12"/>
          <p:cNvSpPr txBox="1"/>
          <p:nvPr/>
        </p:nvSpPr>
        <p:spPr>
          <a:xfrm>
            <a:off x="496387" y="8478287"/>
            <a:ext cx="23125795" cy="1452320"/>
          </a:xfrm>
          <a:prstGeom prst="rect">
            <a:avLst/>
          </a:prstGeom>
          <a:solidFill>
            <a:srgbClr val="999D95"/>
          </a:solidFill>
          <a:ln>
            <a:noFill/>
          </a:ln>
        </p:spPr>
        <p:txBody>
          <a:bodyPr spcFirstLastPara="1" wrap="square" lIns="71425" tIns="71425" rIns="71425" bIns="7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lang="en-US" sz="6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Design Examples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69" name="Google Shape;269;p12"/>
          <p:cNvSpPr txBox="1"/>
          <p:nvPr/>
        </p:nvSpPr>
        <p:spPr>
          <a:xfrm>
            <a:off x="496386" y="10105276"/>
            <a:ext cx="23125795" cy="1452320"/>
          </a:xfrm>
          <a:prstGeom prst="rect">
            <a:avLst/>
          </a:prstGeom>
          <a:solidFill>
            <a:srgbClr val="999D95"/>
          </a:solidFill>
          <a:ln>
            <a:noFill/>
          </a:ln>
        </p:spPr>
        <p:txBody>
          <a:bodyPr spcFirstLastPara="1" wrap="square" lIns="71425" tIns="71425" rIns="71425" bIns="7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lang="en-US" sz="6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59"/>
          <p:cNvSpPr/>
          <p:nvPr/>
        </p:nvSpPr>
        <p:spPr>
          <a:xfrm>
            <a:off x="12618720" y="4769485"/>
            <a:ext cx="11765280" cy="4842348"/>
          </a:xfrm>
          <a:prstGeom prst="rect">
            <a:avLst/>
          </a:prstGeom>
          <a:solidFill>
            <a:schemeClr val="accent4">
              <a:lumMod val="40000"/>
              <a:lumOff val="60000"/>
              <a:alpha val="3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76" name="Google Shape;276;p5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/>
              <a:t>Xilinx Vivado Suite</a:t>
            </a:r>
          </a:p>
        </p:txBody>
      </p:sp>
      <p:sp>
        <p:nvSpPr>
          <p:cNvPr id="277" name="Google Shape;277;p5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s-ES_tradnl" altLang="en-US" dirty="0" err="1"/>
              <a:t>We</a:t>
            </a:r>
            <a:r>
              <a:rPr lang="es-ES_tradnl" altLang="en-US" dirty="0"/>
              <a:t> use Vivado in </a:t>
            </a:r>
            <a:r>
              <a:rPr lang="es-ES_tradnl" altLang="en-US" dirty="0" err="1"/>
              <a:t>Utec</a:t>
            </a:r>
            <a:r>
              <a:rPr lang="es-ES_tradnl" altLang="en-US" dirty="0"/>
              <a:t> </a:t>
            </a:r>
            <a:r>
              <a:rPr lang="es-ES_tradnl" altLang="en-US" dirty="0" err="1"/>
              <a:t>Labs</a:t>
            </a:r>
            <a:endParaRPr lang="es-ES_tradnl" altLang="en-US" dirty="0"/>
          </a:p>
        </p:txBody>
      </p:sp>
      <p:sp>
        <p:nvSpPr>
          <p:cNvPr id="279" name="Google Shape;279;p5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fld id="{00000000-1234-1234-1234-123412341234}" type="slidenum">
              <a:rPr lang="en-US"/>
              <a:t>12</a:t>
            </a:fld>
            <a:endParaRPr lang="en-US"/>
          </a:p>
        </p:txBody>
      </p:sp>
      <p:pic>
        <p:nvPicPr>
          <p:cNvPr id="280" name="Google Shape;280;p59" descr="A screenshot of a computer&#10;&#10;Description automatically generated with medium confidence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88089" y="2765160"/>
            <a:ext cx="11550659" cy="1010502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59"/>
          <p:cNvSpPr txBox="1"/>
          <p:nvPr/>
        </p:nvSpPr>
        <p:spPr>
          <a:xfrm>
            <a:off x="13632480" y="5057519"/>
            <a:ext cx="10375899" cy="889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71500" marR="0" lvl="0" indent="-571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80604020202020204" pitchFamily="34" charset="0"/>
              <a:buChar char="•"/>
            </a:pPr>
            <a:r>
              <a:rPr lang="en-US" altLang="es-ES_tradnl" sz="4400" b="1" i="0" u="none" strike="noStrike" cap="none" dirty="0">
                <a:solidFill>
                  <a:srgbClr val="0070C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Lab computers have </a:t>
            </a:r>
            <a:r>
              <a:rPr lang="en-US" altLang="es-ES_tradnl" sz="4400" b="1" i="0" u="none" strike="noStrike" cap="none" dirty="0" err="1">
                <a:solidFill>
                  <a:srgbClr val="0070C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Vivado</a:t>
            </a:r>
            <a:r>
              <a:rPr lang="en-US" altLang="es-ES_tradnl" sz="4400" b="1" i="0" u="none" strike="noStrike" cap="none" dirty="0">
                <a:solidFill>
                  <a:srgbClr val="0070C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already installed.</a:t>
            </a:r>
          </a:p>
          <a:p>
            <a:pPr marL="571500" marR="0" lvl="0" indent="-571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80604020202020204" pitchFamily="34" charset="0"/>
              <a:buChar char="•"/>
            </a:pPr>
            <a:endParaRPr lang="en-US" altLang="es-ES_tradnl" sz="4400" b="1" i="0" u="none" strike="noStrike" cap="none" dirty="0">
              <a:solidFill>
                <a:srgbClr val="0070C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571500" lvl="2" indent="-571500">
              <a:buFont typeface="Arial" panose="02080604020202020204" pitchFamily="34" charset="0"/>
              <a:buChar char="•"/>
            </a:pPr>
            <a:r>
              <a:rPr lang="en-US" altLang="es-ES_tradnl" sz="4400" b="1" i="0" u="none" strike="noStrike" cap="none" dirty="0" err="1">
                <a:solidFill>
                  <a:srgbClr val="0070C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Vivado</a:t>
            </a:r>
            <a:r>
              <a:rPr lang="en-US" altLang="es-ES_tradnl" sz="4400" b="1" i="0" u="none" strike="noStrike" cap="none" dirty="0">
                <a:solidFill>
                  <a:srgbClr val="0070C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Standard (40GB, less than a pc game)</a:t>
            </a:r>
            <a:r>
              <a:rPr lang="es-ES_tradnl" altLang="en-US" sz="4400" b="1" i="0" u="none" strike="noStrike" cap="none" dirty="0">
                <a:solidFill>
                  <a:srgbClr val="0070C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altLang="es-ES_tradnl" sz="4400" b="1" i="0" u="none" strike="noStrike" cap="none" dirty="0">
                <a:solidFill>
                  <a:srgbClr val="0070C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 </a:t>
            </a:r>
            <a:r>
              <a:rPr lang="es-ES_tradnl" altLang="en-US" sz="4400" b="1" i="0" u="none" strike="noStrike" cap="none" dirty="0" err="1">
                <a:solidFill>
                  <a:srgbClr val="0070C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your</a:t>
            </a:r>
            <a:r>
              <a:rPr lang="es-ES_tradnl" altLang="en-US" sz="4400" b="1" i="0" u="none" strike="noStrike" cap="none" dirty="0">
                <a:solidFill>
                  <a:srgbClr val="0070C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laptop/desktop. – </a:t>
            </a:r>
            <a:r>
              <a:rPr lang="es-ES_tradnl" altLang="en-US" sz="4400" b="1" i="0" u="none" strike="noStrike" cap="none" dirty="0" err="1">
                <a:solidFill>
                  <a:srgbClr val="0070C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This</a:t>
            </a:r>
            <a:r>
              <a:rPr lang="es-ES_tradnl" altLang="en-US" sz="4400" b="1" i="0" u="none" strike="noStrike" cap="none" dirty="0">
                <a:solidFill>
                  <a:srgbClr val="0070C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s-ES_tradnl" altLang="en-US" sz="4400" b="1" i="0" u="none" strike="noStrike" cap="none" dirty="0" err="1">
                <a:solidFill>
                  <a:srgbClr val="0070C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is</a:t>
            </a:r>
            <a:r>
              <a:rPr lang="es-ES_tradnl" altLang="en-US" sz="4400" b="1" i="0" u="none" strike="noStrike" cap="none" dirty="0">
                <a:solidFill>
                  <a:srgbClr val="0070C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OPTIONAL</a:t>
            </a:r>
          </a:p>
          <a:p>
            <a:pPr marL="571500" marR="0" lvl="0" indent="-571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80604020202020204" pitchFamily="34" charset="0"/>
              <a:buChar char="•"/>
            </a:pPr>
            <a:endParaRPr lang="es-ES_tradnl" altLang="en-US" sz="4400" b="1" i="0" u="none" strike="noStrike" cap="none" dirty="0">
              <a:solidFill>
                <a:srgbClr val="0070C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571500" marR="0" lvl="0" indent="-571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80604020202020204" pitchFamily="34" charset="0"/>
              <a:buChar char="•"/>
            </a:pPr>
            <a:r>
              <a:rPr lang="en-US" altLang="es-ES_tradnl" sz="4400" b="1" i="0" u="none" strike="noStrike" cap="none" dirty="0">
                <a:solidFill>
                  <a:srgbClr val="0070C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You can use </a:t>
            </a:r>
            <a:r>
              <a:rPr lang="es-ES" altLang="es-ES_tradnl" sz="4400" b="1" i="0" u="none" strike="noStrike" cap="none" dirty="0" err="1">
                <a:solidFill>
                  <a:srgbClr val="0070C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EDAplayground</a:t>
            </a:r>
            <a:r>
              <a:rPr lang="es-ES" altLang="es-ES_tradnl" sz="4400" b="1" i="0" u="none" strike="noStrike" cap="none" dirty="0">
                <a:solidFill>
                  <a:srgbClr val="0070C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s-ES" altLang="es-ES_tradnl" sz="4400" b="1" i="0" u="none" strike="noStrike" cap="none" dirty="0" err="1">
                <a:solidFill>
                  <a:srgbClr val="0070C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for</a:t>
            </a:r>
            <a:r>
              <a:rPr lang="es-ES" altLang="es-ES_tradnl" sz="4400" b="1" i="0" u="none" strike="noStrike" cap="none" dirty="0">
                <a:solidFill>
                  <a:srgbClr val="0070C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s-ES" altLang="es-ES_tradnl" sz="4400" b="1" i="0" u="none" strike="noStrike" cap="none" dirty="0" err="1">
                <a:solidFill>
                  <a:srgbClr val="0070C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quick</a:t>
            </a:r>
            <a:r>
              <a:rPr lang="es-ES" altLang="es-ES_tradnl" sz="4400" b="1" i="0" u="none" strike="noStrike" cap="none" dirty="0">
                <a:solidFill>
                  <a:srgbClr val="0070C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s-ES" altLang="es-ES_tradnl" sz="4400" b="1" i="0" u="none" strike="noStrike" cap="none" dirty="0" err="1">
                <a:solidFill>
                  <a:srgbClr val="0070C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testing</a:t>
            </a:r>
            <a:r>
              <a:rPr lang="es-ES" altLang="es-ES_tradnl" sz="4400" b="1" i="0" u="none" strike="noStrike" cap="none" dirty="0">
                <a:solidFill>
                  <a:srgbClr val="0070C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: 	</a:t>
            </a:r>
            <a:r>
              <a:rPr lang="es-ES" altLang="es-ES_tradnl" sz="4400" b="1" dirty="0">
                <a:solidFill>
                  <a:srgbClr val="0070C0"/>
                </a:solidFill>
                <a:hlinkClick r:id="rId4"/>
              </a:rPr>
              <a:t>https://edaplayground.com</a:t>
            </a:r>
            <a:endParaRPr lang="es-ES" altLang="es-ES_tradnl" sz="4400" b="1" dirty="0">
              <a:solidFill>
                <a:srgbClr val="0070C0"/>
              </a:solidFill>
            </a:endParaRPr>
          </a:p>
          <a:p>
            <a:pPr marL="571500" lvl="1" indent="-571500">
              <a:buFont typeface="Arial" panose="02080604020202020204" pitchFamily="34" charset="0"/>
              <a:buChar char="•"/>
            </a:pPr>
            <a:endParaRPr lang="es-ES" altLang="es-ES_tradnl" sz="4400" b="1" dirty="0">
              <a:solidFill>
                <a:srgbClr val="0070C0"/>
              </a:solidFill>
            </a:endParaRPr>
          </a:p>
          <a:p>
            <a:pPr marL="571500" marR="0" lvl="0" indent="-571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80604020202020204" pitchFamily="34" charset="0"/>
              <a:buChar char="•"/>
            </a:pPr>
            <a:endParaRPr lang="es-ES_tradnl" altLang="en-US" sz="4400" b="1" i="0" u="none" strike="noStrike" cap="none" dirty="0">
              <a:solidFill>
                <a:srgbClr val="0070C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571500" marR="0" lvl="0" indent="-571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80604020202020204" pitchFamily="34" charset="0"/>
              <a:buChar char="•"/>
            </a:pPr>
            <a:endParaRPr lang="es-ES_tradnl" altLang="en-US" sz="4400" b="1" i="0" u="none" strike="noStrike" cap="none" dirty="0">
              <a:solidFill>
                <a:srgbClr val="0070C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/>
              <a:t>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A6B655-41B8-0F20-709B-5D8A9DC825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308" name="Google Shape;308;p1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fld id="{00000000-1234-1234-1234-123412341234}" type="slidenum">
              <a:rPr lang="en-US"/>
              <a:t>13</a:t>
            </a:fld>
            <a:endParaRPr lang="en-US"/>
          </a:p>
        </p:txBody>
      </p:sp>
      <p:sp>
        <p:nvSpPr>
          <p:cNvPr id="309" name="Google Shape;309;p15"/>
          <p:cNvSpPr txBox="1"/>
          <p:nvPr/>
        </p:nvSpPr>
        <p:spPr>
          <a:xfrm>
            <a:off x="496387" y="3595476"/>
            <a:ext cx="23125795" cy="1452320"/>
          </a:xfrm>
          <a:prstGeom prst="rect">
            <a:avLst/>
          </a:prstGeom>
          <a:solidFill>
            <a:srgbClr val="999D95"/>
          </a:solidFill>
          <a:ln>
            <a:noFill/>
          </a:ln>
        </p:spPr>
        <p:txBody>
          <a:bodyPr spcFirstLastPara="1" wrap="square" lIns="71425" tIns="71425" rIns="71425" bIns="7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lang="en-US" sz="6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10" name="Google Shape;310;p15"/>
          <p:cNvSpPr txBox="1"/>
          <p:nvPr/>
        </p:nvSpPr>
        <p:spPr>
          <a:xfrm>
            <a:off x="496387" y="5224309"/>
            <a:ext cx="23125795" cy="1452320"/>
          </a:xfrm>
          <a:prstGeom prst="rect">
            <a:avLst/>
          </a:prstGeom>
          <a:solidFill>
            <a:srgbClr val="999D95"/>
          </a:solidFill>
          <a:ln>
            <a:noFill/>
          </a:ln>
        </p:spPr>
        <p:txBody>
          <a:bodyPr spcFirstLastPara="1" wrap="square" lIns="71425" tIns="71425" rIns="71425" bIns="7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Working environment</a:t>
            </a:r>
            <a:endParaRPr sz="6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11" name="Google Shape;311;p15"/>
          <p:cNvSpPr txBox="1"/>
          <p:nvPr/>
        </p:nvSpPr>
        <p:spPr>
          <a:xfrm>
            <a:off x="496387" y="6851298"/>
            <a:ext cx="23125795" cy="145232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spcFirstLastPara="1" wrap="square" lIns="71425" tIns="71425" rIns="71425" bIns="7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lang="en-US" sz="6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Verilog Syntax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12" name="Google Shape;312;p15"/>
          <p:cNvSpPr txBox="1"/>
          <p:nvPr/>
        </p:nvSpPr>
        <p:spPr>
          <a:xfrm>
            <a:off x="496387" y="8478287"/>
            <a:ext cx="23125795" cy="1452320"/>
          </a:xfrm>
          <a:prstGeom prst="rect">
            <a:avLst/>
          </a:prstGeom>
          <a:solidFill>
            <a:srgbClr val="999D95"/>
          </a:solidFill>
          <a:ln>
            <a:noFill/>
          </a:ln>
        </p:spPr>
        <p:txBody>
          <a:bodyPr spcFirstLastPara="1" wrap="square" lIns="71425" tIns="71425" rIns="71425" bIns="7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lang="en-US" sz="6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Design Examples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13" name="Google Shape;313;p15"/>
          <p:cNvSpPr txBox="1"/>
          <p:nvPr/>
        </p:nvSpPr>
        <p:spPr>
          <a:xfrm>
            <a:off x="496386" y="10105276"/>
            <a:ext cx="23125795" cy="1452320"/>
          </a:xfrm>
          <a:prstGeom prst="rect">
            <a:avLst/>
          </a:prstGeom>
          <a:solidFill>
            <a:srgbClr val="999D95"/>
          </a:solidFill>
          <a:ln>
            <a:noFill/>
          </a:ln>
        </p:spPr>
        <p:txBody>
          <a:bodyPr spcFirstLastPara="1" wrap="square" lIns="71425" tIns="71425" rIns="71425" bIns="7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lang="en-US" sz="6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/>
              <a:t>Basic Syntax</a:t>
            </a:r>
          </a:p>
        </p:txBody>
      </p:sp>
      <p:sp>
        <p:nvSpPr>
          <p:cNvPr id="320" name="Google Shape;320;p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Char char="•"/>
            </a:pPr>
            <a:r>
              <a:rPr lang="en-US"/>
              <a:t>Verilog is case sensitive</a:t>
            </a:r>
          </a:p>
          <a:p>
            <a:pPr marL="990600" lvl="1" indent="-5334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FF"/>
              </a:buClr>
              <a:buSzPts val="5600"/>
              <a:buChar char="•"/>
            </a:pPr>
            <a:r>
              <a:rPr lang="en-US">
                <a:solidFill>
                  <a:srgbClr val="0000FF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SomeName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/>
              <a:t>and </a:t>
            </a:r>
            <a:r>
              <a:rPr lang="en-US">
                <a:solidFill>
                  <a:srgbClr val="0000FF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somename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/>
              <a:t>are not the same!</a:t>
            </a:r>
          </a:p>
          <a:p>
            <a:pPr marL="457200" lvl="0" indent="-457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Char char="•"/>
            </a:pPr>
            <a:r>
              <a:rPr lang="en-US"/>
              <a:t>Names cannot start with numbers:</a:t>
            </a:r>
          </a:p>
          <a:p>
            <a:pPr marL="990600" lvl="1" indent="-5334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FF"/>
              </a:buClr>
              <a:buSzPts val="5600"/>
              <a:buChar char="•"/>
            </a:pPr>
            <a:r>
              <a:rPr lang="en-US">
                <a:solidFill>
                  <a:srgbClr val="0000FF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2good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/>
              <a:t>is not a valid name</a:t>
            </a:r>
          </a:p>
          <a:p>
            <a:pPr marL="457200" lvl="0" indent="-457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Char char="•"/>
            </a:pPr>
            <a:r>
              <a:rPr lang="en-US"/>
              <a:t>Whitespaces are ignored</a:t>
            </a:r>
          </a:p>
          <a:p>
            <a:pPr marL="457200" lvl="0" indent="-203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4000"/>
              <a:buNone/>
            </a:pPr>
            <a:endParaRPr sz="4000">
              <a:solidFill>
                <a:schemeClr val="accent3"/>
              </a:solidFill>
            </a:endParaRPr>
          </a:p>
        </p:txBody>
      </p:sp>
      <p:sp>
        <p:nvSpPr>
          <p:cNvPr id="321" name="Google Shape;321;p16"/>
          <p:cNvSpPr txBox="1">
            <a:spLocks noGrp="1"/>
          </p:cNvSpPr>
          <p:nvPr>
            <p:ph type="sldNum" idx="12"/>
          </p:nvPr>
        </p:nvSpPr>
        <p:spPr>
          <a:xfrm>
            <a:off x="72442" y="12962850"/>
            <a:ext cx="914033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fld id="{00000000-1234-1234-1234-123412341234}" type="slidenum">
              <a:rPr lang="en-US" sz="40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US" sz="40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6"/>
          <p:cNvSpPr/>
          <p:nvPr/>
        </p:nvSpPr>
        <p:spPr>
          <a:xfrm>
            <a:off x="4097746" y="8395064"/>
            <a:ext cx="15792450" cy="3524250"/>
          </a:xfrm>
          <a:prstGeom prst="rect">
            <a:avLst/>
          </a:prstGeom>
          <a:solidFill>
            <a:srgbClr val="00BFFF">
              <a:alpha val="20392"/>
            </a:srgbClr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Font typeface="Noto Sans Symbols"/>
              <a:buNone/>
            </a:pPr>
            <a:r>
              <a:rPr lang="en-US" sz="4000" b="0" i="0" u="none" strike="noStrike" cap="none">
                <a:solidFill>
                  <a:srgbClr val="00B05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// Single line comments start with a //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4000" b="0" i="0" u="none" strike="noStrike" cap="none">
              <a:solidFill>
                <a:srgbClr val="00B05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Font typeface="Noto Sans Symbols"/>
              <a:buNone/>
            </a:pPr>
            <a:r>
              <a:rPr lang="en-US" sz="4000" b="0" i="0" u="none" strike="noStrike" cap="none">
                <a:solidFill>
                  <a:srgbClr val="00B05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/* Multiline comments 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Font typeface="Noto Sans Symbols"/>
              <a:buNone/>
            </a:pPr>
            <a:r>
              <a:rPr lang="en-US" sz="4000" b="0" i="0" u="none" strike="noStrike" cap="none">
                <a:solidFill>
                  <a:srgbClr val="00B05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  are defined like this */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4000" b="0" i="0" u="none" strike="noStrike" cap="none">
              <a:solidFill>
                <a:srgbClr val="FFFFFF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7"/>
          <p:cNvSpPr/>
          <p:nvPr/>
        </p:nvSpPr>
        <p:spPr>
          <a:xfrm>
            <a:off x="4114800" y="2133600"/>
            <a:ext cx="16154400" cy="10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39800" marR="0" lvl="0" indent="-939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 panose="020B0604020202020204"/>
              <a:buNone/>
            </a:pPr>
            <a:endParaRPr sz="6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939800" marR="0" lvl="0" indent="-939800" algn="l" rtl="0">
              <a:lnSpc>
                <a:spcPct val="100000"/>
              </a:lnSpc>
              <a:spcBef>
                <a:spcPts val="128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 panose="020B0604020202020204"/>
              <a:buNone/>
            </a:pPr>
            <a:endParaRPr sz="6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939800" marR="0" lvl="0" indent="-939800" algn="l" rtl="0">
              <a:lnSpc>
                <a:spcPct val="100000"/>
              </a:lnSpc>
              <a:spcBef>
                <a:spcPts val="128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 panose="020B0604020202020204"/>
              <a:buNone/>
            </a:pPr>
            <a:endParaRPr sz="6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30" name="Google Shape;330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/>
              <a:t>Precedence of Operations in Verilog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61ABC9-33CF-5C61-57FB-1EAD350DFE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332" name="Google Shape;332;p17"/>
          <p:cNvSpPr txBox="1">
            <a:spLocks noGrp="1"/>
          </p:cNvSpPr>
          <p:nvPr>
            <p:ph type="sldNum" idx="12"/>
          </p:nvPr>
        </p:nvSpPr>
        <p:spPr>
          <a:xfrm>
            <a:off x="72442" y="12962850"/>
            <a:ext cx="914033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fld id="{00000000-1234-1234-1234-123412341234}" type="slidenum">
              <a:rPr lang="en-US" sz="40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US" sz="40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7"/>
          <p:cNvSpPr/>
          <p:nvPr/>
        </p:nvSpPr>
        <p:spPr>
          <a:xfrm>
            <a:off x="3048001" y="5010836"/>
            <a:ext cx="1847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20204"/>
              <a:buNone/>
            </a:pPr>
            <a:endParaRPr sz="36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34" name="Google Shape;334;p17"/>
          <p:cNvSpPr txBox="1"/>
          <p:nvPr/>
        </p:nvSpPr>
        <p:spPr>
          <a:xfrm>
            <a:off x="4419600" y="2438400"/>
            <a:ext cx="3505200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5600"/>
              <a:buFont typeface="Calibri"/>
              <a:buNone/>
            </a:pPr>
            <a:r>
              <a:rPr lang="en-US" sz="5600" b="1" i="0" u="none" strike="noStrike" cap="non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Highest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35" name="Google Shape;335;p17"/>
          <p:cNvSpPr txBox="1"/>
          <p:nvPr/>
        </p:nvSpPr>
        <p:spPr>
          <a:xfrm>
            <a:off x="4572000" y="11125200"/>
            <a:ext cx="3505200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5600"/>
              <a:buFont typeface="Calibri"/>
              <a:buNone/>
            </a:pPr>
            <a:r>
              <a:rPr lang="en-US" sz="5600" b="1" i="0" u="none" strike="noStrike" cap="non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Lowest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336" name="Google Shape;336;p17"/>
          <p:cNvGraphicFramePr/>
          <p:nvPr/>
        </p:nvGraphicFramePr>
        <p:xfrm>
          <a:off x="7943397" y="2708031"/>
          <a:ext cx="8101150" cy="921437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425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75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0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3600"/>
                        <a:buFont typeface="Courier New" panose="02070309020205020404"/>
                        <a:buNone/>
                      </a:pPr>
                      <a:r>
                        <a:rPr lang="en-US" sz="3600" b="1" i="0" u="none" strike="noStrike" cap="none">
                          <a:solidFill>
                            <a:srgbClr val="C00000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~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8E5FE">
                        <a:alpha val="5450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Arial" panose="020B0604020202020204"/>
                        <a:buNone/>
                      </a:pPr>
                      <a:r>
                        <a:rPr lang="en-US" sz="36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NOT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4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3600"/>
                        <a:buFont typeface="Courier New" panose="02070309020205020404"/>
                        <a:buNone/>
                      </a:pPr>
                      <a:r>
                        <a:rPr lang="en-US" sz="3600" b="1" i="0" u="none" strike="noStrike" cap="none">
                          <a:solidFill>
                            <a:srgbClr val="C00000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*, /, %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8E5FE">
                        <a:alpha val="5450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ourier New" panose="02070309020205020404"/>
                        <a:buNone/>
                      </a:pPr>
                      <a:r>
                        <a:rPr lang="en-US" sz="3600" b="0" i="0" u="none" strike="noStrike" cap="none">
                          <a:solidFill>
                            <a:schemeClr val="dk1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mult, div, mod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0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3600"/>
                        <a:buFont typeface="Courier New" panose="02070309020205020404"/>
                        <a:buNone/>
                      </a:pPr>
                      <a:r>
                        <a:rPr lang="en-US" sz="3600" b="1" i="0" u="none" strike="noStrike" cap="none">
                          <a:solidFill>
                            <a:srgbClr val="C00000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+, -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8E5FE">
                        <a:alpha val="5450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ourier New" panose="02070309020205020404"/>
                        <a:buNone/>
                      </a:pPr>
                      <a:r>
                        <a:rPr lang="en-US" sz="3600" b="0" i="0" u="none" strike="noStrike" cap="none">
                          <a:solidFill>
                            <a:schemeClr val="dk1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add,sub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7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3600"/>
                        <a:buFont typeface="Courier New" panose="02070309020205020404"/>
                        <a:buNone/>
                      </a:pPr>
                      <a:r>
                        <a:rPr lang="en-US" sz="3600" b="1" i="0" u="none" strike="noStrike" cap="none">
                          <a:solidFill>
                            <a:srgbClr val="C00000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&lt;&lt;, &gt;&gt;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8E5FE">
                        <a:alpha val="5450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ourier New" panose="02070309020205020404"/>
                        <a:buNone/>
                      </a:pPr>
                      <a:r>
                        <a:rPr lang="en-US" sz="3600" b="0" i="0" u="none" strike="noStrike" cap="none">
                          <a:solidFill>
                            <a:schemeClr val="dk1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shift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0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3600"/>
                        <a:buFont typeface="Courier New" panose="02070309020205020404"/>
                        <a:buNone/>
                      </a:pPr>
                      <a:r>
                        <a:rPr lang="en-US" sz="3600" b="1" i="0" u="none" strike="noStrike" cap="none">
                          <a:solidFill>
                            <a:srgbClr val="C00000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&lt;&lt;&lt;, &gt;&gt;&gt;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8E5FE">
                        <a:alpha val="5450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ourier New" panose="02070309020205020404"/>
                        <a:buNone/>
                      </a:pPr>
                      <a:r>
                        <a:rPr lang="en-US" sz="3600" b="0" i="0" u="none" strike="noStrike" cap="none">
                          <a:solidFill>
                            <a:schemeClr val="dk1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arithmetic shift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27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3600"/>
                        <a:buFont typeface="Courier New" panose="02070309020205020404"/>
                        <a:buNone/>
                      </a:pPr>
                      <a:r>
                        <a:rPr lang="en-US" sz="3600" b="1" i="0" u="none" strike="noStrike" cap="none">
                          <a:solidFill>
                            <a:srgbClr val="C00000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&lt;, &lt;=, &gt;, &gt;=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8E5FE">
                        <a:alpha val="5450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ourier New" panose="02070309020205020404"/>
                        <a:buNone/>
                      </a:pPr>
                      <a:r>
                        <a:rPr lang="en-US" sz="3600" b="0" i="0" u="none" strike="noStrike" cap="none">
                          <a:solidFill>
                            <a:schemeClr val="dk1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comparison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0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3600"/>
                        <a:buFont typeface="Courier New" panose="02070309020205020404"/>
                        <a:buNone/>
                      </a:pPr>
                      <a:r>
                        <a:rPr lang="en-US" sz="3600" b="1" i="0" u="none" strike="noStrike" cap="none">
                          <a:solidFill>
                            <a:srgbClr val="C00000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==, !=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8E5FE">
                        <a:alpha val="5450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ourier New" panose="02070309020205020404"/>
                        <a:buNone/>
                      </a:pPr>
                      <a:r>
                        <a:rPr lang="en-US" sz="3600" b="0" i="0" u="none" strike="noStrike" cap="none">
                          <a:solidFill>
                            <a:schemeClr val="dk1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equal, not equal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87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3600"/>
                        <a:buFont typeface="Courier New" panose="02070309020205020404"/>
                        <a:buNone/>
                      </a:pPr>
                      <a:r>
                        <a:rPr lang="en-US" sz="3600" b="1" i="0" u="none" strike="noStrike" cap="none">
                          <a:solidFill>
                            <a:srgbClr val="C00000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&amp;, ~&amp;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8E5FE">
                        <a:alpha val="5450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ourier New" panose="02070309020205020404"/>
                        <a:buNone/>
                      </a:pPr>
                      <a:r>
                        <a:rPr lang="en-US" sz="3600" b="0" i="0" u="none" strike="noStrike" cap="none">
                          <a:solidFill>
                            <a:schemeClr val="dk1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AND, NAND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90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3600"/>
                        <a:buFont typeface="Courier New" panose="02070309020205020404"/>
                        <a:buNone/>
                      </a:pPr>
                      <a:r>
                        <a:rPr lang="en-US" sz="3600" b="1" i="0" u="none" strike="noStrike" cap="none">
                          <a:solidFill>
                            <a:srgbClr val="C00000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^, ~^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8E5FE">
                        <a:alpha val="5450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ourier New" panose="02070309020205020404"/>
                        <a:buNone/>
                      </a:pPr>
                      <a:r>
                        <a:rPr lang="en-US" sz="3600" b="0" i="0" u="none" strike="noStrike" cap="none">
                          <a:solidFill>
                            <a:schemeClr val="dk1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XOR, XNOR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84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3600"/>
                        <a:buFont typeface="Courier New" panose="02070309020205020404"/>
                        <a:buNone/>
                      </a:pPr>
                      <a:r>
                        <a:rPr lang="en-US" sz="3600" b="1" i="0" u="none" strike="noStrike" cap="none">
                          <a:solidFill>
                            <a:srgbClr val="C00000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|, ~|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8E5FE">
                        <a:alpha val="5450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ourier New" panose="02070309020205020404"/>
                        <a:buNone/>
                      </a:pPr>
                      <a:r>
                        <a:rPr lang="en-US" sz="3600" b="0" i="0" u="none" strike="noStrike" cap="none">
                          <a:solidFill>
                            <a:schemeClr val="dk1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OR, NOR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90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3600"/>
                        <a:buFont typeface="Courier New" panose="02070309020205020404"/>
                        <a:buNone/>
                      </a:pPr>
                      <a:r>
                        <a:rPr lang="en-US" sz="3600" b="1" i="0" u="none" strike="noStrike" cap="none">
                          <a:solidFill>
                            <a:srgbClr val="C00000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?: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8E5FE">
                        <a:alpha val="5450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Arial" panose="020B0604020202020204"/>
                        <a:buNone/>
                      </a:pPr>
                      <a:r>
                        <a:rPr lang="en-US" sz="3600" b="0" i="0" u="none" strike="noStrike" cap="none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ternary operator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/>
              <a:t>Number Representation in Verilog</a:t>
            </a:r>
          </a:p>
        </p:txBody>
      </p:sp>
      <p:sp>
        <p:nvSpPr>
          <p:cNvPr id="343" name="Google Shape;343;p18"/>
          <p:cNvSpPr txBox="1">
            <a:spLocks noGrp="1"/>
          </p:cNvSpPr>
          <p:nvPr>
            <p:ph type="body" idx="1"/>
          </p:nvPr>
        </p:nvSpPr>
        <p:spPr>
          <a:xfrm>
            <a:off x="888090" y="6858000"/>
            <a:ext cx="22211762" cy="5551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685800" lvl="0" indent="-685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 panose="020B0604020202020204"/>
              <a:buChar char="•"/>
            </a:pPr>
            <a:r>
              <a:rPr lang="en-US" sz="54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Format:</a:t>
            </a:r>
            <a:r>
              <a:rPr lang="en-US" sz="54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5400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5400" dirty="0" err="1">
                <a:latin typeface="Calibri"/>
                <a:ea typeface="Calibri"/>
                <a:cs typeface="Calibri"/>
                <a:sym typeface="Calibri"/>
              </a:rPr>
              <a:t>’</a:t>
            </a:r>
            <a:r>
              <a:rPr lang="en-US" sz="5400" dirty="0" err="1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5400" dirty="0" err="1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xx</a:t>
            </a:r>
            <a:r>
              <a:rPr lang="en-US" sz="5400" dirty="0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54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lang="en-US" sz="5400" dirty="0">
                <a:latin typeface="Calibri"/>
                <a:ea typeface="Calibri"/>
                <a:cs typeface="Calibri"/>
                <a:sym typeface="Calibri"/>
              </a:rPr>
              <a:t>’</a:t>
            </a:r>
            <a:r>
              <a:rPr lang="en-US" sz="5400" dirty="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5400" dirty="0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0000_0001</a:t>
            </a:r>
          </a:p>
          <a:p>
            <a:pPr marL="1219200" lvl="1" indent="-685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800"/>
              <a:buFont typeface="Arial" panose="020B0604020202020204"/>
              <a:buChar char="•"/>
            </a:pPr>
            <a:r>
              <a:rPr lang="en-US" sz="4800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(N) Number of bits (default is 32 bits):</a:t>
            </a:r>
          </a:p>
          <a:p>
            <a:pPr marL="98552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en-US" sz="4800" dirty="0">
                <a:latin typeface="Calibri"/>
                <a:ea typeface="Calibri"/>
                <a:cs typeface="Calibri"/>
                <a:sym typeface="Calibri"/>
              </a:rPr>
              <a:t>- Expresses how many bits will be used to store the value</a:t>
            </a:r>
          </a:p>
          <a:p>
            <a:pPr marL="1219200" lvl="1" indent="-685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FF"/>
              </a:buClr>
              <a:buSzPts val="4800"/>
              <a:buFont typeface="Arial" panose="020B0604020202020204"/>
              <a:buChar char="•"/>
            </a:pPr>
            <a:r>
              <a:rPr lang="en-US" sz="4800" dirty="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(B) Base : </a:t>
            </a:r>
            <a:r>
              <a:rPr lang="en-US" sz="4800" dirty="0">
                <a:latin typeface="Calibri"/>
                <a:ea typeface="Calibri"/>
                <a:cs typeface="Calibri"/>
                <a:sym typeface="Calibri"/>
              </a:rPr>
              <a:t>Can be b (binary), h (hexadecimal), d (decimal), o (octal)</a:t>
            </a:r>
          </a:p>
          <a:p>
            <a:pPr marL="1219200" lvl="1" indent="-685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4800"/>
              <a:buFont typeface="Arial" panose="020B0604020202020204"/>
              <a:buChar char="•"/>
            </a:pPr>
            <a:r>
              <a:rPr lang="en-US" sz="4800" dirty="0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(xx) Number: </a:t>
            </a:r>
            <a:r>
              <a:rPr lang="en-US" sz="4800" dirty="0">
                <a:latin typeface="Calibri"/>
                <a:ea typeface="Calibri"/>
                <a:cs typeface="Calibri"/>
                <a:sym typeface="Calibri"/>
              </a:rPr>
              <a:t>The value expressed in base</a:t>
            </a:r>
          </a:p>
          <a:p>
            <a:pPr marL="685800" lvl="1" indent="-685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 panose="020B0604020202020204"/>
              <a:buChar char="•"/>
            </a:pPr>
            <a:r>
              <a:rPr lang="en-US" sz="4800" dirty="0">
                <a:latin typeface="Calibri"/>
                <a:ea typeface="Calibri"/>
                <a:cs typeface="Calibri"/>
                <a:sym typeface="Calibri"/>
              </a:rPr>
              <a:t>Can also have X (invalid) and Z (floating), as values</a:t>
            </a:r>
          </a:p>
          <a:p>
            <a:pPr marL="685800" lvl="1" indent="-685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 panose="020B0604020202020204"/>
              <a:buChar char="•"/>
            </a:pPr>
            <a:r>
              <a:rPr lang="en-US" sz="4800" dirty="0">
                <a:latin typeface="Calibri"/>
                <a:ea typeface="Calibri"/>
                <a:cs typeface="Calibri"/>
                <a:sym typeface="Calibri"/>
              </a:rPr>
              <a:t>Underscore _ can be used to improve readability</a:t>
            </a:r>
          </a:p>
        </p:txBody>
      </p:sp>
      <p:sp>
        <p:nvSpPr>
          <p:cNvPr id="344" name="Google Shape;344;p18"/>
          <p:cNvSpPr txBox="1">
            <a:spLocks noGrp="1"/>
          </p:cNvSpPr>
          <p:nvPr>
            <p:ph type="sldNum" idx="12"/>
          </p:nvPr>
        </p:nvSpPr>
        <p:spPr>
          <a:xfrm>
            <a:off x="72442" y="12962850"/>
            <a:ext cx="914033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fld id="{00000000-1234-1234-1234-123412341234}" type="slidenum">
              <a:rPr lang="en-US" sz="40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lang="en-US" sz="40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5" name="Google Shape;345;p18"/>
          <p:cNvGraphicFramePr/>
          <p:nvPr/>
        </p:nvGraphicFramePr>
        <p:xfrm>
          <a:off x="3082834" y="2182795"/>
          <a:ext cx="17221200" cy="438924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30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5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3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3600"/>
                        <a:buFont typeface="Calibri"/>
                        <a:buNone/>
                      </a:pPr>
                      <a:r>
                        <a:rPr lang="en-US" sz="360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Verilog</a:t>
                      </a:r>
                      <a:endParaRPr sz="3600" b="1" i="0" u="none" strike="noStrike" cap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92825" marR="192825" marT="91450" marB="91450">
                    <a:lnB w="28575" cap="flat" cmpd="sng">
                      <a:solidFill>
                        <a:srgbClr val="00206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3600"/>
                        <a:buFont typeface="Calibri"/>
                        <a:buNone/>
                      </a:pPr>
                      <a:r>
                        <a:rPr lang="en-US" sz="360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Stored Number</a:t>
                      </a:r>
                      <a:endParaRPr sz="3600" b="1" i="0" u="none" strike="noStrike" cap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92825" marR="192825" marT="91450" marB="91450">
                    <a:lnR w="12700" cap="flat" cmpd="sng">
                      <a:solidFill>
                        <a:srgbClr val="00206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28575" cap="flat" cmpd="sng">
                      <a:solidFill>
                        <a:srgbClr val="00206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3600"/>
                        <a:buFont typeface="Calibri"/>
                        <a:buNone/>
                      </a:pPr>
                      <a:r>
                        <a:rPr lang="en-US" sz="360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Verilog</a:t>
                      </a:r>
                      <a:endParaRPr sz="3600" b="1" i="0" u="none" strike="noStrike" cap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92825" marR="192825" marT="91450" marB="91450">
                    <a:lnL w="12700" cap="flat" cmpd="sng">
                      <a:solidFill>
                        <a:srgbClr val="00206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28575" cap="flat" cmpd="sng">
                      <a:solidFill>
                        <a:srgbClr val="00206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3600"/>
                        <a:buFont typeface="Calibri"/>
                        <a:buNone/>
                      </a:pPr>
                      <a:r>
                        <a:rPr lang="en-US" sz="360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Stored Number</a:t>
                      </a:r>
                      <a:endParaRPr sz="3600" b="1" i="0" u="none" strike="noStrike" cap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92825" marR="192825" marT="91450" marB="91450">
                    <a:lnB w="28575" cap="flat" cmpd="sng">
                      <a:solidFill>
                        <a:srgbClr val="00206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alibri"/>
                        <a:buNone/>
                      </a:pPr>
                      <a:r>
                        <a:rPr lang="en-US" sz="3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4’b1001</a:t>
                      </a:r>
                      <a:endParaRPr sz="3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92825" marR="192825" marT="91450" marB="91450">
                    <a:lnT w="28575" cap="flat" cmpd="sng">
                      <a:solidFill>
                        <a:srgbClr val="00206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alibri"/>
                        <a:buNone/>
                      </a:pPr>
                      <a:r>
                        <a:rPr lang="en-US" sz="3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1001</a:t>
                      </a:r>
                      <a:endParaRPr sz="3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92825" marR="192825" marT="91450" marB="91450">
                    <a:lnR w="12700" cap="flat" cmpd="sng">
                      <a:solidFill>
                        <a:srgbClr val="00206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206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alibri"/>
                        <a:buNone/>
                      </a:pPr>
                      <a:r>
                        <a:rPr lang="en-US" sz="3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4’d5</a:t>
                      </a:r>
                      <a:endParaRPr sz="3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92825" marR="192825" marT="91450" marB="91450">
                    <a:lnL w="12700" cap="flat" cmpd="sng">
                      <a:solidFill>
                        <a:srgbClr val="00206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28575" cap="flat" cmpd="sng">
                      <a:solidFill>
                        <a:srgbClr val="00206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alibri"/>
                        <a:buNone/>
                      </a:pPr>
                      <a:r>
                        <a:rPr lang="en-US" sz="3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0101</a:t>
                      </a:r>
                      <a:endParaRPr sz="3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92825" marR="192825" marT="91450" marB="91450">
                    <a:lnT w="28575" cap="flat" cmpd="sng">
                      <a:solidFill>
                        <a:srgbClr val="00206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3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alibri"/>
                        <a:buNone/>
                      </a:pPr>
                      <a:r>
                        <a:rPr lang="en-US" sz="3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8’b1001</a:t>
                      </a:r>
                      <a:endParaRPr sz="3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92825" marR="192825" marT="91450" marB="914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alibri"/>
                        <a:buNone/>
                      </a:pPr>
                      <a:r>
                        <a:rPr lang="en-US" sz="3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0000 1001</a:t>
                      </a:r>
                      <a:endParaRPr sz="3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92825" marR="192825" marT="91450" marB="91450">
                    <a:lnR w="12700" cap="flat" cmpd="sng">
                      <a:solidFill>
                        <a:srgbClr val="00206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alibri"/>
                        <a:buNone/>
                      </a:pPr>
                      <a:r>
                        <a:rPr lang="en-US" sz="3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12’hFA3</a:t>
                      </a:r>
                      <a:endParaRPr sz="3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92825" marR="192825" marT="91450" marB="91450">
                    <a:lnL w="12700" cap="flat" cmpd="sng">
                      <a:solidFill>
                        <a:srgbClr val="00206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alibri"/>
                        <a:buNone/>
                      </a:pPr>
                      <a:r>
                        <a:rPr lang="en-US" sz="3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1111 1010 0011</a:t>
                      </a:r>
                      <a:endParaRPr sz="3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92825" marR="192825" marT="91450" marB="914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alibri"/>
                        <a:buNone/>
                      </a:pPr>
                      <a:r>
                        <a:rPr lang="en-US" sz="3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8’b0000_1001</a:t>
                      </a:r>
                      <a:endParaRPr sz="3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92825" marR="192825" marT="91450" marB="914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alibri"/>
                        <a:buNone/>
                      </a:pPr>
                      <a:r>
                        <a:rPr lang="en-US" sz="3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0000 1001</a:t>
                      </a:r>
                      <a:endParaRPr sz="3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92825" marR="192825" marT="91450" marB="91450">
                    <a:lnR w="12700" cap="flat" cmpd="sng">
                      <a:solidFill>
                        <a:srgbClr val="00206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alibri"/>
                        <a:buNone/>
                      </a:pPr>
                      <a:r>
                        <a:rPr lang="en-US" sz="3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8’o12</a:t>
                      </a:r>
                      <a:endParaRPr sz="3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92825" marR="192825" marT="91450" marB="91450">
                    <a:lnL w="12700" cap="flat" cmpd="sng">
                      <a:solidFill>
                        <a:srgbClr val="00206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alibri"/>
                        <a:buNone/>
                      </a:pPr>
                      <a:r>
                        <a:rPr lang="en-US" sz="3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00 001 010</a:t>
                      </a:r>
                      <a:endParaRPr sz="3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92825" marR="192825" marT="91450" marB="914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alibri"/>
                        <a:buNone/>
                      </a:pPr>
                      <a:r>
                        <a:rPr lang="en-US" sz="3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8’bxX0X1zZ1</a:t>
                      </a:r>
                      <a:endParaRPr sz="3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92825" marR="192825" marT="91450" marB="914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alibri"/>
                        <a:buNone/>
                      </a:pPr>
                      <a:r>
                        <a:rPr lang="en-US" sz="3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XX0X 1ZZ1</a:t>
                      </a:r>
                      <a:endParaRPr sz="3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92825" marR="192825" marT="91450" marB="91450">
                    <a:lnR w="12700" cap="flat" cmpd="sng">
                      <a:solidFill>
                        <a:srgbClr val="00206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alibri"/>
                        <a:buNone/>
                      </a:pPr>
                      <a:r>
                        <a:rPr lang="en-US" sz="3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4’h7</a:t>
                      </a:r>
                      <a:endParaRPr sz="3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92825" marR="192825" marT="91450" marB="91450">
                    <a:lnL w="12700" cap="flat" cmpd="sng">
                      <a:solidFill>
                        <a:srgbClr val="00206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alibri"/>
                        <a:buNone/>
                      </a:pPr>
                      <a:r>
                        <a:rPr lang="en-US" sz="3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0111</a:t>
                      </a:r>
                      <a:endParaRPr sz="3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92825" marR="192825" marT="91450" marB="9145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3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alibri"/>
                        <a:buNone/>
                      </a:pPr>
                      <a:r>
                        <a:rPr lang="en-US" sz="3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‘b01</a:t>
                      </a:r>
                      <a:endParaRPr sz="3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92825" marR="192825" marT="91450" marB="914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alibri"/>
                        <a:buNone/>
                      </a:pPr>
                      <a:r>
                        <a:rPr lang="en-US" sz="3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0000 .. 0001</a:t>
                      </a:r>
                      <a:endParaRPr sz="3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92825" marR="192825" marT="91450" marB="91450">
                    <a:lnR w="12700" cap="flat" cmpd="sng">
                      <a:solidFill>
                        <a:srgbClr val="00206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alibri"/>
                        <a:buNone/>
                      </a:pPr>
                      <a:r>
                        <a:rPr lang="en-US" sz="3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12’h0</a:t>
                      </a:r>
                      <a:endParaRPr sz="3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92825" marR="192825" marT="91450" marB="91450">
                    <a:lnL w="12700" cap="flat" cmpd="sng">
                      <a:solidFill>
                        <a:srgbClr val="00206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alibri"/>
                        <a:buNone/>
                      </a:pPr>
                      <a:r>
                        <a:rPr lang="en-US" sz="3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0000 0000 0000</a:t>
                      </a:r>
                      <a:endParaRPr sz="3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92825" marR="192825" marT="91450" marB="9145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/>
              <a:t>Define a Module in Verilog</a:t>
            </a:r>
          </a:p>
        </p:txBody>
      </p:sp>
      <p:sp>
        <p:nvSpPr>
          <p:cNvPr id="353" name="Google Shape;353;p19"/>
          <p:cNvSpPr txBox="1">
            <a:spLocks noGrp="1"/>
          </p:cNvSpPr>
          <p:nvPr>
            <p:ph type="sldNum" idx="12"/>
          </p:nvPr>
        </p:nvSpPr>
        <p:spPr>
          <a:xfrm>
            <a:off x="72442" y="12962850"/>
            <a:ext cx="914033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fld id="{00000000-1234-1234-1234-123412341234}" type="slidenum">
              <a:rPr lang="en-US" sz="40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lang="en-US" sz="40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4" name="Google Shape;354;p19"/>
          <p:cNvGraphicFramePr/>
          <p:nvPr/>
        </p:nvGraphicFramePr>
        <p:xfrm>
          <a:off x="6971717" y="1890973"/>
          <a:ext cx="9680015" cy="29484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7249775" imgH="5257800" progId="Visio.Drawing.11">
                  <p:embed/>
                </p:oleObj>
              </mc:Choice>
              <mc:Fallback>
                <p:oleObj r:id="rId3" imgW="17249775" imgH="5257800" progId="Visio.Drawing.11">
                  <p:embed/>
                  <p:pic>
                    <p:nvPicPr>
                      <p:cNvPr id="354" name="Google Shape;354;p19"/>
                      <p:cNvPicPr preferRelativeResize="0"/>
                      <p:nvPr/>
                    </p:nvPicPr>
                    <p:blipFill rotWithShape="1">
                      <a:blip r:embed="rId4"/>
                      <a:srcRect/>
                      <a:stretch>
                        <a:fillRect/>
                      </a:stretch>
                    </p:blipFill>
                    <p:spPr>
                      <a:xfrm>
                        <a:off x="6971717" y="1890973"/>
                        <a:ext cx="9680015" cy="29484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5" name="Google Shape;355;p19"/>
          <p:cNvSpPr/>
          <p:nvPr/>
        </p:nvSpPr>
        <p:spPr>
          <a:xfrm>
            <a:off x="4561969" y="6389917"/>
            <a:ext cx="13335000" cy="5869107"/>
          </a:xfrm>
          <a:prstGeom prst="rect">
            <a:avLst/>
          </a:prstGeom>
          <a:solidFill>
            <a:srgbClr val="00BFFF">
              <a:alpha val="20000"/>
            </a:srgbClr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40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module</a:t>
            </a:r>
            <a:r>
              <a:rPr lang="en-US" sz="40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example (a, b, c, y);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40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	</a:t>
            </a:r>
            <a:r>
              <a:rPr lang="en-US" sz="40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input</a:t>
            </a:r>
            <a:r>
              <a:rPr lang="en-US" sz="40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a;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40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	</a:t>
            </a:r>
            <a:r>
              <a:rPr lang="en-US" sz="40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input</a:t>
            </a:r>
            <a:r>
              <a:rPr lang="en-US" sz="40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b; 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40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	</a:t>
            </a:r>
            <a:r>
              <a:rPr lang="en-US" sz="40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input</a:t>
            </a:r>
            <a:r>
              <a:rPr lang="en-US" sz="40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c;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40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	</a:t>
            </a:r>
            <a:r>
              <a:rPr lang="en-US" sz="40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output</a:t>
            </a:r>
            <a:r>
              <a:rPr lang="en-US" sz="40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y;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4000" b="0" i="0" u="none" strike="noStrike" cap="none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Font typeface="Noto Sans Symbols"/>
              <a:buNone/>
            </a:pPr>
            <a:r>
              <a:rPr lang="en-US" sz="4000" b="0" i="0" u="none" strike="noStrike" cap="none">
                <a:solidFill>
                  <a:srgbClr val="00B05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// here comes the circuit description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4000" b="0" i="0" u="none" strike="noStrike" cap="none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40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endmodule</a:t>
            </a:r>
            <a:endParaRPr sz="4000" b="1" i="0" u="none" strike="noStrike" cap="none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4000" b="0" i="0" u="none" strike="noStrike" cap="none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</p:txBody>
      </p:sp>
      <p:cxnSp>
        <p:nvCxnSpPr>
          <p:cNvPr id="356" name="Google Shape;356;p19"/>
          <p:cNvCxnSpPr/>
          <p:nvPr/>
        </p:nvCxnSpPr>
        <p:spPr>
          <a:xfrm rot="10800000">
            <a:off x="17896967" y="6481990"/>
            <a:ext cx="838200" cy="1898652"/>
          </a:xfrm>
          <a:prstGeom prst="straightConnector1">
            <a:avLst/>
          </a:prstGeom>
          <a:noFill/>
          <a:ln w="57150" cap="flat" cmpd="sng">
            <a:solidFill>
              <a:srgbClr val="C0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57" name="Google Shape;357;p19"/>
          <p:cNvCxnSpPr/>
          <p:nvPr/>
        </p:nvCxnSpPr>
        <p:spPr>
          <a:xfrm flipH="1">
            <a:off x="17992217" y="9447440"/>
            <a:ext cx="876716" cy="1898652"/>
          </a:xfrm>
          <a:prstGeom prst="straightConnector1">
            <a:avLst/>
          </a:prstGeom>
          <a:noFill/>
          <a:ln w="57150" cap="flat" cmpd="sng">
            <a:solidFill>
              <a:srgbClr val="C0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58" name="Google Shape;358;p19"/>
          <p:cNvCxnSpPr/>
          <p:nvPr/>
        </p:nvCxnSpPr>
        <p:spPr>
          <a:xfrm rot="10800000" flipH="1">
            <a:off x="10048367" y="6133307"/>
            <a:ext cx="3559176" cy="348682"/>
          </a:xfrm>
          <a:prstGeom prst="straightConnector1">
            <a:avLst/>
          </a:prstGeom>
          <a:noFill/>
          <a:ln w="57150" cap="flat" cmpd="sng">
            <a:solidFill>
              <a:srgbClr val="C00000"/>
            </a:solidFill>
            <a:prstDash val="solid"/>
            <a:round/>
            <a:headEnd type="triangle" w="med" len="med"/>
            <a:tailEnd type="none" w="sm" len="sm"/>
          </a:ln>
        </p:spPr>
      </p:cxnSp>
      <p:sp>
        <p:nvSpPr>
          <p:cNvPr id="359" name="Google Shape;359;p19"/>
          <p:cNvSpPr txBox="1"/>
          <p:nvPr/>
        </p:nvSpPr>
        <p:spPr>
          <a:xfrm>
            <a:off x="12619790" y="5206313"/>
            <a:ext cx="4800602" cy="937693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 spcFirstLastPara="1" wrap="square" lIns="25400" tIns="25400" rIns="25400" bIns="25400" anchor="ctr" anchorCtr="0">
            <a:spAutoFit/>
          </a:bodyPr>
          <a:lstStyle/>
          <a:p>
            <a:pPr marL="79375" marR="79375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3200"/>
              <a:buFont typeface="Arial" panose="020B0604020202020204"/>
              <a:buNone/>
            </a:pPr>
            <a:r>
              <a:rPr lang="en-US" sz="3200" b="1" i="0" u="none" strike="noStrike" cap="non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Port list </a:t>
            </a:r>
            <a:endParaRPr sz="3200" b="1" i="0" u="none" strike="noStrike" cap="none">
              <a:solidFill>
                <a:srgbClr val="00B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9375" marR="79375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3200"/>
              <a:buFont typeface="Arial" panose="020B0604020202020204"/>
              <a:buNone/>
            </a:pPr>
            <a:r>
              <a:rPr lang="en-US" sz="3200" b="1" i="0" u="none" strike="noStrike" cap="non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(inputs and outputs)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60" name="Google Shape;360;p19"/>
          <p:cNvSpPr/>
          <p:nvPr/>
        </p:nvSpPr>
        <p:spPr>
          <a:xfrm>
            <a:off x="8565336" y="7761525"/>
            <a:ext cx="5328266" cy="665586"/>
          </a:xfrm>
          <a:custGeom>
            <a:avLst/>
            <a:gdLst/>
            <a:ahLst/>
            <a:cxnLst/>
            <a:rect l="l" t="t" r="r" b="b"/>
            <a:pathLst>
              <a:path w="21600" h="19992" extrusionOk="0">
                <a:moveTo>
                  <a:pt x="21600" y="0"/>
                </a:moveTo>
                <a:cubicBezTo>
                  <a:pt x="21600" y="0"/>
                  <a:pt x="15902" y="21600"/>
                  <a:pt x="8391" y="19896"/>
                </a:cubicBezTo>
                <a:cubicBezTo>
                  <a:pt x="881" y="18193"/>
                  <a:pt x="0" y="4893"/>
                  <a:pt x="0" y="4893"/>
                </a:cubicBezTo>
              </a:path>
            </a:pathLst>
          </a:custGeom>
          <a:noFill/>
          <a:ln w="5715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20204"/>
              <a:buNone/>
            </a:pPr>
            <a:endParaRPr sz="3600" b="0" i="0" u="none" strike="noStrike" cap="none">
              <a:solidFill>
                <a:srgbClr val="C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61" name="Google Shape;361;p19"/>
          <p:cNvSpPr txBox="1"/>
          <p:nvPr/>
        </p:nvSpPr>
        <p:spPr>
          <a:xfrm>
            <a:off x="12994242" y="6746441"/>
            <a:ext cx="3581402" cy="937693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 spcFirstLastPara="1" wrap="square" lIns="25400" tIns="25400" rIns="25400" bIns="25400" anchor="ctr" anchorCtr="0">
            <a:spAutoFit/>
          </a:bodyPr>
          <a:lstStyle/>
          <a:p>
            <a:pPr marL="79375" marR="79375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3200"/>
              <a:buFont typeface="Arial" panose="020B0604020202020204"/>
              <a:buNone/>
            </a:pPr>
            <a:r>
              <a:rPr lang="en-US" sz="3200" b="1" i="0" u="none" strike="noStrike" cap="non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ports have a declared type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62" name="Google Shape;362;p19"/>
          <p:cNvSpPr txBox="1"/>
          <p:nvPr/>
        </p:nvSpPr>
        <p:spPr>
          <a:xfrm>
            <a:off x="18350202" y="8445195"/>
            <a:ext cx="2590802" cy="937693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 spcFirstLastPara="1" wrap="square" lIns="25400" tIns="25400" rIns="25400" bIns="25400" anchor="ctr" anchorCtr="0">
            <a:spAutoFit/>
          </a:bodyPr>
          <a:lstStyle/>
          <a:p>
            <a:pPr marL="79375" marR="79375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3200"/>
              <a:buFont typeface="Arial" panose="020B0604020202020204"/>
              <a:buNone/>
            </a:pPr>
            <a:r>
              <a:rPr lang="en-US" sz="3200" b="1" i="0" u="none" strike="noStrike" cap="non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a module definition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363" name="Google Shape;363;p19"/>
          <p:cNvCxnSpPr/>
          <p:nvPr/>
        </p:nvCxnSpPr>
        <p:spPr>
          <a:xfrm flipH="1">
            <a:off x="7232974" y="5784633"/>
            <a:ext cx="1596194" cy="697358"/>
          </a:xfrm>
          <a:prstGeom prst="straightConnector1">
            <a:avLst/>
          </a:prstGeom>
          <a:noFill/>
          <a:ln w="57150" cap="flat" cmpd="sng">
            <a:solidFill>
              <a:srgbClr val="C0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364" name="Google Shape;364;p19"/>
          <p:cNvSpPr txBox="1"/>
          <p:nvPr/>
        </p:nvSpPr>
        <p:spPr>
          <a:xfrm>
            <a:off x="8829168" y="5168599"/>
            <a:ext cx="2387602" cy="937693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 spcFirstLastPara="1" wrap="square" lIns="25400" tIns="25400" rIns="25400" bIns="25400" anchor="ctr" anchorCtr="0">
            <a:spAutoFit/>
          </a:bodyPr>
          <a:lstStyle/>
          <a:p>
            <a:pPr marL="79375" marR="79375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3200"/>
              <a:buFont typeface="Arial" panose="020B0604020202020204"/>
              <a:buNone/>
            </a:pPr>
            <a:r>
              <a:rPr lang="en-US" sz="3200" b="1" i="0" u="none" strike="noStrike" cap="non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name of module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65" name="Google Shape;365;p19"/>
          <p:cNvSpPr/>
          <p:nvPr/>
        </p:nvSpPr>
        <p:spPr>
          <a:xfrm>
            <a:off x="10428981" y="2369287"/>
            <a:ext cx="2917305" cy="19287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ahoma"/>
              <a:buNone/>
            </a:pPr>
            <a:r>
              <a:rPr lang="en-US" sz="4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example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3EC01D3-98B0-0EB4-54C4-7CDD494B2B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/>
              <a:t>Code Style</a:t>
            </a:r>
          </a:p>
        </p:txBody>
      </p:sp>
      <p:sp>
        <p:nvSpPr>
          <p:cNvPr id="372" name="Google Shape;372;p2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None/>
            </a:pPr>
            <a:endParaRPr b="1" dirty="0">
              <a:solidFill>
                <a:srgbClr val="C0000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None/>
            </a:pPr>
            <a:endParaRPr b="1" dirty="0">
              <a:solidFill>
                <a:srgbClr val="C0000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B0F0"/>
              </a:buClr>
              <a:buSzPts val="5600"/>
              <a:buNone/>
            </a:pPr>
            <a:r>
              <a:rPr lang="en-US" b="1" dirty="0">
                <a:solidFill>
                  <a:srgbClr val="00B0F0"/>
                </a:solidFill>
              </a:rPr>
              <a:t>Codes are functionally equivalent:</a:t>
            </a:r>
            <a:endParaRPr b="1" dirty="0">
              <a:solidFill>
                <a:srgbClr val="00B0F0"/>
              </a:solidFill>
            </a:endParaRPr>
          </a:p>
          <a:p>
            <a:pPr marL="457200" lvl="0" indent="-101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None/>
            </a:pPr>
            <a:endParaRPr b="1" dirty="0">
              <a:solidFill>
                <a:srgbClr val="00B0F0"/>
              </a:solidFill>
            </a:endParaRPr>
          </a:p>
        </p:txBody>
      </p:sp>
      <p:sp>
        <p:nvSpPr>
          <p:cNvPr id="373" name="Google Shape;373;p20"/>
          <p:cNvSpPr txBox="1">
            <a:spLocks noGrp="1"/>
          </p:cNvSpPr>
          <p:nvPr>
            <p:ph type="sldNum" idx="12"/>
          </p:nvPr>
        </p:nvSpPr>
        <p:spPr>
          <a:xfrm>
            <a:off x="72442" y="12962850"/>
            <a:ext cx="914033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fld id="{00000000-1234-1234-1234-123412341234}" type="slidenum">
              <a:rPr lang="en-US" sz="40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lang="en-US" sz="40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0"/>
          <p:cNvSpPr/>
          <p:nvPr/>
        </p:nvSpPr>
        <p:spPr>
          <a:xfrm>
            <a:off x="4114801" y="6096001"/>
            <a:ext cx="7740650" cy="3657602"/>
          </a:xfrm>
          <a:prstGeom prst="rect">
            <a:avLst/>
          </a:prstGeom>
          <a:solidFill>
            <a:srgbClr val="02A2F7">
              <a:alpha val="16470"/>
            </a:srgbClr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Noto Sans Symbols"/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module</a:t>
            </a:r>
            <a:r>
              <a:rPr lang="en-US" sz="36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test ( a, b, y );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Noto Sans Symbols"/>
              <a:buNone/>
            </a:pPr>
            <a:r>
              <a:rPr lang="en-US" sz="36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	</a:t>
            </a:r>
            <a:r>
              <a:rPr lang="en-US" sz="36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input</a:t>
            </a:r>
            <a:r>
              <a:rPr lang="en-US" sz="36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a;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Noto Sans Symbols"/>
              <a:buNone/>
            </a:pPr>
            <a:r>
              <a:rPr lang="en-US" sz="36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	</a:t>
            </a:r>
            <a:r>
              <a:rPr lang="en-US" sz="36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input</a:t>
            </a:r>
            <a:r>
              <a:rPr lang="en-US" sz="36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b;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Noto Sans Symbols"/>
              <a:buNone/>
            </a:pPr>
            <a:r>
              <a:rPr lang="en-US" sz="36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	</a:t>
            </a:r>
            <a:r>
              <a:rPr lang="en-US" sz="36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output</a:t>
            </a:r>
            <a:r>
              <a:rPr lang="en-US" sz="36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y;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Noto Sans Symbols"/>
              <a:buNone/>
            </a:pPr>
            <a:endParaRPr sz="3600" b="0" i="0" u="none" strike="noStrike" cap="none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Noto Sans Symbols"/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endmodule</a:t>
            </a:r>
            <a:endParaRPr sz="3600" b="1" i="0" u="none" strike="noStrike" cap="none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endParaRPr sz="3200" b="0" i="0" u="none" strike="noStrike" cap="none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</p:txBody>
      </p:sp>
      <p:sp>
        <p:nvSpPr>
          <p:cNvPr id="375" name="Google Shape;375;p20"/>
          <p:cNvSpPr/>
          <p:nvPr/>
        </p:nvSpPr>
        <p:spPr>
          <a:xfrm>
            <a:off x="12465051" y="6096001"/>
            <a:ext cx="7740650" cy="3657602"/>
          </a:xfrm>
          <a:prstGeom prst="rect">
            <a:avLst/>
          </a:prstGeom>
          <a:solidFill>
            <a:schemeClr val="accent5">
              <a:alpha val="54509"/>
            </a:schemeClr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Noto Sans Symbols"/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module</a:t>
            </a:r>
            <a:r>
              <a:rPr lang="en-US" sz="36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test ( </a:t>
            </a:r>
            <a:r>
              <a:rPr lang="en-US" sz="36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input</a:t>
            </a:r>
            <a:r>
              <a:rPr lang="en-US" sz="36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a,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Noto Sans Symbols"/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             input</a:t>
            </a:r>
            <a:r>
              <a:rPr lang="en-US" sz="36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b,</a:t>
            </a:r>
            <a:br>
              <a:rPr lang="en-US" sz="36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</a:br>
            <a:r>
              <a:rPr lang="en-US" sz="36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             </a:t>
            </a:r>
            <a:r>
              <a:rPr lang="en-US" sz="36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output</a:t>
            </a:r>
            <a:r>
              <a:rPr lang="en-US" sz="36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y );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Noto Sans Symbols"/>
              <a:buNone/>
            </a:pPr>
            <a:endParaRPr sz="3600" b="0" i="0" u="none" strike="noStrike" cap="none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Noto Sans Symbols"/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endmodule</a:t>
            </a:r>
            <a:endParaRPr sz="3600" b="1" i="0" u="none" strike="noStrike" cap="none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Noto Sans Symbols"/>
              <a:buNone/>
            </a:pPr>
            <a:endParaRPr sz="3600" b="0" i="0" u="none" strike="noStrike" cap="none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</p:txBody>
      </p:sp>
      <p:sp>
        <p:nvSpPr>
          <p:cNvPr id="376" name="Google Shape;376;p20"/>
          <p:cNvSpPr txBox="1"/>
          <p:nvPr/>
        </p:nvSpPr>
        <p:spPr>
          <a:xfrm>
            <a:off x="12192000" y="9883516"/>
            <a:ext cx="838200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port name and direction declaration can be combined</a:t>
            </a:r>
            <a:endParaRPr sz="1400" b="0" i="0" u="none" strike="noStrike" cap="none" dirty="0">
              <a:solidFill>
                <a:srgbClr val="00B05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Google Shape;376;p20">
            <a:extLst>
              <a:ext uri="{FF2B5EF4-FFF2-40B4-BE49-F238E27FC236}">
                <a16:creationId xmlns:a16="http://schemas.microsoft.com/office/drawing/2014/main" id="{2E021814-95AD-375B-9087-4F8DB754DEC7}"/>
              </a:ext>
            </a:extLst>
          </p:cNvPr>
          <p:cNvSpPr txBox="1"/>
          <p:nvPr/>
        </p:nvSpPr>
        <p:spPr>
          <a:xfrm>
            <a:off x="3615812" y="9886032"/>
            <a:ext cx="83820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We recommend using this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Calibri"/>
              <a:buNone/>
            </a:pPr>
            <a:r>
              <a:rPr lang="en-US" sz="7200"/>
              <a:t>Defining Multi-bit Input and Output</a:t>
            </a:r>
            <a:endParaRPr sz="7200"/>
          </a:p>
        </p:txBody>
      </p:sp>
      <p:sp>
        <p:nvSpPr>
          <p:cNvPr id="383" name="Google Shape;383;p2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 b="1"/>
              <a:t>You can also define multi-bit Input/Output (Bus) </a:t>
            </a:r>
          </a:p>
          <a:p>
            <a:pPr marL="990600" lvl="1" indent="-5334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/>
              <a:t>[range_end : range_start]</a:t>
            </a:r>
          </a:p>
          <a:p>
            <a:pPr marL="990600" lvl="1" indent="-5334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FF"/>
              </a:buClr>
              <a:buSzPct val="100000"/>
              <a:buChar char="•"/>
            </a:pPr>
            <a:r>
              <a:rPr lang="en-US" b="1">
                <a:solidFill>
                  <a:srgbClr val="0000FF"/>
                </a:solidFill>
              </a:rPr>
              <a:t>Number of bits:</a:t>
            </a:r>
            <a:r>
              <a:rPr lang="en-US"/>
              <a:t> range_end – range_start + 1</a:t>
            </a:r>
          </a:p>
          <a:p>
            <a:pPr marL="457200" lvl="0" indent="-457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 b="1"/>
              <a:t>Example</a:t>
            </a:r>
            <a:r>
              <a:rPr lang="en-US"/>
              <a:t>:</a:t>
            </a:r>
          </a:p>
          <a:p>
            <a:pPr marL="457200" lvl="0" indent="-12827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endParaRPr lang="en-US"/>
          </a:p>
          <a:p>
            <a:pPr marL="457200" lvl="0" indent="-12827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endParaRPr lang="en-US"/>
          </a:p>
          <a:p>
            <a:pPr marL="457200" lvl="0" indent="-12827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endParaRPr lang="en-US"/>
          </a:p>
          <a:p>
            <a:pPr marL="457200" lvl="0" indent="-26924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endParaRPr sz="3200"/>
          </a:p>
          <a:p>
            <a:pPr marL="457200" lvl="0" indent="-457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C00000"/>
              </a:buClr>
              <a:buSzPct val="100000"/>
              <a:buChar char="•"/>
            </a:pPr>
            <a:r>
              <a:rPr lang="en-US" b="1">
                <a:solidFill>
                  <a:srgbClr val="C00000"/>
                </a:solidFill>
              </a:rPr>
              <a:t>a</a:t>
            </a:r>
            <a:r>
              <a:rPr lang="en-US"/>
              <a:t> represents a 32-bit value, so we prefer to define it as: </a:t>
            </a:r>
            <a:r>
              <a:rPr lang="en-US" sz="4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[31:0] a</a:t>
            </a:r>
          </a:p>
          <a:p>
            <a:pPr marL="457200" lvl="0" indent="-457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/>
              <a:t>It is preferred over </a:t>
            </a:r>
            <a:r>
              <a:rPr lang="en-US" sz="4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[0:31] a</a:t>
            </a:r>
            <a:r>
              <a:rPr lang="en-US" sz="4000"/>
              <a:t> </a:t>
            </a:r>
            <a:r>
              <a:rPr lang="en-US"/>
              <a:t>which resembles </a:t>
            </a:r>
            <a:r>
              <a:rPr lang="en-US" i="1"/>
              <a:t>array </a:t>
            </a:r>
            <a:r>
              <a:rPr lang="en-US"/>
              <a:t>definition</a:t>
            </a:r>
          </a:p>
          <a:p>
            <a:pPr marL="457200" lvl="0" indent="-457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/>
              <a:t>It is good practice to </a:t>
            </a:r>
            <a:r>
              <a:rPr lang="en-US">
                <a:solidFill>
                  <a:srgbClr val="00B050"/>
                </a:solidFill>
              </a:rPr>
              <a:t>be consistent </a:t>
            </a:r>
            <a:r>
              <a:rPr lang="en-US"/>
              <a:t>with the representation of multi-bit signals, i.e., always [31:0] or always [0:31]</a:t>
            </a:r>
          </a:p>
          <a:p>
            <a:pPr marL="457200" lvl="0" indent="-12827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endParaRPr lang="en-US"/>
          </a:p>
          <a:p>
            <a:pPr marL="457200" lvl="0" indent="-12827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endParaRPr lang="en-US"/>
          </a:p>
        </p:txBody>
      </p:sp>
      <p:sp>
        <p:nvSpPr>
          <p:cNvPr id="384" name="Google Shape;384;p21"/>
          <p:cNvSpPr txBox="1">
            <a:spLocks noGrp="1"/>
          </p:cNvSpPr>
          <p:nvPr>
            <p:ph type="sldNum" idx="12"/>
          </p:nvPr>
        </p:nvSpPr>
        <p:spPr>
          <a:xfrm>
            <a:off x="72442" y="12962850"/>
            <a:ext cx="914033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fld id="{00000000-1234-1234-1234-123412341234}" type="slidenum">
              <a:rPr lang="en-US" sz="40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lang="en-US" sz="40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1"/>
          <p:cNvSpPr/>
          <p:nvPr/>
        </p:nvSpPr>
        <p:spPr>
          <a:xfrm>
            <a:off x="4295775" y="5791203"/>
            <a:ext cx="15792450" cy="2895598"/>
          </a:xfrm>
          <a:prstGeom prst="rect">
            <a:avLst/>
          </a:prstGeom>
          <a:solidFill>
            <a:srgbClr val="00BFFF">
              <a:alpha val="12549"/>
            </a:srgbClr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40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input</a:t>
            </a:r>
            <a:r>
              <a:rPr lang="en-US" sz="40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 [31:0] a;   </a:t>
            </a:r>
            <a:r>
              <a:rPr lang="en-US" sz="4000" b="0" i="0" u="none" strike="noStrike" cap="none">
                <a:solidFill>
                  <a:srgbClr val="00B05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// a[31], a[30] .. a[0]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40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output</a:t>
            </a:r>
            <a:r>
              <a:rPr lang="en-US" sz="40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[15:8] b1;  </a:t>
            </a:r>
            <a:r>
              <a:rPr lang="en-US" sz="4000" b="0" i="0" u="none" strike="noStrike" cap="none">
                <a:solidFill>
                  <a:srgbClr val="00B05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// b1[15], b1[14] .. b1[8]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40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output</a:t>
            </a:r>
            <a:r>
              <a:rPr lang="en-US" sz="40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[7:0]  b2;  </a:t>
            </a:r>
            <a:r>
              <a:rPr lang="en-US" sz="4000" b="0" i="0" u="none" strike="noStrike" cap="none">
                <a:solidFill>
                  <a:srgbClr val="00B05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// b2[7], b2[6] .. b2[0]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40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input</a:t>
            </a:r>
            <a:r>
              <a:rPr lang="en-US" sz="40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        c;   </a:t>
            </a:r>
            <a:r>
              <a:rPr lang="en-US" sz="4000" b="0" i="0" u="none" strike="noStrike" cap="none">
                <a:solidFill>
                  <a:srgbClr val="00B05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// single signal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endParaRPr sz="3200" b="0" i="0" u="none" strike="noStrike" cap="none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/>
              <a:t>Manipulating Bits	</a:t>
            </a:r>
          </a:p>
        </p:txBody>
      </p:sp>
      <p:sp>
        <p:nvSpPr>
          <p:cNvPr id="394" name="Google Shape;394;p2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None/>
            </a:pPr>
            <a:r>
              <a:rPr lang="en-US"/>
              <a:t>Verilog allows to manipulate bits in different ways:</a:t>
            </a:r>
          </a:p>
        </p:txBody>
      </p:sp>
      <p:sp>
        <p:nvSpPr>
          <p:cNvPr id="392" name="Google Shape;392;p22"/>
          <p:cNvSpPr txBox="1">
            <a:spLocks noGrp="1"/>
          </p:cNvSpPr>
          <p:nvPr>
            <p:ph type="sldNum" idx="12"/>
          </p:nvPr>
        </p:nvSpPr>
        <p:spPr>
          <a:xfrm>
            <a:off x="72442" y="12962850"/>
            <a:ext cx="914033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fld id="{00000000-1234-1234-1234-123412341234}" type="slidenum">
              <a:rPr lang="en-US" sz="40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lang="en-US" sz="40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2"/>
          <p:cNvSpPr/>
          <p:nvPr/>
        </p:nvSpPr>
        <p:spPr>
          <a:xfrm>
            <a:off x="3747135" y="4248079"/>
            <a:ext cx="16448042" cy="7456242"/>
          </a:xfrm>
          <a:prstGeom prst="rect">
            <a:avLst/>
          </a:prstGeom>
          <a:solidFill>
            <a:srgbClr val="00BFFF">
              <a:alpha val="18431"/>
            </a:srgbClr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Font typeface="Noto Sans Symbols"/>
              <a:buNone/>
            </a:pPr>
            <a:r>
              <a:rPr lang="en-US" sz="4000" b="0" i="0" u="none" strike="noStrike" cap="none">
                <a:solidFill>
                  <a:srgbClr val="00B05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// </a:t>
            </a:r>
            <a:r>
              <a:rPr lang="en-US" sz="4000" b="1" i="0" u="none" strike="noStrike" cap="none">
                <a:solidFill>
                  <a:srgbClr val="00B05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Bit Slicing: </a:t>
            </a:r>
            <a:r>
              <a:rPr lang="en-US" sz="4000" b="0" i="0" u="none" strike="noStrike" cap="none">
                <a:solidFill>
                  <a:srgbClr val="00B05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assign partial buses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 Symbols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  </a:t>
            </a:r>
            <a:r>
              <a:rPr lang="en-US" sz="40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wire </a:t>
            </a:r>
            <a:r>
              <a:rPr lang="en-US" sz="40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[15:0] longbus;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40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  wire </a:t>
            </a:r>
            <a:r>
              <a:rPr lang="en-US" sz="40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[7:0] shortbus;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40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  assign </a:t>
            </a:r>
            <a:r>
              <a:rPr lang="en-US" sz="40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shortbus = longbus[12:5];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914400" marR="0" lvl="1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oto Sans Symbols"/>
              <a:buNone/>
            </a:pPr>
            <a:endParaRPr sz="4000" b="0" i="0" u="none" strike="noStrike" cap="none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Font typeface="Noto Sans Symbols"/>
              <a:buNone/>
            </a:pPr>
            <a:r>
              <a:rPr lang="en-US" sz="4000" b="0" i="0" u="none" strike="noStrike" cap="none">
                <a:solidFill>
                  <a:srgbClr val="00B05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// </a:t>
            </a:r>
            <a:r>
              <a:rPr lang="en-US" sz="4000" b="1" i="0" u="none" strike="noStrike" cap="none">
                <a:solidFill>
                  <a:srgbClr val="00B05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Concatenation: </a:t>
            </a:r>
            <a:r>
              <a:rPr lang="en-US" sz="4000" b="0" i="0" u="none" strike="noStrike" cap="none">
                <a:solidFill>
                  <a:srgbClr val="00B05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Concatenating is by {}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 Symbols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  </a:t>
            </a:r>
            <a:r>
              <a:rPr lang="en-US" sz="40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assign </a:t>
            </a:r>
            <a:r>
              <a:rPr lang="en-US" sz="40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y = {a[2],a[1],a[0],a[0]};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914400" marR="0" lvl="1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Noto Sans Symbols"/>
              <a:buNone/>
            </a:pPr>
            <a:r>
              <a:rPr lang="en-US" sz="40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Font typeface="Noto Sans Symbols"/>
              <a:buNone/>
            </a:pPr>
            <a:r>
              <a:rPr lang="en-US" sz="4000" b="1" i="0" u="none" strike="noStrike" cap="none">
                <a:solidFill>
                  <a:srgbClr val="00B05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// Duplication:</a:t>
            </a:r>
            <a:r>
              <a:rPr lang="en-US" sz="4000" b="0" i="0" u="none" strike="noStrike" cap="none">
                <a:solidFill>
                  <a:srgbClr val="00B05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Possible to define multiple copies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 Symbols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  </a:t>
            </a:r>
            <a:r>
              <a:rPr lang="en-US" sz="40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assign </a:t>
            </a:r>
            <a:r>
              <a:rPr lang="en-US" sz="40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x = {a[0], a[0], a[0], a[0]}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40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  assign </a:t>
            </a:r>
            <a:r>
              <a:rPr lang="en-US" sz="40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y = { 4{a[0]} }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3"/>
          <p:cNvSpPr/>
          <p:nvPr/>
        </p:nvSpPr>
        <p:spPr>
          <a:xfrm>
            <a:off x="0" y="11413090"/>
            <a:ext cx="24384000" cy="1728000"/>
          </a:xfrm>
          <a:prstGeom prst="rect">
            <a:avLst/>
          </a:prstGeom>
          <a:solidFill>
            <a:srgbClr val="98CD06">
              <a:alpha val="52549"/>
            </a:srgbClr>
          </a:solidFill>
          <a:ln>
            <a:noFill/>
          </a:ln>
        </p:spPr>
        <p:txBody>
          <a:bodyPr spcFirstLastPara="1" wrap="square" lIns="71425" tIns="71425" rIns="71425" bIns="714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 panose="020B0604020202020204"/>
              <a:buNone/>
            </a:pPr>
            <a:endParaRPr sz="30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02" name="Google Shape;402;p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 dirty="0"/>
              <a:t>Two Main Styles of HDL Implementation</a:t>
            </a:r>
          </a:p>
        </p:txBody>
      </p:sp>
      <p:sp>
        <p:nvSpPr>
          <p:cNvPr id="403" name="Google Shape;403;p2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914400" lvl="0" indent="-914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Arial" panose="020B0604020202020204"/>
              <a:buAutoNum type="arabicPeriod"/>
            </a:pPr>
            <a:r>
              <a:rPr lang="en-US" sz="4800" b="1" dirty="0">
                <a:solidFill>
                  <a:srgbClr val="00B0F0"/>
                </a:solidFill>
              </a:rPr>
              <a:t>Structural</a:t>
            </a:r>
          </a:p>
          <a:p>
            <a:pPr marL="990600" lvl="1" indent="-5334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 sz="4800" dirty="0"/>
              <a:t>Each </a:t>
            </a:r>
            <a:r>
              <a:rPr lang="en-US" sz="4800" b="1" dirty="0"/>
              <a:t>module contains other modules </a:t>
            </a:r>
            <a:r>
              <a:rPr lang="en-US" sz="4800" dirty="0"/>
              <a:t>(instances)</a:t>
            </a:r>
          </a:p>
          <a:p>
            <a:pPr marL="990600" lvl="1" indent="-5334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 sz="4800" dirty="0"/>
              <a:t>Describes a hierarchy</a:t>
            </a:r>
          </a:p>
          <a:p>
            <a:pPr marL="990600" lvl="1" indent="-5334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 sz="4800" dirty="0"/>
              <a:t>Can contain gate-level description</a:t>
            </a:r>
          </a:p>
          <a:p>
            <a:pPr marL="457200" lvl="0" indent="-292735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endParaRPr sz="2000" dirty="0"/>
          </a:p>
          <a:p>
            <a:pPr marL="914400" lvl="0" indent="-9144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Arial" panose="020B0604020202020204"/>
              <a:buAutoNum type="arabicPeriod"/>
            </a:pPr>
            <a:r>
              <a:rPr lang="en-US" sz="4800" b="1" dirty="0">
                <a:solidFill>
                  <a:srgbClr val="00B0F0"/>
                </a:solidFill>
              </a:rPr>
              <a:t>Behavioral</a:t>
            </a:r>
          </a:p>
          <a:p>
            <a:pPr marL="990600" lvl="1" indent="-5334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 sz="4800" dirty="0"/>
              <a:t>Module body contains </a:t>
            </a:r>
            <a:r>
              <a:rPr lang="en-US" sz="4800" dirty="0">
                <a:solidFill>
                  <a:srgbClr val="0000FF"/>
                </a:solidFill>
              </a:rPr>
              <a:t>functional description </a:t>
            </a:r>
            <a:r>
              <a:rPr lang="en-US" sz="4800" dirty="0"/>
              <a:t>of the circuit</a:t>
            </a:r>
          </a:p>
          <a:p>
            <a:pPr marL="990600" lvl="1" indent="-5334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 sz="4800" dirty="0"/>
              <a:t>Contains logical and mathematical </a:t>
            </a:r>
            <a:r>
              <a:rPr lang="en-US" sz="4800" dirty="0">
                <a:solidFill>
                  <a:srgbClr val="0000FF"/>
                </a:solidFill>
              </a:rPr>
              <a:t>operators</a:t>
            </a:r>
          </a:p>
          <a:p>
            <a:pPr marL="990600" lvl="1" indent="-5334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 sz="4800" b="1" dirty="0"/>
              <a:t>Level of abstraction is higher than gate-level</a:t>
            </a:r>
          </a:p>
          <a:p>
            <a:pPr marL="1554480" lvl="2" indent="-64008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 sz="4800" dirty="0"/>
              <a:t>Many possible gate-level realizations of a behavioral description</a:t>
            </a:r>
          </a:p>
        </p:txBody>
      </p:sp>
      <p:sp>
        <p:nvSpPr>
          <p:cNvPr id="404" name="Google Shape;404;p23"/>
          <p:cNvSpPr txBox="1">
            <a:spLocks noGrp="1"/>
          </p:cNvSpPr>
          <p:nvPr>
            <p:ph type="sldNum" idx="12"/>
          </p:nvPr>
        </p:nvSpPr>
        <p:spPr>
          <a:xfrm>
            <a:off x="72442" y="12962850"/>
            <a:ext cx="914033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fld id="{00000000-1234-1234-1234-123412341234}" type="slidenum">
              <a:rPr lang="en-US" sz="40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lang="en-US" sz="40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3"/>
          <p:cNvSpPr/>
          <p:nvPr/>
        </p:nvSpPr>
        <p:spPr>
          <a:xfrm>
            <a:off x="3997960" y="11816715"/>
            <a:ext cx="17952085" cy="92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 sz="54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 implementations </a:t>
            </a:r>
            <a:r>
              <a:rPr lang="es-ES_tradnl" altLang="en-US" sz="54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can </a:t>
            </a:r>
            <a:r>
              <a:rPr lang="en-US" sz="5400" b="1" i="0" u="none" strike="noStrike" cap="none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use a combination of both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412;p24">
            <a:extLst>
              <a:ext uri="{FF2B5EF4-FFF2-40B4-BE49-F238E27FC236}">
                <a16:creationId xmlns:a16="http://schemas.microsoft.com/office/drawing/2014/main" id="{10F9571D-062F-95A2-A29C-F562DFA9BC22}"/>
              </a:ext>
            </a:extLst>
          </p:cNvPr>
          <p:cNvSpPr/>
          <p:nvPr/>
        </p:nvSpPr>
        <p:spPr>
          <a:xfrm>
            <a:off x="11589" y="10443999"/>
            <a:ext cx="24384000" cy="1728000"/>
          </a:xfrm>
          <a:prstGeom prst="rect">
            <a:avLst/>
          </a:prstGeom>
          <a:solidFill>
            <a:srgbClr val="98CD06">
              <a:alpha val="52549"/>
            </a:srgbClr>
          </a:solidFill>
          <a:ln>
            <a:noFill/>
          </a:ln>
        </p:spPr>
        <p:txBody>
          <a:bodyPr spcFirstLastPara="1" wrap="square" lIns="71425" tIns="71425" rIns="71425" bIns="714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 panose="020B0604020202020204"/>
              <a:buNone/>
            </a:pPr>
            <a:endParaRPr sz="30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77D403A-222F-8679-4809-AF4083395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Structural HDL: Instantiating a Module</a:t>
            </a:r>
            <a:endParaRPr lang="en-PE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FB73563-DC58-04E5-449E-4B5EC5501C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939D3A-153A-C9B7-222A-D94693C4B6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  <p:pic>
        <p:nvPicPr>
          <p:cNvPr id="8" name="Google Shape;415;p24" descr="struct.gif">
            <a:extLst>
              <a:ext uri="{FF2B5EF4-FFF2-40B4-BE49-F238E27FC236}">
                <a16:creationId xmlns:a16="http://schemas.microsoft.com/office/drawing/2014/main" id="{C97F4FC5-A4A5-44E3-BC14-B613D82F26E9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885509" y="3238413"/>
            <a:ext cx="14763750" cy="58674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416;p24">
            <a:extLst>
              <a:ext uri="{FF2B5EF4-FFF2-40B4-BE49-F238E27FC236}">
                <a16:creationId xmlns:a16="http://schemas.microsoft.com/office/drawing/2014/main" id="{03F30B90-C26F-150C-971F-E535EA056E3E}"/>
              </a:ext>
            </a:extLst>
          </p:cNvPr>
          <p:cNvSpPr txBox="1"/>
          <p:nvPr/>
        </p:nvSpPr>
        <p:spPr>
          <a:xfrm>
            <a:off x="13570108" y="3421294"/>
            <a:ext cx="2209802" cy="646331"/>
          </a:xfrm>
          <a:prstGeom prst="rect">
            <a:avLst/>
          </a:prstGeom>
          <a:solidFill>
            <a:srgbClr val="E6E6FA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Arial" panose="020B0604020202020204"/>
              <a:buNone/>
            </a:pPr>
            <a:r>
              <a:rPr lang="en-US" sz="3600" b="0" i="0" u="none" strike="noStrike" cap="none">
                <a:solidFill>
                  <a:srgbClr val="C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i_first</a:t>
            </a:r>
            <a:endParaRPr sz="3600" b="0" i="0" u="none" strike="noStrike" cap="none">
              <a:solidFill>
                <a:srgbClr val="C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" name="Google Shape;417;p24">
            <a:extLst>
              <a:ext uri="{FF2B5EF4-FFF2-40B4-BE49-F238E27FC236}">
                <a16:creationId xmlns:a16="http://schemas.microsoft.com/office/drawing/2014/main" id="{B9CA2E49-28E6-F7CA-66CB-62099E582097}"/>
              </a:ext>
            </a:extLst>
          </p:cNvPr>
          <p:cNvSpPr txBox="1"/>
          <p:nvPr/>
        </p:nvSpPr>
        <p:spPr>
          <a:xfrm>
            <a:off x="18830108" y="3848013"/>
            <a:ext cx="2209802" cy="646331"/>
          </a:xfrm>
          <a:prstGeom prst="rect">
            <a:avLst/>
          </a:prstGeom>
          <a:solidFill>
            <a:srgbClr val="E6E6FA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Arial" panose="020B0604020202020204"/>
              <a:buNone/>
            </a:pPr>
            <a:r>
              <a:rPr lang="en-US" sz="3600" b="0" i="0" u="none" strike="noStrike" cap="none">
                <a:solidFill>
                  <a:srgbClr val="C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i_second</a:t>
            </a:r>
            <a:endParaRPr sz="3600" b="0" i="0" u="none" strike="noStrike" cap="none">
              <a:solidFill>
                <a:srgbClr val="C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" name="Google Shape;418;p24">
            <a:extLst>
              <a:ext uri="{FF2B5EF4-FFF2-40B4-BE49-F238E27FC236}">
                <a16:creationId xmlns:a16="http://schemas.microsoft.com/office/drawing/2014/main" id="{AC49B68B-5132-3228-6445-B827CA5C3252}"/>
              </a:ext>
            </a:extLst>
          </p:cNvPr>
          <p:cNvSpPr/>
          <p:nvPr/>
        </p:nvSpPr>
        <p:spPr>
          <a:xfrm>
            <a:off x="4368710" y="10626717"/>
            <a:ext cx="16270604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7937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Module “top” </a:t>
            </a:r>
            <a:r>
              <a:rPr lang="en-US" sz="4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is built from two instances</a:t>
            </a:r>
            <a:r>
              <a:rPr lang="en-US" sz="4800" b="1" i="0" u="none" strike="noStrike" cap="non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 of module “small”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0240743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/>
              <a:t>Structural HDL Example</a:t>
            </a:r>
          </a:p>
        </p:txBody>
      </p:sp>
      <p:sp>
        <p:nvSpPr>
          <p:cNvPr id="425" name="Google Shape;425;p2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600"/>
              <a:buChar char="•"/>
            </a:pPr>
            <a:r>
              <a:rPr lang="en-US" b="1">
                <a:solidFill>
                  <a:srgbClr val="C00000"/>
                </a:solidFill>
              </a:rPr>
              <a:t>Module Definitions in Verilog</a:t>
            </a:r>
            <a:endParaRPr b="1">
              <a:solidFill>
                <a:srgbClr val="C00000"/>
              </a:solidFill>
            </a:endParaRPr>
          </a:p>
          <a:p>
            <a:pPr marL="457200" lvl="0" indent="-101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None/>
            </a:pPr>
            <a:endParaRPr b="1">
              <a:solidFill>
                <a:srgbClr val="C00000"/>
              </a:solidFill>
            </a:endParaRPr>
          </a:p>
        </p:txBody>
      </p:sp>
      <p:sp>
        <p:nvSpPr>
          <p:cNvPr id="426" name="Google Shape;426;p25"/>
          <p:cNvSpPr txBox="1">
            <a:spLocks noGrp="1"/>
          </p:cNvSpPr>
          <p:nvPr>
            <p:ph type="sldNum" idx="12"/>
          </p:nvPr>
        </p:nvSpPr>
        <p:spPr>
          <a:xfrm>
            <a:off x="72442" y="12962850"/>
            <a:ext cx="914033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fld id="{00000000-1234-1234-1234-123412341234}" type="slidenum">
              <a:rPr lang="en-US" sz="40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lang="en-US" sz="40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7" name="Google Shape;427;p25" descr="struct.gif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703116" y="3432493"/>
            <a:ext cx="9002860" cy="357791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25"/>
          <p:cNvSpPr/>
          <p:nvPr/>
        </p:nvSpPr>
        <p:spPr>
          <a:xfrm>
            <a:off x="3992599" y="3352801"/>
            <a:ext cx="7740650" cy="8858250"/>
          </a:xfrm>
          <a:prstGeom prst="rect">
            <a:avLst/>
          </a:prstGeom>
          <a:solidFill>
            <a:srgbClr val="96D9FD">
              <a:alpha val="45490"/>
            </a:srgbClr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module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top (A, SEL, C, Y);</a:t>
            </a:r>
            <a:endParaRPr sz="1400" b="0" i="0" u="none" strike="noStrike" cap="none" dirty="0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 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input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A, SEL, C;</a:t>
            </a:r>
            <a:endParaRPr sz="1400" b="0" i="0" u="none" strike="noStrike" cap="none" dirty="0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 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output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Y;</a:t>
            </a:r>
            <a:endParaRPr sz="1400" b="0" i="0" u="none" strike="noStrike" cap="none" dirty="0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 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wire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n1;  </a:t>
            </a:r>
            <a:endParaRPr sz="1400" b="0" i="0" u="none" strike="noStrike" cap="none" dirty="0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1" i="0" u="none" strike="noStrike" cap="none" dirty="0" err="1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endmodule</a:t>
            </a:r>
            <a:endParaRPr sz="3200" b="1" i="0" u="none" strike="noStrike" cap="none" dirty="0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</p:txBody>
      </p:sp>
      <p:sp>
        <p:nvSpPr>
          <p:cNvPr id="429" name="Google Shape;429;p25"/>
          <p:cNvSpPr/>
          <p:nvPr/>
        </p:nvSpPr>
        <p:spPr>
          <a:xfrm>
            <a:off x="12465117" y="7620003"/>
            <a:ext cx="7740650" cy="4591050"/>
          </a:xfrm>
          <a:prstGeom prst="rect">
            <a:avLst/>
          </a:prstGeom>
          <a:solidFill>
            <a:schemeClr val="accent5">
              <a:alpha val="48235"/>
            </a:schemeClr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module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small (A, B, Y);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 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input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A;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 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input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B;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 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output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Y;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endParaRPr sz="3200" b="0" i="0" u="none" strike="noStrike" cap="none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B05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// description of small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endParaRPr sz="3200" b="0" i="0" u="none" strike="noStrike" cap="none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endmodule </a:t>
            </a:r>
            <a:endParaRPr sz="3200" b="1" i="0" u="none" strike="noStrike" cap="none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</p:txBody>
      </p:sp>
      <p:sp>
        <p:nvSpPr>
          <p:cNvPr id="430" name="Google Shape;430;p25"/>
          <p:cNvSpPr/>
          <p:nvPr/>
        </p:nvSpPr>
        <p:spPr>
          <a:xfrm>
            <a:off x="5638800" y="3318508"/>
            <a:ext cx="914400" cy="762000"/>
          </a:xfrm>
          <a:prstGeom prst="ellipse">
            <a:avLst/>
          </a:prstGeom>
          <a:solidFill>
            <a:schemeClr val="accent1">
              <a:alpha val="0"/>
            </a:schemeClr>
          </a:solidFill>
          <a:ln w="5715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Verdana" panose="020B0604030504040204"/>
              <a:buNone/>
            </a:pPr>
            <a:endParaRPr sz="3600" b="0" i="0" u="none" strike="noStrike" cap="none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431" name="Google Shape;431;p25"/>
          <p:cNvSpPr/>
          <p:nvPr/>
        </p:nvSpPr>
        <p:spPr>
          <a:xfrm>
            <a:off x="19354800" y="6229350"/>
            <a:ext cx="914400" cy="762000"/>
          </a:xfrm>
          <a:prstGeom prst="ellipse">
            <a:avLst/>
          </a:prstGeom>
          <a:solidFill>
            <a:schemeClr val="accent1">
              <a:alpha val="0"/>
            </a:schemeClr>
          </a:solidFill>
          <a:ln w="5715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Verdana" panose="020B0604030504040204"/>
              <a:buNone/>
            </a:pPr>
            <a:endParaRPr sz="3600" b="0" i="0" u="none" strike="noStrike" cap="none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</p:txBody>
      </p:sp>
      <p:cxnSp>
        <p:nvCxnSpPr>
          <p:cNvPr id="432" name="Google Shape;432;p25"/>
          <p:cNvCxnSpPr>
            <a:stCxn id="430" idx="6"/>
            <a:endCxn id="431" idx="2"/>
          </p:cNvCxnSpPr>
          <p:nvPr/>
        </p:nvCxnSpPr>
        <p:spPr>
          <a:xfrm>
            <a:off x="6553200" y="3699508"/>
            <a:ext cx="12801600" cy="2910900"/>
          </a:xfrm>
          <a:prstGeom prst="straightConnector1">
            <a:avLst/>
          </a:prstGeom>
          <a:noFill/>
          <a:ln w="5715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3" name="Google Shape;433;p25"/>
          <p:cNvSpPr/>
          <p:nvPr/>
        </p:nvSpPr>
        <p:spPr>
          <a:xfrm>
            <a:off x="17830800" y="5467350"/>
            <a:ext cx="914400" cy="762000"/>
          </a:xfrm>
          <a:prstGeom prst="ellipse">
            <a:avLst/>
          </a:prstGeom>
          <a:solidFill>
            <a:schemeClr val="accent1">
              <a:alpha val="0"/>
            </a:schemeClr>
          </a:solidFill>
          <a:ln w="5715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Verdana" panose="020B0604030504040204"/>
              <a:buNone/>
            </a:pPr>
            <a:endParaRPr sz="3600" b="0" i="0" u="none" strike="noStrike" cap="none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434" name="Google Shape;434;p25"/>
          <p:cNvSpPr/>
          <p:nvPr/>
        </p:nvSpPr>
        <p:spPr>
          <a:xfrm>
            <a:off x="14630400" y="5162550"/>
            <a:ext cx="914400" cy="762000"/>
          </a:xfrm>
          <a:prstGeom prst="ellipse">
            <a:avLst/>
          </a:prstGeom>
          <a:solidFill>
            <a:schemeClr val="accent1">
              <a:alpha val="0"/>
            </a:schemeClr>
          </a:solidFill>
          <a:ln w="5715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Verdana" panose="020B0604030504040204"/>
              <a:buNone/>
            </a:pPr>
            <a:endParaRPr sz="3600" b="0" i="0" u="none" strike="noStrike" cap="none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435" name="Google Shape;435;p25"/>
          <p:cNvSpPr/>
          <p:nvPr/>
        </p:nvSpPr>
        <p:spPr>
          <a:xfrm>
            <a:off x="14173200" y="7448550"/>
            <a:ext cx="1371600" cy="914400"/>
          </a:xfrm>
          <a:prstGeom prst="ellipse">
            <a:avLst/>
          </a:prstGeom>
          <a:solidFill>
            <a:schemeClr val="accent1">
              <a:alpha val="0"/>
            </a:schemeClr>
          </a:solidFill>
          <a:ln w="5715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Verdana" panose="020B0604030504040204"/>
              <a:buNone/>
            </a:pPr>
            <a:endParaRPr sz="3600" b="0" i="0" u="none" strike="noStrike" cap="none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</p:txBody>
      </p:sp>
      <p:cxnSp>
        <p:nvCxnSpPr>
          <p:cNvPr id="436" name="Google Shape;436;p25"/>
          <p:cNvCxnSpPr>
            <a:stCxn id="434" idx="4"/>
            <a:endCxn id="435" idx="0"/>
          </p:cNvCxnSpPr>
          <p:nvPr/>
        </p:nvCxnSpPr>
        <p:spPr>
          <a:xfrm flipH="1">
            <a:off x="14859000" y="5924550"/>
            <a:ext cx="228600" cy="1524000"/>
          </a:xfrm>
          <a:prstGeom prst="straightConnector1">
            <a:avLst/>
          </a:prstGeom>
          <a:noFill/>
          <a:ln w="5715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7" name="Google Shape;437;p25"/>
          <p:cNvCxnSpPr>
            <a:stCxn id="433" idx="4"/>
            <a:endCxn id="435" idx="7"/>
          </p:cNvCxnSpPr>
          <p:nvPr/>
        </p:nvCxnSpPr>
        <p:spPr>
          <a:xfrm flipH="1">
            <a:off x="15343800" y="6229350"/>
            <a:ext cx="2944200" cy="1353000"/>
          </a:xfrm>
          <a:prstGeom prst="straightConnector1">
            <a:avLst/>
          </a:prstGeom>
          <a:noFill/>
          <a:ln w="5715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8" name="Google Shape;438;p25"/>
          <p:cNvSpPr txBox="1"/>
          <p:nvPr/>
        </p:nvSpPr>
        <p:spPr>
          <a:xfrm>
            <a:off x="13753239" y="3548689"/>
            <a:ext cx="2209802" cy="461665"/>
          </a:xfrm>
          <a:prstGeom prst="rect">
            <a:avLst/>
          </a:prstGeom>
          <a:solidFill>
            <a:srgbClr val="E6E6FA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 panose="020B0604020202020204"/>
              <a:buNone/>
            </a:pPr>
            <a:r>
              <a:rPr lang="en-US" sz="2400" b="0" i="0" u="none" strike="noStrike" cap="none">
                <a:solidFill>
                  <a:srgbClr val="C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i_first</a:t>
            </a:r>
            <a:endParaRPr sz="2400" b="0" i="0" u="none" strike="noStrike" cap="none">
              <a:solidFill>
                <a:srgbClr val="C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39" name="Google Shape;439;p25"/>
          <p:cNvSpPr txBox="1"/>
          <p:nvPr/>
        </p:nvSpPr>
        <p:spPr>
          <a:xfrm>
            <a:off x="16858941" y="3820969"/>
            <a:ext cx="2209802" cy="461665"/>
          </a:xfrm>
          <a:prstGeom prst="rect">
            <a:avLst/>
          </a:prstGeom>
          <a:solidFill>
            <a:srgbClr val="E6E6FA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 panose="020B0604020202020204"/>
              <a:buNone/>
            </a:pPr>
            <a:r>
              <a:rPr lang="en-US" sz="2400" b="0" i="0" u="none" strike="noStrike" cap="none">
                <a:solidFill>
                  <a:srgbClr val="C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i_second</a:t>
            </a:r>
            <a:endParaRPr sz="2400" b="0" i="0" u="none" strike="noStrike" cap="none">
              <a:solidFill>
                <a:srgbClr val="C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Google Shape;445;p26" descr="struct.gif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703116" y="3432493"/>
            <a:ext cx="9002860" cy="357791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26"/>
          <p:cNvSpPr/>
          <p:nvPr/>
        </p:nvSpPr>
        <p:spPr>
          <a:xfrm>
            <a:off x="3992599" y="3352801"/>
            <a:ext cx="7740650" cy="8858250"/>
          </a:xfrm>
          <a:prstGeom prst="rect">
            <a:avLst/>
          </a:prstGeom>
          <a:solidFill>
            <a:srgbClr val="00BFFF">
              <a:alpha val="14509"/>
            </a:srgbClr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module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top (A, SEL, C, Y);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 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input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A, SEL, C;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 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output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Y;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 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wire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n1;  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endParaRPr sz="3200" b="0" i="0" u="none" strike="noStrike" cap="none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endParaRPr sz="3200" b="0" i="0" u="none" strike="noStrike" cap="none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endParaRPr sz="3200" b="0" i="0" u="none" strike="noStrike" cap="none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endParaRPr sz="3200" b="0" i="0" u="none" strike="noStrike" cap="none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endParaRPr sz="3200" b="0" i="0" u="none" strike="noStrike" cap="none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endParaRPr sz="3200" b="0" i="0" u="none" strike="noStrike" cap="none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endParaRPr sz="3200" b="0" i="0" u="none" strike="noStrike" cap="none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endParaRPr sz="3200" b="0" i="0" u="none" strike="noStrike" cap="none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endParaRPr sz="3200" b="0" i="0" u="none" strike="noStrike" cap="none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endParaRPr sz="3200" b="0" i="0" u="none" strike="noStrike" cap="none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endmodule</a:t>
            </a:r>
            <a:endParaRPr sz="3200" b="1" i="0" u="none" strike="noStrike" cap="none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endParaRPr sz="3200" b="0" i="0" u="none" strike="noStrike" cap="none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</p:txBody>
      </p:sp>
      <p:sp>
        <p:nvSpPr>
          <p:cNvPr id="447" name="Google Shape;447;p26"/>
          <p:cNvSpPr/>
          <p:nvPr/>
        </p:nvSpPr>
        <p:spPr>
          <a:xfrm>
            <a:off x="12465117" y="7620003"/>
            <a:ext cx="7740650" cy="4591050"/>
          </a:xfrm>
          <a:prstGeom prst="rect">
            <a:avLst/>
          </a:prstGeom>
          <a:solidFill>
            <a:schemeClr val="accent5">
              <a:alpha val="43529"/>
            </a:schemeClr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module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small (A, B, Y);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 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input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A;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 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input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B;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 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output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Y;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endParaRPr sz="3200" b="0" i="0" u="none" strike="noStrike" cap="none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B05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// description of small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endParaRPr sz="3200" b="0" i="0" u="none" strike="noStrike" cap="none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endmodule </a:t>
            </a:r>
            <a:endParaRPr sz="3200" b="1" i="0" u="none" strike="noStrike" cap="none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</p:txBody>
      </p:sp>
      <p:sp>
        <p:nvSpPr>
          <p:cNvPr id="448" name="Google Shape;448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/>
              <a:t>Structural HDL Example</a:t>
            </a:r>
          </a:p>
        </p:txBody>
      </p:sp>
      <p:sp>
        <p:nvSpPr>
          <p:cNvPr id="449" name="Google Shape;449;p2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5000"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600"/>
              <a:buChar char="•"/>
            </a:pPr>
            <a:r>
              <a:rPr lang="en-US" b="1">
                <a:solidFill>
                  <a:srgbClr val="C00000"/>
                </a:solidFill>
              </a:rPr>
              <a:t>Defining wires (module interconnections)</a:t>
            </a:r>
            <a:endParaRPr b="1">
              <a:solidFill>
                <a:srgbClr val="C00000"/>
              </a:solidFill>
            </a:endParaRPr>
          </a:p>
          <a:p>
            <a:pPr marL="457200" lvl="0" indent="-101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None/>
            </a:pPr>
            <a:endParaRPr b="1">
              <a:solidFill>
                <a:srgbClr val="C00000"/>
              </a:solidFill>
            </a:endParaRPr>
          </a:p>
        </p:txBody>
      </p:sp>
      <p:sp>
        <p:nvSpPr>
          <p:cNvPr id="450" name="Google Shape;450;p26"/>
          <p:cNvSpPr txBox="1">
            <a:spLocks noGrp="1"/>
          </p:cNvSpPr>
          <p:nvPr>
            <p:ph type="sldNum" idx="12"/>
          </p:nvPr>
        </p:nvSpPr>
        <p:spPr>
          <a:xfrm>
            <a:off x="72442" y="12962850"/>
            <a:ext cx="914033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fld id="{00000000-1234-1234-1234-123412341234}" type="slidenum">
              <a:rPr lang="en-US" sz="40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lang="en-US" sz="40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6"/>
          <p:cNvSpPr/>
          <p:nvPr/>
        </p:nvSpPr>
        <p:spPr>
          <a:xfrm>
            <a:off x="4267201" y="4878546"/>
            <a:ext cx="2253006" cy="685800"/>
          </a:xfrm>
          <a:prstGeom prst="ellipse">
            <a:avLst/>
          </a:prstGeom>
          <a:solidFill>
            <a:schemeClr val="accent1">
              <a:alpha val="0"/>
            </a:schemeClr>
          </a:solidFill>
          <a:ln w="5715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Verdana" panose="020B0604030504040204"/>
              <a:buNone/>
            </a:pPr>
            <a:endParaRPr sz="3600" b="0" i="0" u="none" strike="noStrike" cap="none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</p:txBody>
      </p:sp>
      <p:cxnSp>
        <p:nvCxnSpPr>
          <p:cNvPr id="452" name="Google Shape;452;p26"/>
          <p:cNvCxnSpPr>
            <a:stCxn id="451" idx="6"/>
            <a:endCxn id="453" idx="2"/>
          </p:cNvCxnSpPr>
          <p:nvPr/>
        </p:nvCxnSpPr>
        <p:spPr>
          <a:xfrm rot="10800000" flipH="1">
            <a:off x="6520207" y="4686246"/>
            <a:ext cx="9567900" cy="535200"/>
          </a:xfrm>
          <a:prstGeom prst="straightConnector1">
            <a:avLst/>
          </a:prstGeom>
          <a:noFill/>
          <a:ln w="5715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3" name="Google Shape;453;p26"/>
          <p:cNvSpPr/>
          <p:nvPr/>
        </p:nvSpPr>
        <p:spPr>
          <a:xfrm>
            <a:off x="16088227" y="4343400"/>
            <a:ext cx="795178" cy="685800"/>
          </a:xfrm>
          <a:prstGeom prst="ellipse">
            <a:avLst/>
          </a:prstGeom>
          <a:solidFill>
            <a:schemeClr val="accent1">
              <a:alpha val="0"/>
            </a:schemeClr>
          </a:solidFill>
          <a:ln w="5715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Verdana" panose="020B0604030504040204"/>
              <a:buNone/>
            </a:pPr>
            <a:endParaRPr sz="3600" b="0" i="0" u="none" strike="noStrike" cap="none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454" name="Google Shape;454;p26"/>
          <p:cNvSpPr txBox="1"/>
          <p:nvPr/>
        </p:nvSpPr>
        <p:spPr>
          <a:xfrm>
            <a:off x="13753239" y="3548689"/>
            <a:ext cx="2209802" cy="461665"/>
          </a:xfrm>
          <a:prstGeom prst="rect">
            <a:avLst/>
          </a:prstGeom>
          <a:solidFill>
            <a:srgbClr val="E6E6FA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 panose="020B0604020202020204"/>
              <a:buNone/>
            </a:pPr>
            <a:r>
              <a:rPr lang="en-US" sz="2400" b="0" i="0" u="none" strike="noStrike" cap="none">
                <a:solidFill>
                  <a:srgbClr val="C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i_first</a:t>
            </a:r>
            <a:endParaRPr sz="2400" b="0" i="0" u="none" strike="noStrike" cap="none">
              <a:solidFill>
                <a:srgbClr val="C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55" name="Google Shape;455;p26"/>
          <p:cNvSpPr txBox="1"/>
          <p:nvPr/>
        </p:nvSpPr>
        <p:spPr>
          <a:xfrm>
            <a:off x="16858941" y="3820969"/>
            <a:ext cx="2209802" cy="461665"/>
          </a:xfrm>
          <a:prstGeom prst="rect">
            <a:avLst/>
          </a:prstGeom>
          <a:solidFill>
            <a:srgbClr val="E6E6FA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 panose="020B0604020202020204"/>
              <a:buNone/>
            </a:pPr>
            <a:r>
              <a:rPr lang="en-US" sz="2400" b="0" i="0" u="none" strike="noStrike" cap="none">
                <a:solidFill>
                  <a:srgbClr val="C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i_second</a:t>
            </a:r>
            <a:endParaRPr sz="2400" b="0" i="0" u="none" strike="noStrike" cap="none">
              <a:solidFill>
                <a:srgbClr val="C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/>
              <a:t>Structural HDL Example</a:t>
            </a:r>
          </a:p>
        </p:txBody>
      </p:sp>
      <p:sp>
        <p:nvSpPr>
          <p:cNvPr id="462" name="Google Shape;462;p2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5600"/>
              <a:buChar char="•"/>
            </a:pPr>
            <a:r>
              <a:rPr lang="en-US" b="1">
                <a:solidFill>
                  <a:srgbClr val="00B050"/>
                </a:solidFill>
              </a:rPr>
              <a:t>The first instantiation of the “small” module</a:t>
            </a:r>
            <a:endParaRPr b="1">
              <a:solidFill>
                <a:srgbClr val="0000FF"/>
              </a:solidFill>
            </a:endParaRPr>
          </a:p>
          <a:p>
            <a:pPr marL="457200" lvl="0" indent="-101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None/>
            </a:pPr>
            <a:endParaRPr b="1">
              <a:solidFill>
                <a:srgbClr val="0000FF"/>
              </a:solidFill>
            </a:endParaRPr>
          </a:p>
        </p:txBody>
      </p:sp>
      <p:sp>
        <p:nvSpPr>
          <p:cNvPr id="463" name="Google Shape;463;p27"/>
          <p:cNvSpPr txBox="1">
            <a:spLocks noGrp="1"/>
          </p:cNvSpPr>
          <p:nvPr>
            <p:ph type="sldNum" idx="12"/>
          </p:nvPr>
        </p:nvSpPr>
        <p:spPr>
          <a:xfrm>
            <a:off x="72442" y="12962850"/>
            <a:ext cx="914033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fld id="{00000000-1234-1234-1234-123412341234}" type="slidenum">
              <a:rPr lang="en-US" sz="40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25</a:t>
            </a:fld>
            <a:endParaRPr lang="en-US" sz="40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4" name="Google Shape;464;p27" descr="struct.gif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703116" y="3432493"/>
            <a:ext cx="9002860" cy="357791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27"/>
          <p:cNvSpPr/>
          <p:nvPr/>
        </p:nvSpPr>
        <p:spPr>
          <a:xfrm>
            <a:off x="3992599" y="3352801"/>
            <a:ext cx="7740650" cy="8858250"/>
          </a:xfrm>
          <a:prstGeom prst="rect">
            <a:avLst/>
          </a:prstGeom>
          <a:solidFill>
            <a:srgbClr val="00BFFF">
              <a:alpha val="10588"/>
            </a:srgbClr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module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top (A, SEL, C, Y);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 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input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A, SEL, C;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 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output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Y;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 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wire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n1;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endParaRPr sz="3200" b="0" i="0" u="none" strike="noStrike" cap="none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920"/>
              <a:buFont typeface="Noto Sans Symbols"/>
              <a:buNone/>
            </a:pPr>
            <a:r>
              <a:rPr lang="en-US" sz="3200" b="1" i="0" u="none" strike="noStrike" cap="none">
                <a:solidFill>
                  <a:srgbClr val="00B05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// instantiate small once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small i_first ( .A(A),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               .B(SEL),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               .Y(n1)   );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endParaRPr sz="3200" b="0" i="0" u="none" strike="noStrike" cap="none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endParaRPr sz="3200" b="0" i="0" u="none" strike="noStrike" cap="none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endParaRPr sz="3200" b="0" i="0" u="none" strike="noStrike" cap="none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endParaRPr sz="3200" b="0" i="0" u="none" strike="noStrike" cap="none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endmodule</a:t>
            </a:r>
            <a:endParaRPr sz="3200" b="1" i="0" u="none" strike="noStrike" cap="none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endParaRPr sz="3200" b="0" i="0" u="none" strike="noStrike" cap="none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</p:txBody>
      </p:sp>
      <p:sp>
        <p:nvSpPr>
          <p:cNvPr id="466" name="Google Shape;466;p27"/>
          <p:cNvSpPr/>
          <p:nvPr/>
        </p:nvSpPr>
        <p:spPr>
          <a:xfrm>
            <a:off x="12465117" y="7620003"/>
            <a:ext cx="7740650" cy="4591050"/>
          </a:xfrm>
          <a:prstGeom prst="rect">
            <a:avLst/>
          </a:prstGeom>
          <a:solidFill>
            <a:schemeClr val="accent5">
              <a:alpha val="30588"/>
            </a:schemeClr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module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small (A, B, Y);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 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input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A;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 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input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B;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 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output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Y;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endParaRPr sz="3200" b="0" i="0" u="none" strike="noStrike" cap="none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B05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// description of small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endParaRPr sz="3200" b="0" i="0" u="none" strike="noStrike" cap="none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endmodule </a:t>
            </a:r>
            <a:endParaRPr sz="3200" b="1" i="0" u="none" strike="noStrike" cap="none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</p:txBody>
      </p:sp>
      <p:sp>
        <p:nvSpPr>
          <p:cNvPr id="467" name="Google Shape;467;p27"/>
          <p:cNvSpPr/>
          <p:nvPr/>
        </p:nvSpPr>
        <p:spPr>
          <a:xfrm>
            <a:off x="3493940" y="5638800"/>
            <a:ext cx="7315200" cy="2724150"/>
          </a:xfrm>
          <a:prstGeom prst="ellipse">
            <a:avLst/>
          </a:prstGeom>
          <a:solidFill>
            <a:schemeClr val="accent1">
              <a:alpha val="0"/>
            </a:schemeClr>
          </a:solidFill>
          <a:ln w="5715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Verdana" panose="020B0604030504040204"/>
              <a:buNone/>
            </a:pPr>
            <a:endParaRPr sz="3600" b="0" i="0" u="none" strike="noStrike" cap="none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</p:txBody>
      </p:sp>
      <p:cxnSp>
        <p:nvCxnSpPr>
          <p:cNvPr id="468" name="Google Shape;468;p27"/>
          <p:cNvCxnSpPr>
            <a:stCxn id="467" idx="7"/>
            <a:endCxn id="469" idx="2"/>
          </p:cNvCxnSpPr>
          <p:nvPr/>
        </p:nvCxnSpPr>
        <p:spPr>
          <a:xfrm rot="10800000" flipH="1">
            <a:off x="9737854" y="4553043"/>
            <a:ext cx="3825600" cy="1484700"/>
          </a:xfrm>
          <a:prstGeom prst="straightConnector1">
            <a:avLst/>
          </a:prstGeom>
          <a:noFill/>
          <a:ln w="5715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0" name="Google Shape;470;p27"/>
          <p:cNvSpPr/>
          <p:nvPr/>
        </p:nvSpPr>
        <p:spPr>
          <a:xfrm>
            <a:off x="11887200" y="6838950"/>
            <a:ext cx="6858000" cy="3048000"/>
          </a:xfrm>
          <a:prstGeom prst="ellipse">
            <a:avLst/>
          </a:prstGeom>
          <a:solidFill>
            <a:schemeClr val="accent1">
              <a:alpha val="0"/>
            </a:schemeClr>
          </a:solidFill>
          <a:ln w="5715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Verdana" panose="020B0604030504040204"/>
              <a:buNone/>
            </a:pPr>
            <a:endParaRPr sz="3600" b="0" i="0" u="none" strike="noStrike" cap="none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</p:txBody>
      </p:sp>
      <p:cxnSp>
        <p:nvCxnSpPr>
          <p:cNvPr id="471" name="Google Shape;471;p27"/>
          <p:cNvCxnSpPr>
            <a:stCxn id="467" idx="5"/>
            <a:endCxn id="470" idx="2"/>
          </p:cNvCxnSpPr>
          <p:nvPr/>
        </p:nvCxnSpPr>
        <p:spPr>
          <a:xfrm>
            <a:off x="9737854" y="7964007"/>
            <a:ext cx="2149200" cy="399000"/>
          </a:xfrm>
          <a:prstGeom prst="straightConnector1">
            <a:avLst/>
          </a:prstGeom>
          <a:noFill/>
          <a:ln w="5715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2" name="Google Shape;472;p27"/>
          <p:cNvSpPr txBox="1"/>
          <p:nvPr/>
        </p:nvSpPr>
        <p:spPr>
          <a:xfrm>
            <a:off x="13753239" y="3548689"/>
            <a:ext cx="2209802" cy="461665"/>
          </a:xfrm>
          <a:prstGeom prst="rect">
            <a:avLst/>
          </a:prstGeom>
          <a:solidFill>
            <a:srgbClr val="E6E6FA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 panose="020B0604020202020204"/>
              <a:buNone/>
            </a:pPr>
            <a:r>
              <a:rPr lang="en-US" sz="2400" b="0" i="0" u="none" strike="noStrike" cap="none">
                <a:solidFill>
                  <a:srgbClr val="C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i_first</a:t>
            </a:r>
            <a:endParaRPr sz="2400" b="0" i="0" u="none" strike="noStrike" cap="none">
              <a:solidFill>
                <a:srgbClr val="C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73" name="Google Shape;473;p27"/>
          <p:cNvSpPr txBox="1"/>
          <p:nvPr/>
        </p:nvSpPr>
        <p:spPr>
          <a:xfrm>
            <a:off x="16858941" y="3820969"/>
            <a:ext cx="2209802" cy="461665"/>
          </a:xfrm>
          <a:prstGeom prst="rect">
            <a:avLst/>
          </a:prstGeom>
          <a:solidFill>
            <a:srgbClr val="E6E6FA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 panose="020B0604020202020204"/>
              <a:buNone/>
            </a:pPr>
            <a:r>
              <a:rPr lang="en-US" sz="2400" b="0" i="0" u="none" strike="noStrike" cap="none">
                <a:solidFill>
                  <a:srgbClr val="C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i_second</a:t>
            </a:r>
            <a:endParaRPr sz="2400" b="0" i="0" u="none" strike="noStrike" cap="none">
              <a:solidFill>
                <a:srgbClr val="C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69" name="Google Shape;469;p27"/>
          <p:cNvSpPr/>
          <p:nvPr/>
        </p:nvSpPr>
        <p:spPr>
          <a:xfrm>
            <a:off x="13563600" y="3181350"/>
            <a:ext cx="2590800" cy="2743200"/>
          </a:xfrm>
          <a:prstGeom prst="ellipse">
            <a:avLst/>
          </a:prstGeom>
          <a:solidFill>
            <a:schemeClr val="accent1">
              <a:alpha val="0"/>
            </a:schemeClr>
          </a:solidFill>
          <a:ln w="5715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Verdana" panose="020B0604030504040204"/>
              <a:buNone/>
            </a:pPr>
            <a:endParaRPr sz="3600" b="0" i="0" u="none" strike="noStrike" cap="none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/>
              <a:t>Structural HDL Example</a:t>
            </a:r>
          </a:p>
        </p:txBody>
      </p:sp>
      <p:sp>
        <p:nvSpPr>
          <p:cNvPr id="480" name="Google Shape;480;p2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5600"/>
              <a:buChar char="•"/>
            </a:pPr>
            <a:r>
              <a:rPr lang="en-US" b="1">
                <a:solidFill>
                  <a:srgbClr val="00B050"/>
                </a:solidFill>
              </a:rPr>
              <a:t>The second instantiation of the “small” module</a:t>
            </a:r>
            <a:endParaRPr b="1">
              <a:solidFill>
                <a:srgbClr val="0000FF"/>
              </a:solidFill>
            </a:endParaRPr>
          </a:p>
          <a:p>
            <a:pPr marL="457200" lvl="0" indent="-101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None/>
            </a:pPr>
            <a:endParaRPr b="1">
              <a:solidFill>
                <a:srgbClr val="0000FF"/>
              </a:solidFill>
            </a:endParaRPr>
          </a:p>
        </p:txBody>
      </p:sp>
      <p:sp>
        <p:nvSpPr>
          <p:cNvPr id="481" name="Google Shape;481;p28"/>
          <p:cNvSpPr txBox="1">
            <a:spLocks noGrp="1"/>
          </p:cNvSpPr>
          <p:nvPr>
            <p:ph type="sldNum" idx="12"/>
          </p:nvPr>
        </p:nvSpPr>
        <p:spPr>
          <a:xfrm>
            <a:off x="72442" y="12962850"/>
            <a:ext cx="914033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fld id="{00000000-1234-1234-1234-123412341234}" type="slidenum">
              <a:rPr lang="en-US" sz="40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26</a:t>
            </a:fld>
            <a:endParaRPr lang="en-US" sz="40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2" name="Google Shape;482;p28" descr="struct.gif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703116" y="3432493"/>
            <a:ext cx="9002860" cy="357791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28"/>
          <p:cNvSpPr/>
          <p:nvPr/>
        </p:nvSpPr>
        <p:spPr>
          <a:xfrm>
            <a:off x="3992599" y="3352801"/>
            <a:ext cx="7740650" cy="8858250"/>
          </a:xfrm>
          <a:prstGeom prst="rect">
            <a:avLst/>
          </a:prstGeom>
          <a:solidFill>
            <a:srgbClr val="00BFFF">
              <a:alpha val="12549"/>
            </a:srgbClr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module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top (A, SEL, C, Y);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 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input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A, SEL, C;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 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output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Y;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 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wire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n1;  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endParaRPr sz="3200" b="0" i="0" u="none" strike="noStrike" cap="none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B05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// instantiate small once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small i_first ( .A(A),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               .B(SEL),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               .Y(n1)   );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endParaRPr sz="3200" b="0" i="0" u="none" strike="noStrike" cap="none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920"/>
              <a:buFont typeface="Noto Sans Symbols"/>
              <a:buNone/>
            </a:pPr>
            <a:r>
              <a:rPr lang="en-US" sz="3200" b="1" i="0" u="none" strike="noStrike" cap="none">
                <a:solidFill>
                  <a:srgbClr val="00B05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// instantiate small second time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small i_second ( .A(n1),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          .B(C),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          .Y(Y) );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endParaRPr sz="3200" b="0" i="0" u="none" strike="noStrike" cap="none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endmodule</a:t>
            </a:r>
            <a:endParaRPr sz="3200" b="1" i="0" u="none" strike="noStrike" cap="none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</p:txBody>
      </p:sp>
      <p:sp>
        <p:nvSpPr>
          <p:cNvPr id="484" name="Google Shape;484;p28"/>
          <p:cNvSpPr/>
          <p:nvPr/>
        </p:nvSpPr>
        <p:spPr>
          <a:xfrm>
            <a:off x="12465117" y="7620003"/>
            <a:ext cx="7740650" cy="4591050"/>
          </a:xfrm>
          <a:prstGeom prst="rect">
            <a:avLst/>
          </a:prstGeom>
          <a:solidFill>
            <a:schemeClr val="accent5">
              <a:alpha val="43529"/>
            </a:schemeClr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module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small (A, B, Y);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 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input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A;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 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input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B;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 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output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Y;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endParaRPr sz="3200" b="0" i="0" u="none" strike="noStrike" cap="none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B05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// description of small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endParaRPr sz="3200" b="0" i="0" u="none" strike="noStrike" cap="none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endmodule </a:t>
            </a:r>
            <a:endParaRPr sz="3200" b="1" i="0" u="none" strike="noStrike" cap="none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</p:txBody>
      </p:sp>
      <p:sp>
        <p:nvSpPr>
          <p:cNvPr id="485" name="Google Shape;485;p28"/>
          <p:cNvSpPr/>
          <p:nvPr/>
        </p:nvSpPr>
        <p:spPr>
          <a:xfrm>
            <a:off x="3695194" y="7726850"/>
            <a:ext cx="8074956" cy="2991876"/>
          </a:xfrm>
          <a:prstGeom prst="ellipse">
            <a:avLst/>
          </a:prstGeom>
          <a:solidFill>
            <a:schemeClr val="accent1">
              <a:alpha val="0"/>
            </a:schemeClr>
          </a:solidFill>
          <a:ln w="5715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Verdana" panose="020B0604030504040204"/>
              <a:buNone/>
            </a:pPr>
            <a:endParaRPr sz="3600" b="0" i="0" u="none" strike="noStrike" cap="none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</p:txBody>
      </p:sp>
      <p:cxnSp>
        <p:nvCxnSpPr>
          <p:cNvPr id="486" name="Google Shape;486;p28"/>
          <p:cNvCxnSpPr>
            <a:stCxn id="485" idx="7"/>
            <a:endCxn id="487" idx="2"/>
          </p:cNvCxnSpPr>
          <p:nvPr/>
        </p:nvCxnSpPr>
        <p:spPr>
          <a:xfrm rot="10800000" flipH="1">
            <a:off x="10587600" y="5162600"/>
            <a:ext cx="6100200" cy="3002400"/>
          </a:xfrm>
          <a:prstGeom prst="straightConnector1">
            <a:avLst/>
          </a:prstGeom>
          <a:noFill/>
          <a:ln w="5715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8" name="Google Shape;488;p28"/>
          <p:cNvSpPr/>
          <p:nvPr/>
        </p:nvSpPr>
        <p:spPr>
          <a:xfrm>
            <a:off x="11811000" y="7143750"/>
            <a:ext cx="6858000" cy="3048000"/>
          </a:xfrm>
          <a:prstGeom prst="ellipse">
            <a:avLst/>
          </a:prstGeom>
          <a:solidFill>
            <a:schemeClr val="accent1">
              <a:alpha val="0"/>
            </a:schemeClr>
          </a:solidFill>
          <a:ln w="5715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Verdana" panose="020B0604030504040204"/>
              <a:buNone/>
            </a:pPr>
            <a:endParaRPr sz="3600" b="0" i="0" u="none" strike="noStrike" cap="none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</p:txBody>
      </p:sp>
      <p:cxnSp>
        <p:nvCxnSpPr>
          <p:cNvPr id="489" name="Google Shape;489;p28"/>
          <p:cNvCxnSpPr>
            <a:stCxn id="485" idx="6"/>
            <a:endCxn id="488" idx="2"/>
          </p:cNvCxnSpPr>
          <p:nvPr/>
        </p:nvCxnSpPr>
        <p:spPr>
          <a:xfrm rot="10800000" flipH="1">
            <a:off x="11770150" y="8667788"/>
            <a:ext cx="40800" cy="555000"/>
          </a:xfrm>
          <a:prstGeom prst="straightConnector1">
            <a:avLst/>
          </a:prstGeom>
          <a:noFill/>
          <a:ln w="5715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90" name="Google Shape;490;p28"/>
          <p:cNvSpPr txBox="1"/>
          <p:nvPr/>
        </p:nvSpPr>
        <p:spPr>
          <a:xfrm>
            <a:off x="13753239" y="3548689"/>
            <a:ext cx="2209802" cy="461665"/>
          </a:xfrm>
          <a:prstGeom prst="rect">
            <a:avLst/>
          </a:prstGeom>
          <a:solidFill>
            <a:srgbClr val="E6E6FA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 panose="020B0604020202020204"/>
              <a:buNone/>
            </a:pPr>
            <a:r>
              <a:rPr lang="en-US" sz="2400" b="0" i="0" u="none" strike="noStrike" cap="none">
                <a:solidFill>
                  <a:srgbClr val="C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i_first</a:t>
            </a:r>
            <a:endParaRPr sz="2400" b="0" i="0" u="none" strike="noStrike" cap="none">
              <a:solidFill>
                <a:srgbClr val="C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91" name="Google Shape;491;p28"/>
          <p:cNvSpPr txBox="1"/>
          <p:nvPr/>
        </p:nvSpPr>
        <p:spPr>
          <a:xfrm>
            <a:off x="16858941" y="3820969"/>
            <a:ext cx="2209802" cy="461665"/>
          </a:xfrm>
          <a:prstGeom prst="rect">
            <a:avLst/>
          </a:prstGeom>
          <a:solidFill>
            <a:srgbClr val="E6E6FA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 panose="020B0604020202020204"/>
              <a:buNone/>
            </a:pPr>
            <a:r>
              <a:rPr lang="en-US" sz="2400" b="0" i="0" u="none" strike="noStrike" cap="none">
                <a:solidFill>
                  <a:srgbClr val="C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i_second</a:t>
            </a:r>
            <a:endParaRPr sz="2400" b="0" i="0" u="none" strike="noStrike" cap="none">
              <a:solidFill>
                <a:srgbClr val="C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87" name="Google Shape;487;p28"/>
          <p:cNvSpPr/>
          <p:nvPr/>
        </p:nvSpPr>
        <p:spPr>
          <a:xfrm>
            <a:off x="16687800" y="3790950"/>
            <a:ext cx="2590800" cy="2743200"/>
          </a:xfrm>
          <a:prstGeom prst="ellipse">
            <a:avLst/>
          </a:prstGeom>
          <a:solidFill>
            <a:schemeClr val="accent1">
              <a:alpha val="0"/>
            </a:schemeClr>
          </a:solidFill>
          <a:ln w="5715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Verdana" panose="020B0604030504040204"/>
              <a:buNone/>
            </a:pPr>
            <a:endParaRPr sz="3600" b="0" i="0" u="none" strike="noStrike" cap="none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9"/>
          <p:cNvSpPr/>
          <p:nvPr/>
        </p:nvSpPr>
        <p:spPr>
          <a:xfrm>
            <a:off x="2520" y="1613445"/>
            <a:ext cx="24384000" cy="1728000"/>
          </a:xfrm>
          <a:prstGeom prst="rect">
            <a:avLst/>
          </a:prstGeom>
          <a:solidFill>
            <a:srgbClr val="98CD06">
              <a:alpha val="52549"/>
            </a:srgbClr>
          </a:solidFill>
          <a:ln>
            <a:noFill/>
          </a:ln>
        </p:spPr>
        <p:txBody>
          <a:bodyPr spcFirstLastPara="1" wrap="square" lIns="71425" tIns="71425" rIns="71425" bIns="714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 panose="020B0604020202020204"/>
              <a:buNone/>
            </a:pPr>
            <a:endParaRPr sz="30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98" name="Google Shape;498;p2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/>
              <a:t>Structural HDL Example</a:t>
            </a:r>
          </a:p>
        </p:txBody>
      </p:sp>
      <p:sp>
        <p:nvSpPr>
          <p:cNvPr id="499" name="Google Shape;499;p2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79375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6B"/>
              </a:buClr>
              <a:buSzPts val="5400"/>
              <a:buNone/>
            </a:pPr>
            <a:r>
              <a:rPr lang="en-US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Short form is not good practice as </a:t>
            </a:r>
            <a:r>
              <a:rPr lang="en-US" sz="5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it reduces code maintainability</a:t>
            </a:r>
          </a:p>
          <a:p>
            <a:pPr marL="457200" lvl="0" indent="-101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9"/>
          <p:cNvSpPr txBox="1">
            <a:spLocks noGrp="1"/>
          </p:cNvSpPr>
          <p:nvPr>
            <p:ph type="sldNum" idx="12"/>
          </p:nvPr>
        </p:nvSpPr>
        <p:spPr>
          <a:xfrm>
            <a:off x="72442" y="12962850"/>
            <a:ext cx="914033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fld id="{00000000-1234-1234-1234-123412341234}" type="slidenum">
              <a:rPr lang="en-US" sz="40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27</a:t>
            </a:fld>
            <a:endParaRPr lang="en-US" sz="40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1" name="Google Shape;501;p29" descr="struct.gif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703116" y="3432493"/>
            <a:ext cx="9002860" cy="3577910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29"/>
          <p:cNvSpPr/>
          <p:nvPr/>
        </p:nvSpPr>
        <p:spPr>
          <a:xfrm>
            <a:off x="3992599" y="3352801"/>
            <a:ext cx="7740650" cy="8858250"/>
          </a:xfrm>
          <a:prstGeom prst="rect">
            <a:avLst/>
          </a:prstGeom>
          <a:solidFill>
            <a:srgbClr val="00B0F0">
              <a:alpha val="16470"/>
            </a:srgbClr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module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top (A, SEL, C, Y);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 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input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A, SEL, C;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 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output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Y;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 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wire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n1;  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endParaRPr sz="3200" b="0" i="0" u="none" strike="noStrike" cap="none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B05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// alternative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small i_first ( A, SEL, n1 );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endParaRPr sz="3200" b="0" i="0" u="none" strike="noStrike" cap="none">
              <a:solidFill>
                <a:srgbClr val="FFFFFF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B05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/* Shorter instantiation,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B05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  </a:t>
            </a:r>
            <a:r>
              <a:rPr lang="en-US" sz="3200" b="1" i="0" u="none" strike="noStrike" cap="none">
                <a:solidFill>
                  <a:srgbClr val="00B05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pin order very important</a:t>
            </a:r>
            <a:r>
              <a:rPr lang="en-US" sz="3200" b="0" i="0" u="none" strike="noStrike" cap="none">
                <a:solidFill>
                  <a:srgbClr val="00B05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*/ 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endParaRPr sz="3200" b="0" i="0" u="none" strike="noStrike" cap="none">
              <a:solidFill>
                <a:srgbClr val="00B05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B05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// any pin order, safer choice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small i_second ( .B(C),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          .Y(Y),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          .A(n1) );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endParaRPr sz="3200" b="0" i="0" u="none" strike="noStrike" cap="none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endmodule</a:t>
            </a:r>
            <a:endParaRPr sz="3200" b="1" i="0" u="none" strike="noStrike" cap="none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</p:txBody>
      </p:sp>
      <p:sp>
        <p:nvSpPr>
          <p:cNvPr id="503" name="Google Shape;503;p29"/>
          <p:cNvSpPr/>
          <p:nvPr/>
        </p:nvSpPr>
        <p:spPr>
          <a:xfrm>
            <a:off x="12465117" y="7620003"/>
            <a:ext cx="7740650" cy="4591050"/>
          </a:xfrm>
          <a:prstGeom prst="rect">
            <a:avLst/>
          </a:prstGeom>
          <a:solidFill>
            <a:schemeClr val="accent5">
              <a:alpha val="38431"/>
            </a:schemeClr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module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small (A, B, Y);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 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input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A;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 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input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B;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 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output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Y;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endParaRPr sz="3200" b="0" i="0" u="none" strike="noStrike" cap="none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B05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// description of small</a:t>
            </a:r>
            <a:endParaRPr sz="1400" b="0" i="0" u="none" strike="noStrike" cap="none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endParaRPr sz="3200" b="0" i="0" u="none" strike="noStrike" cap="none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endmodule </a:t>
            </a:r>
            <a:endParaRPr sz="3200" b="1" i="0" u="none" strike="noStrike" cap="none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</p:txBody>
      </p:sp>
      <p:sp>
        <p:nvSpPr>
          <p:cNvPr id="504" name="Google Shape;504;p29"/>
          <p:cNvSpPr txBox="1"/>
          <p:nvPr/>
        </p:nvSpPr>
        <p:spPr>
          <a:xfrm>
            <a:off x="13753239" y="3548689"/>
            <a:ext cx="2209802" cy="461665"/>
          </a:xfrm>
          <a:prstGeom prst="rect">
            <a:avLst/>
          </a:prstGeom>
          <a:solidFill>
            <a:srgbClr val="E6E6FA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 panose="020B0604020202020204"/>
              <a:buNone/>
            </a:pPr>
            <a:r>
              <a:rPr lang="en-US" sz="2400" b="0" i="0" u="none" strike="noStrike" cap="none">
                <a:solidFill>
                  <a:srgbClr val="C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i_first</a:t>
            </a:r>
            <a:endParaRPr sz="2400" b="0" i="0" u="none" strike="noStrike" cap="none">
              <a:solidFill>
                <a:srgbClr val="C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05" name="Google Shape;505;p29"/>
          <p:cNvSpPr txBox="1"/>
          <p:nvPr/>
        </p:nvSpPr>
        <p:spPr>
          <a:xfrm>
            <a:off x="16858941" y="3820969"/>
            <a:ext cx="2209802" cy="461665"/>
          </a:xfrm>
          <a:prstGeom prst="rect">
            <a:avLst/>
          </a:prstGeom>
          <a:solidFill>
            <a:srgbClr val="E6E6FA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 panose="020B0604020202020204"/>
              <a:buNone/>
            </a:pPr>
            <a:r>
              <a:rPr lang="en-US" sz="2400" b="0" i="0" u="none" strike="noStrike" cap="none">
                <a:solidFill>
                  <a:srgbClr val="C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i_second</a:t>
            </a:r>
            <a:endParaRPr sz="2400" b="0" i="0" u="none" strike="noStrike" cap="none">
              <a:solidFill>
                <a:srgbClr val="C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/>
              <a:t>Behavioral HDL: Defining Functionality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1E5FB73-E8C5-7A7E-0644-AD86437E9F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532" name="Google Shape;532;p3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fld id="{00000000-1234-1234-1234-123412341234}" type="slidenum">
              <a:rPr lang="en-US" sz="48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28</a:t>
            </a:fld>
            <a:endParaRPr sz="48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32"/>
          <p:cNvSpPr/>
          <p:nvPr/>
        </p:nvSpPr>
        <p:spPr>
          <a:xfrm>
            <a:off x="2098312" y="6977256"/>
            <a:ext cx="19791317" cy="5855134"/>
          </a:xfrm>
          <a:prstGeom prst="rect">
            <a:avLst/>
          </a:prstGeom>
          <a:solidFill>
            <a:srgbClr val="00BFFF">
              <a:alpha val="15294"/>
            </a:srgbClr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module 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example (a, b, c, y);</a:t>
            </a:r>
            <a:endParaRPr sz="1400" b="0" i="0" u="none" strike="noStrike" cap="none" dirty="0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	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input 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a;</a:t>
            </a:r>
            <a:endParaRPr sz="1400" b="0" i="0" u="none" strike="noStrike" cap="none" dirty="0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	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input 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b; </a:t>
            </a:r>
            <a:endParaRPr sz="1400" b="0" i="0" u="none" strike="noStrike" cap="none" dirty="0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	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input 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c;</a:t>
            </a:r>
            <a:endParaRPr sz="1400" b="0" i="0" u="none" strike="noStrike" cap="none" dirty="0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	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output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y;</a:t>
            </a:r>
            <a:endParaRPr sz="1400" b="0" i="0" u="none" strike="noStrike" cap="none" dirty="0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 dirty="0">
                <a:solidFill>
                  <a:srgbClr val="00B05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// here comes the circuit description</a:t>
            </a:r>
            <a:endParaRPr sz="1400" b="0" i="0" u="none" strike="noStrike" cap="none" dirty="0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assign 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y = 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~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a 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&amp; ~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b 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&amp; ~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c 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|</a:t>
            </a:r>
            <a:endParaRPr sz="1400" b="0" i="0" u="none" strike="noStrike" cap="none" dirty="0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           a 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&amp; ~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b 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&amp; ~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c 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|</a:t>
            </a:r>
            <a:endParaRPr sz="1400" b="0" i="0" u="none" strike="noStrike" cap="none" dirty="0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            a 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&amp; ~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b 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&amp;  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c;   </a:t>
            </a:r>
            <a:endParaRPr sz="1400" b="0" i="0" u="none" strike="noStrike" cap="none" dirty="0">
              <a:solidFill>
                <a:srgbClr val="000000"/>
              </a:solidFill>
              <a:latin typeface="Courier New" panose="02070309020205020404" charset="0"/>
              <a:ea typeface="Arial" panose="020B0604020202020204"/>
              <a:cs typeface="Courier New" panose="02070309020205020404" charset="0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 Symbols"/>
              <a:buNone/>
            </a:pPr>
            <a:r>
              <a:rPr lang="en-US" sz="3200" b="1" i="0" u="none" strike="noStrike" cap="none" dirty="0" err="1">
                <a:solidFill>
                  <a:srgbClr val="000000"/>
                </a:solidFill>
                <a:latin typeface="Courier New" panose="02070309020205020404" charset="0"/>
                <a:ea typeface="Consolas"/>
                <a:cs typeface="Courier New" panose="02070309020205020404" charset="0"/>
                <a:sym typeface="Consolas"/>
              </a:rPr>
              <a:t>endmodule</a:t>
            </a:r>
            <a:endParaRPr sz="3200" b="1" i="0" u="none" strike="noStrike" cap="none" dirty="0">
              <a:solidFill>
                <a:srgbClr val="000000"/>
              </a:solidFill>
              <a:latin typeface="Courier New" panose="02070309020205020404" charset="0"/>
              <a:ea typeface="Consolas"/>
              <a:cs typeface="Courier New" panose="02070309020205020404" charset="0"/>
              <a:sym typeface="Consolas"/>
            </a:endParaRPr>
          </a:p>
        </p:txBody>
      </p:sp>
      <p:grpSp>
        <p:nvGrpSpPr>
          <p:cNvPr id="534" name="Google Shape;534;p32"/>
          <p:cNvGrpSpPr/>
          <p:nvPr/>
        </p:nvGrpSpPr>
        <p:grpSpPr>
          <a:xfrm>
            <a:off x="7473848" y="1783450"/>
            <a:ext cx="12376071" cy="4603579"/>
            <a:chOff x="7675849" y="1578980"/>
            <a:chExt cx="15140123" cy="5824190"/>
          </a:xfrm>
        </p:grpSpPr>
        <p:sp>
          <p:nvSpPr>
            <p:cNvPr id="535" name="Google Shape;535;p32"/>
            <p:cNvSpPr/>
            <p:nvPr/>
          </p:nvSpPr>
          <p:spPr>
            <a:xfrm>
              <a:off x="11748766" y="1578980"/>
              <a:ext cx="1638188" cy="1343792"/>
            </a:xfrm>
            <a:prstGeom prst="flowChartDelay">
              <a:avLst/>
            </a:prstGeom>
            <a:solidFill>
              <a:srgbClr val="FFFFFF"/>
            </a:solidFill>
            <a:ln w="762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Tahoma"/>
                <a:buNone/>
              </a:pPr>
              <a:r>
                <a:rPr lang="en-US" sz="3200" b="0" i="0" u="none" strike="noStrike" cap="non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AND</a:t>
              </a:r>
            </a:p>
          </p:txBody>
        </p:sp>
        <p:sp>
          <p:nvSpPr>
            <p:cNvPr id="537" name="Google Shape;537;p32"/>
            <p:cNvSpPr/>
            <p:nvPr/>
          </p:nvSpPr>
          <p:spPr>
            <a:xfrm>
              <a:off x="20682372" y="3906065"/>
              <a:ext cx="2133600" cy="762000"/>
            </a:xfrm>
            <a:prstGeom prst="homePlate">
              <a:avLst>
                <a:gd name="adj" fmla="val 87333"/>
              </a:avLst>
            </a:prstGeom>
            <a:solidFill>
              <a:srgbClr val="FFFFFF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Tahoma"/>
                <a:buNone/>
              </a:pPr>
              <a:r>
                <a:rPr lang="en-US" sz="3600" b="0" i="0" u="none" strike="noStrike" cap="non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y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40" name="Google Shape;540;p32"/>
            <p:cNvSpPr/>
            <p:nvPr/>
          </p:nvSpPr>
          <p:spPr>
            <a:xfrm>
              <a:off x="11382148" y="1620890"/>
              <a:ext cx="304800" cy="304800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rial" panose="020B0604020202020204"/>
                <a:buNone/>
              </a:pPr>
              <a:endParaRPr sz="3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41" name="Google Shape;541;p32"/>
            <p:cNvSpPr/>
            <p:nvPr/>
          </p:nvSpPr>
          <p:spPr>
            <a:xfrm>
              <a:off x="11375386" y="2144930"/>
              <a:ext cx="304800" cy="304800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rial" panose="020B0604020202020204"/>
                <a:buNone/>
              </a:pPr>
              <a:endParaRPr sz="3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42" name="Google Shape;542;p32"/>
            <p:cNvSpPr/>
            <p:nvPr/>
          </p:nvSpPr>
          <p:spPr>
            <a:xfrm>
              <a:off x="11375386" y="2603870"/>
              <a:ext cx="304800" cy="304800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rial" panose="020B0604020202020204"/>
                <a:buNone/>
              </a:pPr>
              <a:endParaRPr sz="3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43" name="Google Shape;543;p32"/>
            <p:cNvSpPr/>
            <p:nvPr/>
          </p:nvSpPr>
          <p:spPr>
            <a:xfrm>
              <a:off x="11809726" y="3707030"/>
              <a:ext cx="1638188" cy="1343792"/>
            </a:xfrm>
            <a:prstGeom prst="flowChartDelay">
              <a:avLst/>
            </a:prstGeom>
            <a:solidFill>
              <a:srgbClr val="FFFFFF"/>
            </a:solidFill>
            <a:ln w="762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Tahoma"/>
                <a:buNone/>
              </a:pPr>
              <a:r>
                <a:rPr lang="en-US" sz="3200" b="0" i="0" u="none" strike="noStrike" cap="non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AND</a:t>
              </a:r>
            </a:p>
          </p:txBody>
        </p:sp>
        <p:sp>
          <p:nvSpPr>
            <p:cNvPr id="544" name="Google Shape;544;p32"/>
            <p:cNvSpPr/>
            <p:nvPr/>
          </p:nvSpPr>
          <p:spPr>
            <a:xfrm>
              <a:off x="11436346" y="4272980"/>
              <a:ext cx="304800" cy="304800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rial" panose="020B0604020202020204"/>
                <a:buNone/>
              </a:pPr>
              <a:endParaRPr sz="3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45" name="Google Shape;545;p32"/>
            <p:cNvSpPr/>
            <p:nvPr/>
          </p:nvSpPr>
          <p:spPr>
            <a:xfrm>
              <a:off x="11436346" y="4731920"/>
              <a:ext cx="304800" cy="304800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rial" panose="020B0604020202020204"/>
                <a:buNone/>
              </a:pPr>
              <a:endParaRPr sz="3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46" name="Google Shape;546;p32"/>
            <p:cNvSpPr/>
            <p:nvPr/>
          </p:nvSpPr>
          <p:spPr>
            <a:xfrm>
              <a:off x="11809726" y="5993030"/>
              <a:ext cx="1638188" cy="1343792"/>
            </a:xfrm>
            <a:prstGeom prst="flowChartDelay">
              <a:avLst/>
            </a:prstGeom>
            <a:solidFill>
              <a:srgbClr val="FFFFFF"/>
            </a:solidFill>
            <a:ln w="762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Tahoma"/>
                <a:buNone/>
              </a:pPr>
              <a:r>
                <a:rPr lang="en-US" sz="3200" b="0" i="0" u="none" strike="noStrike" cap="non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AND</a:t>
              </a:r>
            </a:p>
          </p:txBody>
        </p:sp>
        <p:sp>
          <p:nvSpPr>
            <p:cNvPr id="547" name="Google Shape;547;p32"/>
            <p:cNvSpPr/>
            <p:nvPr/>
          </p:nvSpPr>
          <p:spPr>
            <a:xfrm>
              <a:off x="11436346" y="6558980"/>
              <a:ext cx="304800" cy="304800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rial" panose="020B0604020202020204"/>
                <a:buNone/>
              </a:pPr>
              <a:endParaRPr sz="3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54" name="Google Shape;554;p32"/>
            <p:cNvSpPr/>
            <p:nvPr/>
          </p:nvSpPr>
          <p:spPr>
            <a:xfrm>
              <a:off x="8174639" y="2228475"/>
              <a:ext cx="140208" cy="138030"/>
            </a:xfrm>
            <a:prstGeom prst="ellipse">
              <a:avLst/>
            </a:prstGeom>
            <a:solidFill>
              <a:schemeClr val="dk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rial" panose="020B0604020202020204"/>
                <a:buNone/>
              </a:pPr>
              <a:endParaRPr sz="3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55" name="Google Shape;555;p32"/>
            <p:cNvSpPr/>
            <p:nvPr/>
          </p:nvSpPr>
          <p:spPr>
            <a:xfrm>
              <a:off x="8787930" y="2687142"/>
              <a:ext cx="140208" cy="138030"/>
            </a:xfrm>
            <a:prstGeom prst="ellipse">
              <a:avLst/>
            </a:prstGeom>
            <a:solidFill>
              <a:schemeClr val="dk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rial" panose="020B0604020202020204"/>
                <a:buNone/>
              </a:pPr>
              <a:endParaRPr sz="3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53" name="Google Shape;553;p32"/>
            <p:cNvSpPr/>
            <p:nvPr/>
          </p:nvSpPr>
          <p:spPr>
            <a:xfrm>
              <a:off x="8706852" y="7265140"/>
              <a:ext cx="140208" cy="138030"/>
            </a:xfrm>
            <a:prstGeom prst="ellipse">
              <a:avLst/>
            </a:prstGeom>
            <a:solidFill>
              <a:schemeClr val="dk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rial" panose="020B0604020202020204"/>
                <a:buNone/>
              </a:pPr>
              <a:endParaRPr sz="3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59" name="Google Shape;559;p32"/>
            <p:cNvSpPr/>
            <p:nvPr/>
          </p:nvSpPr>
          <p:spPr>
            <a:xfrm>
              <a:off x="7675849" y="1813079"/>
              <a:ext cx="140208" cy="138030"/>
            </a:xfrm>
            <a:prstGeom prst="ellipse">
              <a:avLst/>
            </a:prstGeom>
            <a:solidFill>
              <a:schemeClr val="dk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rial" panose="020B0604020202020204"/>
                <a:buNone/>
              </a:pPr>
              <a:endParaRPr sz="3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60" name="Google Shape;560;p32"/>
            <p:cNvSpPr/>
            <p:nvPr/>
          </p:nvSpPr>
          <p:spPr>
            <a:xfrm>
              <a:off x="7694651" y="3763701"/>
              <a:ext cx="140208" cy="138030"/>
            </a:xfrm>
            <a:prstGeom prst="ellipse">
              <a:avLst/>
            </a:prstGeom>
            <a:solidFill>
              <a:schemeClr val="dk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rial" panose="020B0604020202020204"/>
                <a:buNone/>
              </a:pPr>
              <a:endParaRPr sz="3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61" name="Google Shape;561;p32"/>
            <p:cNvSpPr/>
            <p:nvPr/>
          </p:nvSpPr>
          <p:spPr>
            <a:xfrm>
              <a:off x="8706568" y="4815586"/>
              <a:ext cx="140208" cy="138030"/>
            </a:xfrm>
            <a:prstGeom prst="ellipse">
              <a:avLst/>
            </a:prstGeom>
            <a:solidFill>
              <a:schemeClr val="dk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rial" panose="020B0604020202020204"/>
                <a:buNone/>
              </a:pPr>
              <a:endParaRPr sz="3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562" name="Google Shape;562;p32"/>
            <p:cNvGrpSpPr/>
            <p:nvPr/>
          </p:nvGrpSpPr>
          <p:grpSpPr>
            <a:xfrm>
              <a:off x="17422650" y="3413643"/>
              <a:ext cx="2133600" cy="1748416"/>
              <a:chOff x="5992051" y="3166482"/>
              <a:chExt cx="1066800" cy="874208"/>
            </a:xfrm>
          </p:grpSpPr>
          <p:sp>
            <p:nvSpPr>
              <p:cNvPr id="563" name="Google Shape;563;p32"/>
              <p:cNvSpPr/>
              <p:nvPr/>
            </p:nvSpPr>
            <p:spPr>
              <a:xfrm rot="10800000">
                <a:off x="5992051" y="3166482"/>
                <a:ext cx="1066800" cy="874208"/>
              </a:xfrm>
              <a:prstGeom prst="flowChartOnlineStorage">
                <a:avLst/>
              </a:prstGeom>
              <a:solidFill>
                <a:srgbClr val="FFFFFF"/>
              </a:solidFill>
              <a:ln w="857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600"/>
                  <a:buFont typeface="Arial" panose="020B0604020202020204"/>
                  <a:buNone/>
                </a:pPr>
                <a:endParaRPr sz="3600" b="0" i="0" u="none" strike="noStrike" cap="non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564" name="Google Shape;564;p32"/>
              <p:cNvSpPr txBox="1"/>
              <p:nvPr/>
            </p:nvSpPr>
            <p:spPr>
              <a:xfrm>
                <a:off x="6206758" y="3453597"/>
                <a:ext cx="685800" cy="35394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000"/>
                  <a:buFont typeface="Tahoma"/>
                  <a:buNone/>
                </a:pPr>
                <a:r>
                  <a:rPr lang="en-US" sz="4000" b="0" i="0" u="none" strike="noStrike" cap="non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rPr>
                  <a:t>OR</a:t>
                </a: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cxnSp>
          <p:nvCxnSpPr>
            <p:cNvPr id="565" name="Google Shape;565;p32"/>
            <p:cNvCxnSpPr/>
            <p:nvPr/>
          </p:nvCxnSpPr>
          <p:spPr>
            <a:xfrm>
              <a:off x="13211592" y="2160149"/>
              <a:ext cx="4652374" cy="1777850"/>
            </a:xfrm>
            <a:prstGeom prst="bentConnector3">
              <a:avLst>
                <a:gd name="adj1" fmla="val 50004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66" name="Google Shape;566;p32"/>
            <p:cNvCxnSpPr>
              <a:stCxn id="543" idx="3"/>
            </p:cNvCxnSpPr>
            <p:nvPr/>
          </p:nvCxnSpPr>
          <p:spPr>
            <a:xfrm>
              <a:off x="13447746" y="4379047"/>
              <a:ext cx="4229008" cy="89174"/>
            </a:xfrm>
            <a:prstGeom prst="bentConnector3">
              <a:avLst>
                <a:gd name="adj1" fmla="val 49995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67" name="Google Shape;567;p32"/>
            <p:cNvCxnSpPr>
              <a:stCxn id="546" idx="3"/>
            </p:cNvCxnSpPr>
            <p:nvPr/>
          </p:nvCxnSpPr>
          <p:spPr>
            <a:xfrm flipV="1">
              <a:off x="13447746" y="4939797"/>
              <a:ext cx="4239106" cy="1725631"/>
            </a:xfrm>
            <a:prstGeom prst="bentConnector3">
              <a:avLst>
                <a:gd name="adj1" fmla="val 50004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68" name="Google Shape;568;p32"/>
            <p:cNvCxnSpPr/>
            <p:nvPr/>
          </p:nvCxnSpPr>
          <p:spPr>
            <a:xfrm>
              <a:off x="19581884" y="4377828"/>
              <a:ext cx="1075200" cy="3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70" name="Google Shape;570;p32"/>
            <p:cNvSpPr/>
            <p:nvPr/>
          </p:nvSpPr>
          <p:spPr>
            <a:xfrm>
              <a:off x="8208135" y="4287637"/>
              <a:ext cx="140208" cy="138030"/>
            </a:xfrm>
            <a:prstGeom prst="ellipse">
              <a:avLst/>
            </a:prstGeom>
            <a:solidFill>
              <a:schemeClr val="dk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rial" panose="020B0604020202020204"/>
                <a:buNone/>
              </a:pPr>
              <a:endParaRPr sz="3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12" name="Straight Connector 11"/>
          <p:cNvCxnSpPr/>
          <p:nvPr/>
        </p:nvCxnSpPr>
        <p:spPr>
          <a:xfrm>
            <a:off x="7501255" y="1946910"/>
            <a:ext cx="0" cy="44399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" name="Straight Connector 1"/>
          <p:cNvCxnSpPr/>
          <p:nvPr/>
        </p:nvCxnSpPr>
        <p:spPr>
          <a:xfrm>
            <a:off x="7908925" y="1832610"/>
            <a:ext cx="0" cy="45891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>
            <a:off x="8375015" y="1844675"/>
            <a:ext cx="0" cy="45891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 Box 3"/>
          <p:cNvSpPr txBox="1"/>
          <p:nvPr/>
        </p:nvSpPr>
        <p:spPr>
          <a:xfrm>
            <a:off x="7223125" y="1097915"/>
            <a:ext cx="5518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altLang="en-US" sz="5400"/>
              <a:t>a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7908925" y="1760855"/>
            <a:ext cx="0" cy="45891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Box 5"/>
          <p:cNvSpPr txBox="1"/>
          <p:nvPr/>
        </p:nvSpPr>
        <p:spPr>
          <a:xfrm>
            <a:off x="7708900" y="1081405"/>
            <a:ext cx="5518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altLang="en-US" sz="5400"/>
              <a:t>b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8229600" y="1097280"/>
            <a:ext cx="5518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altLang="en-US" sz="5400"/>
              <a:t>c</a:t>
            </a:r>
          </a:p>
        </p:txBody>
      </p:sp>
      <p:sp>
        <p:nvSpPr>
          <p:cNvPr id="8" name="Google Shape;553;p32"/>
          <p:cNvSpPr/>
          <p:nvPr/>
        </p:nvSpPr>
        <p:spPr>
          <a:xfrm>
            <a:off x="7871491" y="5778182"/>
            <a:ext cx="114611" cy="109102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 panose="020B0604020202020204"/>
              <a:buNone/>
            </a:pPr>
            <a:endParaRPr sz="36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" name="Google Shape;553;p32"/>
          <p:cNvSpPr/>
          <p:nvPr/>
        </p:nvSpPr>
        <p:spPr>
          <a:xfrm>
            <a:off x="7439056" y="5345747"/>
            <a:ext cx="114611" cy="109102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 panose="020B0604020202020204"/>
              <a:buNone/>
            </a:pPr>
            <a:endParaRPr sz="36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10" name="Straight Connector 9"/>
          <p:cNvCxnSpPr>
            <a:stCxn id="4" idx="2"/>
            <a:endCxn id="540" idx="5"/>
          </p:cNvCxnSpPr>
          <p:nvPr/>
        </p:nvCxnSpPr>
        <p:spPr>
          <a:xfrm>
            <a:off x="7499350" y="2019935"/>
            <a:ext cx="3216910" cy="19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7943215" y="2320925"/>
            <a:ext cx="2592070" cy="63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560" idx="6"/>
          </p:cNvCxnSpPr>
          <p:nvPr/>
        </p:nvCxnSpPr>
        <p:spPr>
          <a:xfrm>
            <a:off x="7603490" y="3564890"/>
            <a:ext cx="324294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570" idx="6"/>
            <a:endCxn id="544" idx="7"/>
          </p:cNvCxnSpPr>
          <p:nvPr/>
        </p:nvCxnSpPr>
        <p:spPr>
          <a:xfrm flipV="1">
            <a:off x="8023225" y="3947795"/>
            <a:ext cx="2736850" cy="311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555" idx="5"/>
            <a:endCxn id="542" idx="3"/>
          </p:cNvCxnSpPr>
          <p:nvPr/>
        </p:nvCxnSpPr>
        <p:spPr>
          <a:xfrm>
            <a:off x="8480425" y="2752725"/>
            <a:ext cx="2054225" cy="463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endCxn id="545" idx="3"/>
          </p:cNvCxnSpPr>
          <p:nvPr/>
        </p:nvCxnSpPr>
        <p:spPr>
          <a:xfrm flipV="1">
            <a:off x="8375015" y="4481195"/>
            <a:ext cx="2209165" cy="63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9" idx="0"/>
          </p:cNvCxnSpPr>
          <p:nvPr/>
        </p:nvCxnSpPr>
        <p:spPr>
          <a:xfrm>
            <a:off x="7496175" y="5345430"/>
            <a:ext cx="339915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4"/>
            <a:endCxn id="547" idx="3"/>
          </p:cNvCxnSpPr>
          <p:nvPr/>
        </p:nvCxnSpPr>
        <p:spPr>
          <a:xfrm>
            <a:off x="7928610" y="5887085"/>
            <a:ext cx="2655570" cy="381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8447405" y="6282055"/>
            <a:ext cx="237617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/>
              <a:t>Outline</a:t>
            </a:r>
          </a:p>
        </p:txBody>
      </p:sp>
      <p:sp>
        <p:nvSpPr>
          <p:cNvPr id="578" name="Google Shape;578;p3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fld id="{00000000-1234-1234-1234-123412341234}" type="slidenum">
              <a:rPr lang="en-US"/>
              <a:t>29</a:t>
            </a:fld>
            <a:endParaRPr lang="en-US"/>
          </a:p>
        </p:txBody>
      </p:sp>
      <p:sp>
        <p:nvSpPr>
          <p:cNvPr id="579" name="Google Shape;579;p33"/>
          <p:cNvSpPr txBox="1"/>
          <p:nvPr/>
        </p:nvSpPr>
        <p:spPr>
          <a:xfrm>
            <a:off x="496387" y="3595476"/>
            <a:ext cx="23125795" cy="1452320"/>
          </a:xfrm>
          <a:prstGeom prst="rect">
            <a:avLst/>
          </a:prstGeom>
          <a:solidFill>
            <a:srgbClr val="999D95"/>
          </a:solidFill>
          <a:ln>
            <a:noFill/>
          </a:ln>
        </p:spPr>
        <p:txBody>
          <a:bodyPr spcFirstLastPara="1" wrap="square" lIns="71425" tIns="71425" rIns="71425" bIns="7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lang="en-US" sz="6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80" name="Google Shape;580;p33"/>
          <p:cNvSpPr txBox="1"/>
          <p:nvPr/>
        </p:nvSpPr>
        <p:spPr>
          <a:xfrm>
            <a:off x="496387" y="5224309"/>
            <a:ext cx="23125795" cy="1452320"/>
          </a:xfrm>
          <a:prstGeom prst="rect">
            <a:avLst/>
          </a:prstGeom>
          <a:solidFill>
            <a:srgbClr val="999D95"/>
          </a:solidFill>
          <a:ln>
            <a:noFill/>
          </a:ln>
        </p:spPr>
        <p:txBody>
          <a:bodyPr spcFirstLastPara="1" wrap="square" lIns="71425" tIns="71425" rIns="71425" bIns="7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Working environment</a:t>
            </a:r>
            <a:endParaRPr sz="6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81" name="Google Shape;581;p33"/>
          <p:cNvSpPr txBox="1"/>
          <p:nvPr/>
        </p:nvSpPr>
        <p:spPr>
          <a:xfrm>
            <a:off x="496387" y="6851298"/>
            <a:ext cx="23125795" cy="1452320"/>
          </a:xfrm>
          <a:prstGeom prst="rect">
            <a:avLst/>
          </a:prstGeom>
          <a:solidFill>
            <a:srgbClr val="999D95"/>
          </a:solidFill>
          <a:ln>
            <a:noFill/>
          </a:ln>
        </p:spPr>
        <p:txBody>
          <a:bodyPr spcFirstLastPara="1" wrap="square" lIns="71425" tIns="71425" rIns="71425" bIns="7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lang="en-US" sz="6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Verilog Syntax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82" name="Google Shape;582;p33"/>
          <p:cNvSpPr txBox="1"/>
          <p:nvPr/>
        </p:nvSpPr>
        <p:spPr>
          <a:xfrm>
            <a:off x="496387" y="8478287"/>
            <a:ext cx="23125795" cy="145232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spcFirstLastPara="1" wrap="square" lIns="71425" tIns="71425" rIns="71425" bIns="7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lang="en-US" sz="6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Design Examples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83" name="Google Shape;583;p33"/>
          <p:cNvSpPr txBox="1"/>
          <p:nvPr/>
        </p:nvSpPr>
        <p:spPr>
          <a:xfrm>
            <a:off x="496386" y="10105276"/>
            <a:ext cx="23125795" cy="1452320"/>
          </a:xfrm>
          <a:prstGeom prst="rect">
            <a:avLst/>
          </a:prstGeom>
          <a:solidFill>
            <a:srgbClr val="999D95"/>
          </a:solidFill>
          <a:ln>
            <a:noFill/>
          </a:ln>
        </p:spPr>
        <p:txBody>
          <a:bodyPr spcFirstLastPara="1" wrap="square" lIns="71425" tIns="71425" rIns="71425" bIns="7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lang="en-US" sz="6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C95F6-8BDE-0D2D-DF52-6C79184ED5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E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723B3-03B2-099C-A9A5-F9A16476E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E" dirty="0"/>
              <a:t>Exercise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3B0ED-C229-EE82-52CB-AF47B3BCA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8090" y="4548554"/>
            <a:ext cx="22211762" cy="7861159"/>
          </a:xfrm>
        </p:spPr>
        <p:txBody>
          <a:bodyPr>
            <a:normAutofit/>
          </a:bodyPr>
          <a:lstStyle/>
          <a:p>
            <a:pPr marL="1028700" indent="-914400">
              <a:buSzPct val="52000"/>
              <a:buFont typeface="+mj-lt"/>
              <a:buAutoNum type="arabicPeriod"/>
            </a:pPr>
            <a:r>
              <a:rPr lang="en-US" sz="6600" dirty="0"/>
              <a:t>Draw the logic diagram of the circuit using logic gates.</a:t>
            </a:r>
          </a:p>
          <a:p>
            <a:pPr marL="1028700" indent="-914400">
              <a:buSzPct val="52000"/>
              <a:buFont typeface="+mj-lt"/>
              <a:buAutoNum type="arabicPeriod"/>
            </a:pPr>
            <a:r>
              <a:rPr lang="en-US" sz="6600" dirty="0"/>
              <a:t>Write a Verilog description of the circuit.</a:t>
            </a:r>
          </a:p>
          <a:p>
            <a:pPr marL="1028700" indent="-914400">
              <a:buSzPct val="52000"/>
              <a:buFont typeface="+mj-lt"/>
              <a:buAutoNum type="arabicPeriod"/>
            </a:pPr>
            <a:r>
              <a:rPr lang="en-US" sz="6600" dirty="0"/>
              <a:t>Write a testbench to simulate all input combinations and verify correctness.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3826C9-9CF9-CB67-2168-A337ED602E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5A1B79-D153-3258-F5A8-415AAA2B0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7538" y="1989668"/>
            <a:ext cx="16352865" cy="156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8465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6D801-8F25-E3B9-C66C-4874D2EB7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E" dirty="0"/>
              <a:t>Verilog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1DDF51-30CB-0D1F-9D19-57C8973E04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89233" y="3869632"/>
            <a:ext cx="21010619" cy="6446675"/>
          </a:xfrm>
          <a:solidFill>
            <a:schemeClr val="tx2">
              <a:lumMod val="25000"/>
            </a:schemeClr>
          </a:solidFill>
        </p:spPr>
        <p:txBody>
          <a:bodyPr>
            <a:normAutofit/>
          </a:bodyPr>
          <a:lstStyle/>
          <a:p>
            <a:pPr marL="114300" indent="0">
              <a:spcBef>
                <a:spcPts val="200"/>
              </a:spcBef>
              <a:buNone/>
            </a:pPr>
            <a:r>
              <a:rPr lang="en-US" sz="40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Boolean function:</a:t>
            </a:r>
          </a:p>
          <a:p>
            <a:pPr marL="114300" indent="0">
              <a:spcBef>
                <a:spcPts val="200"/>
              </a:spcBef>
              <a:buNone/>
            </a:pPr>
            <a:r>
              <a:rPr lang="en-US" sz="40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Y = ((A &amp; B) | (~C &amp; D)) &amp; (A | ~B | C)</a:t>
            </a:r>
          </a:p>
          <a:p>
            <a:pPr marL="114300" indent="0">
              <a:spcBef>
                <a:spcPts val="200"/>
              </a:spcBef>
              <a:buNone/>
            </a:pPr>
            <a:endParaRPr lang="en-US" sz="4000" dirty="0">
              <a:solidFill>
                <a:srgbClr val="FFFF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 indent="0">
              <a:spcBef>
                <a:spcPts val="200"/>
              </a:spcBef>
              <a:buNone/>
            </a:pPr>
            <a:r>
              <a:rPr lang="en-US" sz="40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module </a:t>
            </a:r>
            <a:r>
              <a:rPr lang="en-US" sz="4000" dirty="0" err="1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logic_circuit</a:t>
            </a:r>
            <a:r>
              <a:rPr lang="en-US" sz="40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 A, B, C, D, Y);</a:t>
            </a:r>
          </a:p>
          <a:p>
            <a:pPr marL="114300" indent="0">
              <a:spcBef>
                <a:spcPts val="200"/>
              </a:spcBef>
              <a:buNone/>
            </a:pPr>
            <a:r>
              <a:rPr lang="en-US" sz="40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input A, B,C, D;</a:t>
            </a:r>
          </a:p>
          <a:p>
            <a:pPr marL="114300" indent="0">
              <a:spcBef>
                <a:spcPts val="200"/>
              </a:spcBef>
              <a:buNone/>
            </a:pPr>
            <a:r>
              <a:rPr lang="en-US" sz="40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output Y;</a:t>
            </a:r>
          </a:p>
          <a:p>
            <a:pPr marL="114300" indent="0">
              <a:spcBef>
                <a:spcPts val="200"/>
              </a:spcBef>
              <a:buNone/>
            </a:pPr>
            <a:endParaRPr lang="en-US" sz="4000" dirty="0">
              <a:solidFill>
                <a:srgbClr val="FFFF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 indent="0">
              <a:spcBef>
                <a:spcPts val="200"/>
              </a:spcBef>
              <a:buNone/>
            </a:pPr>
            <a:endParaRPr lang="en-US" sz="4000" dirty="0">
              <a:solidFill>
                <a:srgbClr val="FFFF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 indent="0">
              <a:spcBef>
                <a:spcPts val="200"/>
              </a:spcBef>
              <a:buNone/>
            </a:pPr>
            <a:r>
              <a:rPr lang="en-US" sz="40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assign Y = ((A &amp; B) | (~C &amp; D)) &amp; (A | ~B | C);</a:t>
            </a:r>
          </a:p>
          <a:p>
            <a:pPr marL="114300" indent="0">
              <a:spcBef>
                <a:spcPts val="200"/>
              </a:spcBef>
              <a:buNone/>
            </a:pPr>
            <a:r>
              <a:rPr lang="en-US" sz="4000" dirty="0" err="1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en-US" sz="4000" dirty="0">
              <a:solidFill>
                <a:srgbClr val="FFFF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 indent="0">
              <a:spcBef>
                <a:spcPts val="200"/>
              </a:spcBef>
              <a:buNone/>
            </a:pPr>
            <a:endParaRPr lang="en-PE" sz="4000" dirty="0">
              <a:solidFill>
                <a:srgbClr val="FFFF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A24C6A-EA07-8720-336C-0B4F35B477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9412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30305-0E81-443D-7C20-B2592D02A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E" dirty="0"/>
              <a:t>Testbench v1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C034EE-7F14-8BFE-0140-D74114114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8494" y="1986413"/>
            <a:ext cx="13221127" cy="10741592"/>
          </a:xfrm>
          <a:solidFill>
            <a:schemeClr val="tx2">
              <a:lumMod val="10000"/>
            </a:schemeClr>
          </a:solidFill>
        </p:spPr>
        <p:txBody>
          <a:bodyPr>
            <a:normAutofit fontScale="92500" lnSpcReduction="10000"/>
          </a:bodyPr>
          <a:lstStyle/>
          <a:p>
            <a:pPr marL="114300" indent="0">
              <a:spcBef>
                <a:spcPts val="20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`timescale 1ns/1ps</a:t>
            </a:r>
          </a:p>
          <a:p>
            <a:pPr marL="114300" indent="0">
              <a:spcBef>
                <a:spcPts val="200"/>
              </a:spcBef>
              <a:buNone/>
            </a:pPr>
            <a:endParaRPr lang="en-US" sz="2000" dirty="0">
              <a:solidFill>
                <a:srgbClr val="FFFF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 indent="0">
              <a:spcBef>
                <a:spcPts val="20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module </a:t>
            </a:r>
            <a:r>
              <a:rPr lang="en-US" sz="2000" dirty="0" err="1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tb_logic_circuit</a:t>
            </a:r>
            <a:r>
              <a:rPr lang="en-US" sz="20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14300" indent="0">
              <a:spcBef>
                <a:spcPts val="20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reg A, B, C, D;   </a:t>
            </a:r>
            <a:r>
              <a:rPr lang="en-US" sz="20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//only on testbench for ‘writing’ values</a:t>
            </a:r>
          </a:p>
          <a:p>
            <a:pPr marL="114300" indent="0">
              <a:spcBef>
                <a:spcPts val="20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wire Y;</a:t>
            </a:r>
          </a:p>
          <a:p>
            <a:pPr marL="114300" indent="0">
              <a:spcBef>
                <a:spcPts val="200"/>
              </a:spcBef>
              <a:buNone/>
            </a:pPr>
            <a:endParaRPr lang="en-US" sz="2000" dirty="0">
              <a:solidFill>
                <a:srgbClr val="FFFF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 indent="0">
              <a:spcBef>
                <a:spcPts val="20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Instantiate the circuit under test</a:t>
            </a:r>
          </a:p>
          <a:p>
            <a:pPr marL="114300" indent="0">
              <a:spcBef>
                <a:spcPts val="20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logic_circuit</a:t>
            </a:r>
            <a:r>
              <a:rPr lang="en-US" sz="20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uut</a:t>
            </a:r>
            <a:r>
              <a:rPr lang="en-US" sz="20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</a:p>
          <a:p>
            <a:pPr marL="114300" indent="0">
              <a:spcBef>
                <a:spcPts val="20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.A(A), .B(B), .C(C), .D(D), .Y(Y) </a:t>
            </a:r>
            <a:r>
              <a:rPr lang="en-US" sz="20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//connect each one </a:t>
            </a:r>
            <a:endParaRPr lang="en-US" sz="2000" dirty="0">
              <a:solidFill>
                <a:srgbClr val="FFFF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 indent="0">
              <a:spcBef>
                <a:spcPts val="20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);</a:t>
            </a:r>
          </a:p>
          <a:p>
            <a:pPr marL="114300" indent="0">
              <a:spcBef>
                <a:spcPts val="200"/>
              </a:spcBef>
              <a:buNone/>
            </a:pPr>
            <a:endParaRPr lang="en-US" sz="2000" dirty="0">
              <a:solidFill>
                <a:srgbClr val="FFFF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 indent="0">
              <a:spcBef>
                <a:spcPts val="20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initial begin</a:t>
            </a:r>
          </a:p>
          <a:p>
            <a:pPr marL="114300" indent="0">
              <a:spcBef>
                <a:spcPts val="20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$display("Time | A B C D | Y");</a:t>
            </a:r>
          </a:p>
          <a:p>
            <a:pPr marL="114300" indent="0">
              <a:spcBef>
                <a:spcPts val="20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$display("--------------------");</a:t>
            </a:r>
          </a:p>
          <a:p>
            <a:pPr marL="114300" indent="0">
              <a:spcBef>
                <a:spcPts val="200"/>
              </a:spcBef>
              <a:buNone/>
            </a:pPr>
            <a:endParaRPr lang="en-US" sz="2000" dirty="0">
              <a:solidFill>
                <a:srgbClr val="FFFF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 indent="0">
              <a:spcBef>
                <a:spcPts val="20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Test case 1</a:t>
            </a:r>
          </a:p>
          <a:p>
            <a:pPr marL="114300" indent="0">
              <a:spcBef>
                <a:spcPts val="20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A = 0; B = 0; C = 0; D = 0;</a:t>
            </a:r>
          </a:p>
          <a:p>
            <a:pPr marL="114300" indent="0">
              <a:spcBef>
                <a:spcPts val="20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#10 $display("%4t | %b %b %b %b | %b", $time, A, B, C, D, Y); </a:t>
            </a:r>
            <a:r>
              <a:rPr lang="en-US" sz="20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//this represents time passing</a:t>
            </a:r>
          </a:p>
          <a:p>
            <a:pPr marL="114300" indent="0">
              <a:spcBef>
                <a:spcPts val="200"/>
              </a:spcBef>
              <a:buNone/>
            </a:pPr>
            <a:endParaRPr lang="en-US" sz="2000" dirty="0">
              <a:solidFill>
                <a:srgbClr val="FFFF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 indent="0">
              <a:spcBef>
                <a:spcPts val="200"/>
              </a:spcBef>
              <a:buNone/>
            </a:pPr>
            <a:endParaRPr lang="en-US" sz="2000" dirty="0">
              <a:solidFill>
                <a:srgbClr val="FFFF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 indent="0">
              <a:spcBef>
                <a:spcPts val="20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Test case 2</a:t>
            </a:r>
          </a:p>
          <a:p>
            <a:pPr marL="114300" indent="0">
              <a:spcBef>
                <a:spcPts val="20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A = 0; B = 1; C = 0; D = 1;</a:t>
            </a:r>
          </a:p>
          <a:p>
            <a:pPr marL="114300" indent="0">
              <a:spcBef>
                <a:spcPts val="20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#10 $display("%4t | %b %b %b %b | %b", $time, A, B, C, D, Y);</a:t>
            </a:r>
          </a:p>
          <a:p>
            <a:pPr marL="114300" indent="0">
              <a:spcBef>
                <a:spcPts val="200"/>
              </a:spcBef>
              <a:buNone/>
            </a:pPr>
            <a:endParaRPr lang="en-US" sz="2000" dirty="0">
              <a:solidFill>
                <a:srgbClr val="FFFF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 indent="0">
              <a:spcBef>
                <a:spcPts val="20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Test case 3</a:t>
            </a:r>
          </a:p>
          <a:p>
            <a:pPr marL="114300" indent="0">
              <a:spcBef>
                <a:spcPts val="20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A = 1; B = 0; C = 1; D = 0;</a:t>
            </a:r>
          </a:p>
          <a:p>
            <a:pPr marL="114300" indent="0">
              <a:spcBef>
                <a:spcPts val="20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#10 $display("%4t | %b %b %b %b | %b", $time, A, B, C, D, Y);</a:t>
            </a:r>
          </a:p>
          <a:p>
            <a:pPr marL="114300" indent="0">
              <a:spcBef>
                <a:spcPts val="200"/>
              </a:spcBef>
              <a:buNone/>
            </a:pPr>
            <a:endParaRPr lang="en-US" sz="2000" dirty="0">
              <a:solidFill>
                <a:srgbClr val="FFFF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 indent="0">
              <a:spcBef>
                <a:spcPts val="20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Test case 4</a:t>
            </a:r>
          </a:p>
          <a:p>
            <a:pPr marL="114300" indent="0">
              <a:spcBef>
                <a:spcPts val="20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A = 1; B = 1; C = 0; D = 1;</a:t>
            </a:r>
          </a:p>
          <a:p>
            <a:pPr marL="114300" indent="0">
              <a:spcBef>
                <a:spcPts val="20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#10 $display("%4t | %b %b %b %b | %b", $time, A, B, C, D, Y);</a:t>
            </a:r>
          </a:p>
          <a:p>
            <a:pPr marL="114300" indent="0">
              <a:spcBef>
                <a:spcPts val="200"/>
              </a:spcBef>
              <a:buNone/>
            </a:pPr>
            <a:endParaRPr lang="en-US" sz="2000" dirty="0">
              <a:solidFill>
                <a:srgbClr val="FFFF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 indent="0">
              <a:spcBef>
                <a:spcPts val="20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Test case 5</a:t>
            </a:r>
          </a:p>
          <a:p>
            <a:pPr marL="114300" indent="0">
              <a:spcBef>
                <a:spcPts val="20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A = 1; B = 1; C = 1; D = 1;</a:t>
            </a:r>
          </a:p>
          <a:p>
            <a:pPr marL="114300" indent="0">
              <a:spcBef>
                <a:spcPts val="20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#10 $display("%4t | %b %b %b %b | %b", $time, A, B, C, D, Y);</a:t>
            </a:r>
          </a:p>
          <a:p>
            <a:pPr marL="114300" indent="0">
              <a:spcBef>
                <a:spcPts val="200"/>
              </a:spcBef>
              <a:buNone/>
            </a:pPr>
            <a:endParaRPr lang="en-US" sz="2000" dirty="0">
              <a:solidFill>
                <a:srgbClr val="FFFF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 indent="0">
              <a:spcBef>
                <a:spcPts val="20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$finish;</a:t>
            </a:r>
          </a:p>
          <a:p>
            <a:pPr marL="114300" indent="0">
              <a:spcBef>
                <a:spcPts val="20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end</a:t>
            </a:r>
          </a:p>
          <a:p>
            <a:pPr marL="114300" indent="0">
              <a:spcBef>
                <a:spcPts val="200"/>
              </a:spcBef>
              <a:buNone/>
            </a:pPr>
            <a:r>
              <a:rPr lang="en-US" sz="2000" dirty="0" err="1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en-PE" sz="2000" dirty="0">
              <a:solidFill>
                <a:srgbClr val="FFFF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F25D79-164B-18C8-C160-02EFEBC4C2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70D08A6-FCB5-696E-CA26-72BFD6E7B847}"/>
              </a:ext>
            </a:extLst>
          </p:cNvPr>
          <p:cNvSpPr/>
          <p:nvPr/>
        </p:nvSpPr>
        <p:spPr>
          <a:xfrm>
            <a:off x="14794523" y="2883877"/>
            <a:ext cx="7924800" cy="7291754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PE" dirty="0"/>
              <a:t>test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239152C-6200-F8E7-17B8-04553E064DDF}"/>
              </a:ext>
            </a:extLst>
          </p:cNvPr>
          <p:cNvSpPr/>
          <p:nvPr/>
        </p:nvSpPr>
        <p:spPr>
          <a:xfrm>
            <a:off x="16712733" y="4528403"/>
            <a:ext cx="4195373" cy="3860239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PE" sz="4000" dirty="0"/>
              <a:t>dut</a:t>
            </a:r>
          </a:p>
          <a:p>
            <a:pPr algn="ctr"/>
            <a:r>
              <a:rPr lang="en-PE" sz="4000" dirty="0"/>
              <a:t>(design under test)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1A39DD-2E95-6E4F-B4B0-3D82E4112503}"/>
              </a:ext>
            </a:extLst>
          </p:cNvPr>
          <p:cNvSpPr txBox="1"/>
          <p:nvPr/>
        </p:nvSpPr>
        <p:spPr>
          <a:xfrm>
            <a:off x="15624835" y="2987863"/>
            <a:ext cx="21852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E" sz="3600" dirty="0">
                <a:solidFill>
                  <a:srgbClr val="FF0000"/>
                </a:solidFill>
              </a:rPr>
              <a:t>testbench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691AAB9-C336-8EBA-AE2E-08B64469DF19}"/>
              </a:ext>
            </a:extLst>
          </p:cNvPr>
          <p:cNvCxnSpPr/>
          <p:nvPr/>
        </p:nvCxnSpPr>
        <p:spPr>
          <a:xfrm>
            <a:off x="15624835" y="5791200"/>
            <a:ext cx="109260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AF925FC-21C5-A61E-42D1-3FA4C6599447}"/>
              </a:ext>
            </a:extLst>
          </p:cNvPr>
          <p:cNvCxnSpPr/>
          <p:nvPr/>
        </p:nvCxnSpPr>
        <p:spPr>
          <a:xfrm>
            <a:off x="13701916" y="5779477"/>
            <a:ext cx="1092607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582A37E-9EFF-8378-BDF3-F51AF51D94AC}"/>
              </a:ext>
            </a:extLst>
          </p:cNvPr>
          <p:cNvCxnSpPr/>
          <p:nvPr/>
        </p:nvCxnSpPr>
        <p:spPr>
          <a:xfrm>
            <a:off x="14794523" y="5791200"/>
            <a:ext cx="1092607" cy="0"/>
          </a:xfrm>
          <a:prstGeom prst="straightConnector1">
            <a:avLst/>
          </a:prstGeom>
          <a:ln w="762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45D98E0-D360-8AB2-9891-7436B1432957}"/>
              </a:ext>
            </a:extLst>
          </p:cNvPr>
          <p:cNvCxnSpPr/>
          <p:nvPr/>
        </p:nvCxnSpPr>
        <p:spPr>
          <a:xfrm>
            <a:off x="22719323" y="6529754"/>
            <a:ext cx="1092607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D475505-345B-2949-4A57-E17C780FFF07}"/>
              </a:ext>
            </a:extLst>
          </p:cNvPr>
          <p:cNvCxnSpPr/>
          <p:nvPr/>
        </p:nvCxnSpPr>
        <p:spPr>
          <a:xfrm>
            <a:off x="20819850" y="6518031"/>
            <a:ext cx="1092607" cy="0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0ED2F79-C9DF-2064-2B07-E0AF29C76723}"/>
              </a:ext>
            </a:extLst>
          </p:cNvPr>
          <p:cNvCxnSpPr/>
          <p:nvPr/>
        </p:nvCxnSpPr>
        <p:spPr>
          <a:xfrm>
            <a:off x="21889011" y="6529754"/>
            <a:ext cx="1092607" cy="0"/>
          </a:xfrm>
          <a:prstGeom prst="straightConnector1">
            <a:avLst/>
          </a:prstGeom>
          <a:ln w="762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60475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AD572-5A66-E0F1-E54A-2DDB292C7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E" dirty="0"/>
              <a:t>Testbench v2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066926-8572-8BE8-E01C-635C7BCD17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8090" y="1736032"/>
            <a:ext cx="14750495" cy="9829619"/>
          </a:xfrm>
          <a:solidFill>
            <a:schemeClr val="tx2">
              <a:lumMod val="10000"/>
            </a:schemeClr>
          </a:solidFill>
        </p:spPr>
        <p:txBody>
          <a:bodyPr>
            <a:noAutofit/>
          </a:bodyPr>
          <a:lstStyle/>
          <a:p>
            <a:pPr marL="114300" indent="0">
              <a:lnSpc>
                <a:spcPct val="120000"/>
              </a:lnSpc>
              <a:spcBef>
                <a:spcPts val="200"/>
              </a:spcBef>
              <a:buNone/>
            </a:pPr>
            <a:r>
              <a:rPr lang="en-US" sz="24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`timescale 1ns/1ps</a:t>
            </a:r>
          </a:p>
          <a:p>
            <a:pPr marL="114300" indent="0">
              <a:lnSpc>
                <a:spcPct val="120000"/>
              </a:lnSpc>
              <a:spcBef>
                <a:spcPts val="200"/>
              </a:spcBef>
              <a:buNone/>
            </a:pPr>
            <a:endParaRPr lang="en-US" sz="2400" dirty="0">
              <a:solidFill>
                <a:srgbClr val="FFFF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 indent="0">
              <a:lnSpc>
                <a:spcPct val="120000"/>
              </a:lnSpc>
              <a:spcBef>
                <a:spcPts val="200"/>
              </a:spcBef>
              <a:buNone/>
            </a:pPr>
            <a:r>
              <a:rPr lang="en-US" sz="24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module </a:t>
            </a:r>
            <a:r>
              <a:rPr lang="en-US" sz="2400" dirty="0" err="1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tb_logic_circuit</a:t>
            </a:r>
            <a:r>
              <a:rPr lang="en-US" sz="24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14300" indent="0">
              <a:lnSpc>
                <a:spcPct val="120000"/>
              </a:lnSpc>
              <a:spcBef>
                <a:spcPts val="200"/>
              </a:spcBef>
              <a:buNone/>
            </a:pPr>
            <a:r>
              <a:rPr lang="en-US" sz="24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reg A, B, C, D;</a:t>
            </a:r>
          </a:p>
          <a:p>
            <a:pPr marL="114300" indent="0">
              <a:lnSpc>
                <a:spcPct val="120000"/>
              </a:lnSpc>
              <a:spcBef>
                <a:spcPts val="200"/>
              </a:spcBef>
              <a:buNone/>
            </a:pPr>
            <a:r>
              <a:rPr lang="en-US" sz="24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wire Y;</a:t>
            </a:r>
          </a:p>
          <a:p>
            <a:pPr marL="114300" indent="0">
              <a:lnSpc>
                <a:spcPct val="120000"/>
              </a:lnSpc>
              <a:spcBef>
                <a:spcPts val="200"/>
              </a:spcBef>
              <a:buNone/>
            </a:pPr>
            <a:endParaRPr lang="en-US" sz="2400" dirty="0">
              <a:solidFill>
                <a:srgbClr val="FFFF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 indent="0">
              <a:lnSpc>
                <a:spcPct val="120000"/>
              </a:lnSpc>
              <a:spcBef>
                <a:spcPts val="200"/>
              </a:spcBef>
              <a:buNone/>
            </a:pPr>
            <a:r>
              <a:rPr lang="en-US" sz="24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Instantiate the circuit under test (UUT)</a:t>
            </a:r>
          </a:p>
          <a:p>
            <a:pPr marL="114300" indent="0">
              <a:lnSpc>
                <a:spcPct val="120000"/>
              </a:lnSpc>
              <a:spcBef>
                <a:spcPts val="200"/>
              </a:spcBef>
              <a:buNone/>
            </a:pPr>
            <a:r>
              <a:rPr lang="en-US" sz="24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400" dirty="0" err="1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logic_circuit</a:t>
            </a:r>
            <a:r>
              <a:rPr lang="en-US" sz="24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uut</a:t>
            </a:r>
            <a:r>
              <a:rPr lang="en-US" sz="24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</a:p>
          <a:p>
            <a:pPr marL="114300" indent="0">
              <a:lnSpc>
                <a:spcPct val="120000"/>
              </a:lnSpc>
              <a:spcBef>
                <a:spcPts val="200"/>
              </a:spcBef>
              <a:buNone/>
            </a:pPr>
            <a:r>
              <a:rPr lang="en-US" sz="24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.A(A), .B(B), .C(C), .D(D), .Y(Y)</a:t>
            </a:r>
          </a:p>
          <a:p>
            <a:pPr marL="114300" indent="0">
              <a:lnSpc>
                <a:spcPct val="120000"/>
              </a:lnSpc>
              <a:spcBef>
                <a:spcPts val="200"/>
              </a:spcBef>
              <a:buNone/>
            </a:pPr>
            <a:r>
              <a:rPr lang="en-US" sz="24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);</a:t>
            </a:r>
          </a:p>
          <a:p>
            <a:pPr marL="114300" indent="0">
              <a:lnSpc>
                <a:spcPct val="120000"/>
              </a:lnSpc>
              <a:spcBef>
                <a:spcPts val="200"/>
              </a:spcBef>
              <a:buNone/>
            </a:pPr>
            <a:endParaRPr lang="en-US" sz="2400" dirty="0">
              <a:solidFill>
                <a:srgbClr val="FFFF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 indent="0">
              <a:lnSpc>
                <a:spcPct val="120000"/>
              </a:lnSpc>
              <a:spcBef>
                <a:spcPts val="200"/>
              </a:spcBef>
              <a:buNone/>
            </a:pPr>
            <a:r>
              <a:rPr lang="en-US" sz="24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initial begin</a:t>
            </a:r>
          </a:p>
          <a:p>
            <a:pPr marL="114300" indent="0">
              <a:lnSpc>
                <a:spcPct val="120000"/>
              </a:lnSpc>
              <a:spcBef>
                <a:spcPts val="200"/>
              </a:spcBef>
              <a:buNone/>
            </a:pPr>
            <a:r>
              <a:rPr lang="en-US" sz="24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$display("A B C D | Y");</a:t>
            </a:r>
          </a:p>
          <a:p>
            <a:pPr marL="114300" indent="0">
              <a:lnSpc>
                <a:spcPct val="120000"/>
              </a:lnSpc>
              <a:spcBef>
                <a:spcPts val="200"/>
              </a:spcBef>
              <a:buNone/>
            </a:pPr>
            <a:r>
              <a:rPr lang="en-US" sz="24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$display("----------------");</a:t>
            </a:r>
          </a:p>
          <a:p>
            <a:pPr marL="114300" indent="0">
              <a:lnSpc>
                <a:spcPct val="120000"/>
              </a:lnSpc>
              <a:spcBef>
                <a:spcPts val="200"/>
              </a:spcBef>
              <a:buNone/>
            </a:pPr>
            <a:r>
              <a:rPr lang="en-US" sz="24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Iterate over all 16 input combinations</a:t>
            </a:r>
          </a:p>
          <a:p>
            <a:pPr marL="114300" indent="0">
              <a:lnSpc>
                <a:spcPct val="120000"/>
              </a:lnSpc>
              <a:spcBef>
                <a:spcPts val="200"/>
              </a:spcBef>
              <a:buNone/>
            </a:pPr>
            <a:r>
              <a:rPr lang="en-US" sz="24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for (integer </a:t>
            </a:r>
            <a:r>
              <a:rPr lang="en-US" sz="2400" dirty="0" err="1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2400" dirty="0" err="1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16; </a:t>
            </a:r>
            <a:r>
              <a:rPr lang="en-US" sz="2400" dirty="0" err="1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 err="1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+ 1) begin </a:t>
            </a:r>
            <a:r>
              <a:rPr lang="en-US" sz="24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//be careful using for</a:t>
            </a:r>
            <a:endParaRPr lang="en-US" sz="2400" dirty="0">
              <a:solidFill>
                <a:srgbClr val="FFFF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 indent="0">
              <a:lnSpc>
                <a:spcPct val="120000"/>
              </a:lnSpc>
              <a:spcBef>
                <a:spcPts val="200"/>
              </a:spcBef>
              <a:buNone/>
            </a:pPr>
            <a:r>
              <a:rPr lang="en-US" sz="24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{A, B, C, D} = </a:t>
            </a:r>
            <a:r>
              <a:rPr lang="en-US" sz="2400" dirty="0" err="1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14300" indent="0">
              <a:lnSpc>
                <a:spcPct val="120000"/>
              </a:lnSpc>
              <a:spcBef>
                <a:spcPts val="200"/>
              </a:spcBef>
              <a:buNone/>
            </a:pPr>
            <a:r>
              <a:rPr lang="en-US" sz="24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#10; </a:t>
            </a:r>
            <a:r>
              <a:rPr lang="en-US" sz="24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//this represents time passing</a:t>
            </a:r>
          </a:p>
          <a:p>
            <a:pPr marL="114300" indent="0">
              <a:lnSpc>
                <a:spcPct val="120000"/>
              </a:lnSpc>
              <a:spcBef>
                <a:spcPts val="200"/>
              </a:spcBef>
              <a:buNone/>
            </a:pPr>
            <a:r>
              <a:rPr lang="en-US" sz="24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$display("%b %b %b %b | %b", A, B, C, D, Y);</a:t>
            </a:r>
          </a:p>
          <a:p>
            <a:pPr marL="114300" indent="0">
              <a:lnSpc>
                <a:spcPct val="120000"/>
              </a:lnSpc>
              <a:spcBef>
                <a:spcPts val="200"/>
              </a:spcBef>
              <a:buNone/>
            </a:pPr>
            <a:r>
              <a:rPr lang="en-US" sz="24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end</a:t>
            </a:r>
          </a:p>
          <a:p>
            <a:pPr marL="114300" indent="0">
              <a:lnSpc>
                <a:spcPct val="120000"/>
              </a:lnSpc>
              <a:spcBef>
                <a:spcPts val="200"/>
              </a:spcBef>
              <a:buNone/>
            </a:pPr>
            <a:r>
              <a:rPr lang="en-US" sz="24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$finish;</a:t>
            </a:r>
          </a:p>
          <a:p>
            <a:pPr marL="114300" indent="0">
              <a:lnSpc>
                <a:spcPct val="120000"/>
              </a:lnSpc>
              <a:spcBef>
                <a:spcPts val="200"/>
              </a:spcBef>
              <a:buNone/>
            </a:pPr>
            <a:r>
              <a:rPr lang="en-US" sz="240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end</a:t>
            </a:r>
          </a:p>
          <a:p>
            <a:pPr marL="114300" indent="0">
              <a:lnSpc>
                <a:spcPct val="120000"/>
              </a:lnSpc>
              <a:spcBef>
                <a:spcPts val="200"/>
              </a:spcBef>
              <a:buNone/>
            </a:pPr>
            <a:r>
              <a:rPr lang="en-US" sz="2400" dirty="0" err="1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en-US" sz="2400" dirty="0">
              <a:solidFill>
                <a:srgbClr val="FFFF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 indent="0">
              <a:lnSpc>
                <a:spcPct val="120000"/>
              </a:lnSpc>
              <a:spcBef>
                <a:spcPts val="200"/>
              </a:spcBef>
              <a:buNone/>
            </a:pPr>
            <a:endParaRPr lang="en-PE" sz="2400" dirty="0">
              <a:solidFill>
                <a:srgbClr val="FFFF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FE717D-B657-66CE-9F6B-CC7A33ACEF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7D36B5-3578-3182-EF53-E354246FD40A}"/>
              </a:ext>
            </a:extLst>
          </p:cNvPr>
          <p:cNvSpPr txBox="1"/>
          <p:nvPr/>
        </p:nvSpPr>
        <p:spPr>
          <a:xfrm>
            <a:off x="17397046" y="4384431"/>
            <a:ext cx="6986954" cy="230832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en-PE" sz="3600" dirty="0">
                <a:solidFill>
                  <a:srgbClr val="FFFFFF"/>
                </a:solidFill>
              </a:rPr>
              <a:t>Loops are common in testbenches, not so much in hardware modules. </a:t>
            </a:r>
            <a:r>
              <a:rPr lang="en-US" sz="3600" dirty="0">
                <a:solidFill>
                  <a:srgbClr val="FFFFFF"/>
                </a:solidFill>
              </a:rPr>
              <a:t>B</a:t>
            </a:r>
            <a:r>
              <a:rPr lang="en-PE" sz="3600" dirty="0">
                <a:solidFill>
                  <a:srgbClr val="FFFFFF"/>
                </a:solidFill>
              </a:rPr>
              <a:t>e careful.</a:t>
            </a:r>
          </a:p>
          <a:p>
            <a:endParaRPr lang="en-PE" sz="36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12724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4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/>
              <a:t>Outline</a:t>
            </a:r>
          </a:p>
        </p:txBody>
      </p:sp>
      <p:sp>
        <p:nvSpPr>
          <p:cNvPr id="677" name="Google Shape;677;p4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alibri"/>
              <a:buNone/>
            </a:pPr>
            <a:r>
              <a:rPr lang="en-US"/>
              <a:t>CS</a:t>
            </a:r>
            <a:r>
              <a:rPr lang="es-ES_tradnl" altLang="en-US"/>
              <a:t>35</a:t>
            </a:r>
            <a:r>
              <a:rPr lang="en-US"/>
              <a:t>01-COMPUTER ARCHITECTURE</a:t>
            </a:r>
          </a:p>
        </p:txBody>
      </p:sp>
      <p:sp>
        <p:nvSpPr>
          <p:cNvPr id="671" name="Google Shape;671;p4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fld id="{00000000-1234-1234-1234-123412341234}" type="slidenum">
              <a:rPr lang="en-US"/>
              <a:t>34</a:t>
            </a:fld>
            <a:endParaRPr lang="en-US"/>
          </a:p>
        </p:txBody>
      </p:sp>
      <p:sp>
        <p:nvSpPr>
          <p:cNvPr id="672" name="Google Shape;672;p41"/>
          <p:cNvSpPr txBox="1"/>
          <p:nvPr/>
        </p:nvSpPr>
        <p:spPr>
          <a:xfrm>
            <a:off x="496387" y="3595476"/>
            <a:ext cx="23125795" cy="1452320"/>
          </a:xfrm>
          <a:prstGeom prst="rect">
            <a:avLst/>
          </a:prstGeom>
          <a:solidFill>
            <a:srgbClr val="999D95"/>
          </a:solidFill>
          <a:ln>
            <a:noFill/>
          </a:ln>
        </p:spPr>
        <p:txBody>
          <a:bodyPr spcFirstLastPara="1" wrap="square" lIns="71425" tIns="71425" rIns="71425" bIns="7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lang="en-US" sz="6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73" name="Google Shape;673;p41"/>
          <p:cNvSpPr txBox="1"/>
          <p:nvPr/>
        </p:nvSpPr>
        <p:spPr>
          <a:xfrm>
            <a:off x="496387" y="5224321"/>
            <a:ext cx="23125795" cy="1452295"/>
          </a:xfrm>
          <a:prstGeom prst="rect">
            <a:avLst/>
          </a:prstGeom>
          <a:solidFill>
            <a:srgbClr val="999D95"/>
          </a:solidFill>
          <a:ln>
            <a:noFill/>
          </a:ln>
        </p:spPr>
        <p:txBody>
          <a:bodyPr spcFirstLastPara="1" wrap="square" lIns="71425" tIns="71425" rIns="71425" bIns="7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Working environment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74" name="Google Shape;674;p41"/>
          <p:cNvSpPr txBox="1"/>
          <p:nvPr/>
        </p:nvSpPr>
        <p:spPr>
          <a:xfrm>
            <a:off x="496387" y="6851298"/>
            <a:ext cx="23125795" cy="1452320"/>
          </a:xfrm>
          <a:prstGeom prst="rect">
            <a:avLst/>
          </a:prstGeom>
          <a:solidFill>
            <a:srgbClr val="999D95"/>
          </a:solidFill>
          <a:ln>
            <a:noFill/>
          </a:ln>
        </p:spPr>
        <p:txBody>
          <a:bodyPr spcFirstLastPara="1" wrap="square" lIns="71425" tIns="71425" rIns="71425" bIns="7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lang="en-US" sz="6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Verilog Syntax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75" name="Google Shape;675;p41"/>
          <p:cNvSpPr txBox="1"/>
          <p:nvPr/>
        </p:nvSpPr>
        <p:spPr>
          <a:xfrm>
            <a:off x="496387" y="8478287"/>
            <a:ext cx="23125795" cy="1452320"/>
          </a:xfrm>
          <a:prstGeom prst="rect">
            <a:avLst/>
          </a:prstGeom>
          <a:solidFill>
            <a:srgbClr val="999D95"/>
          </a:solidFill>
          <a:ln>
            <a:noFill/>
          </a:ln>
        </p:spPr>
        <p:txBody>
          <a:bodyPr spcFirstLastPara="1" wrap="square" lIns="71425" tIns="71425" rIns="71425" bIns="7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lang="en-US" sz="6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Design Examples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76" name="Google Shape;676;p41"/>
          <p:cNvSpPr txBox="1"/>
          <p:nvPr/>
        </p:nvSpPr>
        <p:spPr>
          <a:xfrm>
            <a:off x="496386" y="10105276"/>
            <a:ext cx="23125795" cy="145232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spcFirstLastPara="1" wrap="square" lIns="71425" tIns="71425" rIns="71425" bIns="7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lang="en-US" sz="6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42"/>
          <p:cNvSpPr txBox="1">
            <a:spLocks noGrp="1"/>
          </p:cNvSpPr>
          <p:nvPr>
            <p:ph type="title" idx="4294967295"/>
          </p:nvPr>
        </p:nvSpPr>
        <p:spPr>
          <a:xfrm>
            <a:off x="7293935" y="0"/>
            <a:ext cx="14918365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 b="1" dirty="0">
                <a:solidFill>
                  <a:srgbClr val="FFFFFF"/>
                </a:solidFill>
                <a:latin typeface="Montserrat" pitchFamily="2" charset="77"/>
              </a:rPr>
              <a:t>Summary</a:t>
            </a:r>
          </a:p>
        </p:txBody>
      </p:sp>
      <p:sp>
        <p:nvSpPr>
          <p:cNvPr id="683" name="Google Shape;683;p42"/>
          <p:cNvSpPr txBox="1">
            <a:spLocks noGrp="1"/>
          </p:cNvSpPr>
          <p:nvPr>
            <p:ph type="body" idx="4294967295"/>
          </p:nvPr>
        </p:nvSpPr>
        <p:spPr>
          <a:xfrm>
            <a:off x="6634717" y="2320925"/>
            <a:ext cx="17749284" cy="98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990600" lvl="1" indent="-533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 sz="6000" b="1" dirty="0">
                <a:solidFill>
                  <a:srgbClr val="FFFFFF"/>
                </a:solidFill>
              </a:rPr>
              <a:t>Hardware Description Languages (HDLs) abstracts the digital design to a model.</a:t>
            </a:r>
          </a:p>
          <a:p>
            <a:pPr marL="1554480" lvl="2" indent="-64008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 sz="6000" b="1" dirty="0">
                <a:solidFill>
                  <a:srgbClr val="FFFFFF"/>
                </a:solidFill>
              </a:rPr>
              <a:t>Simulation as a tool for verification, programming as a tool for creation.</a:t>
            </a:r>
          </a:p>
          <a:p>
            <a:pPr marL="990600" lvl="1" indent="-5334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C00000"/>
              </a:buClr>
              <a:buSzPct val="100000"/>
              <a:buChar char="•"/>
            </a:pPr>
            <a:r>
              <a:rPr lang="en-US" sz="6000" dirty="0">
                <a:solidFill>
                  <a:schemeClr val="accent3">
                    <a:lumMod val="75000"/>
                  </a:schemeClr>
                </a:solidFill>
              </a:rPr>
              <a:t>We introduced the Verilog syntax.</a:t>
            </a:r>
          </a:p>
          <a:p>
            <a:pPr marL="1554480" lvl="2" indent="-64008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C00000"/>
              </a:buClr>
              <a:buSzPct val="100000"/>
              <a:buChar char="•"/>
            </a:pPr>
            <a:r>
              <a:rPr lang="en-US" sz="6000" dirty="0">
                <a:solidFill>
                  <a:srgbClr val="FFFFFF"/>
                </a:solidFill>
              </a:rPr>
              <a:t>Verilog is an HDL, used for hardware description not for user program implementation.</a:t>
            </a:r>
          </a:p>
          <a:p>
            <a:pPr marL="1554480" lvl="2" indent="-64008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C00000"/>
              </a:buClr>
              <a:buSzPct val="100000"/>
              <a:buChar char="•"/>
            </a:pPr>
            <a:r>
              <a:rPr lang="en-US" sz="6000" dirty="0">
                <a:solidFill>
                  <a:srgbClr val="FFFFFF"/>
                </a:solidFill>
              </a:rPr>
              <a:t>Logic gates (with transistors) as a starting point. </a:t>
            </a:r>
          </a:p>
          <a:p>
            <a:pPr marL="990600" lvl="1" indent="-5334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B050"/>
              </a:buClr>
              <a:buSzPct val="100000"/>
              <a:buChar char="•"/>
            </a:pPr>
            <a:r>
              <a:rPr lang="en-US" sz="6000" dirty="0">
                <a:solidFill>
                  <a:srgbClr val="00B0F0"/>
                </a:solidFill>
              </a:rPr>
              <a:t>We can evaluate our designs using a high-level language.</a:t>
            </a:r>
          </a:p>
          <a:p>
            <a:pPr marL="1554480" lvl="2" indent="-64008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B050"/>
              </a:buClr>
              <a:buSzPct val="100000"/>
              <a:buChar char="•"/>
            </a:pPr>
            <a:r>
              <a:rPr lang="en-US" sz="6000" dirty="0">
                <a:solidFill>
                  <a:srgbClr val="FFFFFF"/>
                </a:solidFill>
              </a:rPr>
              <a:t>Testbenches are used as a testcase evaluation of the hardware block.</a:t>
            </a:r>
          </a:p>
          <a:p>
            <a:pPr marL="1554480" lvl="2" indent="-64008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B050"/>
              </a:buClr>
              <a:buSzPct val="100000"/>
              <a:buChar char="•"/>
            </a:pPr>
            <a:r>
              <a:rPr lang="en-US" sz="6000" dirty="0">
                <a:solidFill>
                  <a:srgbClr val="FFFFFF"/>
                </a:solidFill>
              </a:rPr>
              <a:t>Testbenches are not part of the module. Remember: only used for testing.</a:t>
            </a:r>
          </a:p>
          <a:p>
            <a:pPr marL="990600" lvl="1" indent="-5334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 sz="60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We conclude that using the logic gate arrays, </a:t>
            </a:r>
            <a:r>
              <a:rPr lang="en-US" sz="60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we can create our own designs! </a:t>
            </a:r>
          </a:p>
          <a:p>
            <a:pPr marL="990600" lvl="1" indent="-20955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endParaRPr sz="6000" dirty="0">
              <a:solidFill>
                <a:srgbClr val="FFFFFF"/>
              </a:solidFill>
            </a:endParaRPr>
          </a:p>
        </p:txBody>
      </p:sp>
      <p:sp>
        <p:nvSpPr>
          <p:cNvPr id="684" name="Google Shape;684;p42"/>
          <p:cNvSpPr txBox="1">
            <a:spLocks noGrp="1"/>
          </p:cNvSpPr>
          <p:nvPr>
            <p:ph type="sldNum" idx="4294967295"/>
          </p:nvPr>
        </p:nvSpPr>
        <p:spPr>
          <a:xfrm>
            <a:off x="0" y="1327150"/>
            <a:ext cx="912813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fld id="{00000000-1234-1234-1234-123412341234}" type="slidenum">
              <a:rPr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>
          <a:extLst>
            <a:ext uri="{FF2B5EF4-FFF2-40B4-BE49-F238E27FC236}">
              <a16:creationId xmlns:a16="http://schemas.microsoft.com/office/drawing/2014/main" id="{B88A962E-15AB-46CB-B42C-592DE358B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550F2A-A3DD-E5B2-7284-3B13AFC188E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9007" y="4799491"/>
            <a:ext cx="19587328" cy="2102891"/>
          </a:xfrm>
        </p:spPr>
        <p:txBody>
          <a:bodyPr/>
          <a:lstStyle/>
          <a:p>
            <a:r>
              <a:rPr lang="en-US" noProof="1"/>
              <a:t>Computer Architecture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30FB184-B5DD-43B3-48A1-71256735D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11100" noProof="1"/>
              <a:t>2.Hardware Description Languages</a:t>
            </a:r>
          </a:p>
        </p:txBody>
      </p:sp>
    </p:spTree>
    <p:extLst>
      <p:ext uri="{BB962C8B-B14F-4D97-AF65-F5344CB8AC3E}">
        <p14:creationId xmlns:p14="http://schemas.microsoft.com/office/powerpoint/2010/main" val="1102789821"/>
      </p:ext>
    </p:extLst>
  </p:cSld>
  <p:clrMapOvr>
    <a:masterClrMapping/>
  </p:clrMapOvr>
</p:sld>
</file>

<file path=ppt/theme/theme1.xml><?xml version="1.0" encoding="utf-8"?>
<a:theme xmlns:a="http://schemas.openxmlformats.org/drawingml/2006/main" name="28_Academy">
  <a:themeElements>
    <a:clrScheme name="28_Academy">
      <a:dk1>
        <a:srgbClr val="000000"/>
      </a:dk1>
      <a:lt1>
        <a:srgbClr val="000034"/>
      </a:lt1>
      <a:dk2>
        <a:srgbClr val="555952"/>
      </a:dk2>
      <a:lt2>
        <a:srgbClr val="D6DCCF"/>
      </a:lt2>
      <a:accent1>
        <a:srgbClr val="3B39E4"/>
      </a:accent1>
      <a:accent2>
        <a:srgbClr val="51C1FD"/>
      </a:accent2>
      <a:accent3>
        <a:srgbClr val="5EF7D2"/>
      </a:accent3>
      <a:accent4>
        <a:srgbClr val="BFF823"/>
      </a:accent4>
      <a:accent5>
        <a:srgbClr val="FFA728"/>
      </a:accent5>
      <a:accent6>
        <a:srgbClr val="FF5F52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8_Academy">
  <a:themeElements>
    <a:clrScheme name="28_Academy">
      <a:dk1>
        <a:srgbClr val="000000"/>
      </a:dk1>
      <a:lt1>
        <a:srgbClr val="FFFFFF"/>
      </a:lt1>
      <a:dk2>
        <a:srgbClr val="555952"/>
      </a:dk2>
      <a:lt2>
        <a:srgbClr val="D6DCCF"/>
      </a:lt2>
      <a:accent1>
        <a:srgbClr val="3B39E4"/>
      </a:accent1>
      <a:accent2>
        <a:srgbClr val="51C1FD"/>
      </a:accent2>
      <a:accent3>
        <a:srgbClr val="5EF7D2"/>
      </a:accent3>
      <a:accent4>
        <a:srgbClr val="BFF823"/>
      </a:accent4>
      <a:accent5>
        <a:srgbClr val="FFA728"/>
      </a:accent5>
      <a:accent6>
        <a:srgbClr val="FF5F52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5577</TotalTime>
  <Words>2823</Words>
  <Application>Microsoft Macintosh PowerPoint</Application>
  <PresentationFormat>Custom</PresentationFormat>
  <Paragraphs>571</Paragraphs>
  <Slides>36</Slides>
  <Notes>29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9" baseType="lpstr">
      <vt:lpstr>Helvetica Neue Light</vt:lpstr>
      <vt:lpstr>Noto Sans Symbols</vt:lpstr>
      <vt:lpstr>Consolas</vt:lpstr>
      <vt:lpstr>Calibri</vt:lpstr>
      <vt:lpstr>Times New Roman</vt:lpstr>
      <vt:lpstr>Arial</vt:lpstr>
      <vt:lpstr>Courier New</vt:lpstr>
      <vt:lpstr>Verdana</vt:lpstr>
      <vt:lpstr>Helvetica Neue</vt:lpstr>
      <vt:lpstr>Tahoma</vt:lpstr>
      <vt:lpstr>Montserrat</vt:lpstr>
      <vt:lpstr>28_Academy</vt:lpstr>
      <vt:lpstr>Visio.Drawing.11</vt:lpstr>
      <vt:lpstr>2.Hardware Description Languages</vt:lpstr>
      <vt:lpstr>Executive Summary</vt:lpstr>
      <vt:lpstr>Outline</vt:lpstr>
      <vt:lpstr>Introduction</vt:lpstr>
      <vt:lpstr>Types of devices</vt:lpstr>
      <vt:lpstr>Hardware Design</vt:lpstr>
      <vt:lpstr>Hardware Description Languages</vt:lpstr>
      <vt:lpstr>What is an FPGA?</vt:lpstr>
      <vt:lpstr>General processor programming vs  hardware description</vt:lpstr>
      <vt:lpstr>Basys 3</vt:lpstr>
      <vt:lpstr>Outline</vt:lpstr>
      <vt:lpstr>Xilinx Vivado Suite</vt:lpstr>
      <vt:lpstr>Outline</vt:lpstr>
      <vt:lpstr>Basic Syntax</vt:lpstr>
      <vt:lpstr>Precedence of Operations in Verilog</vt:lpstr>
      <vt:lpstr>Number Representation in Verilog</vt:lpstr>
      <vt:lpstr>Define a Module in Verilog</vt:lpstr>
      <vt:lpstr>Code Style</vt:lpstr>
      <vt:lpstr>Defining Multi-bit Input and Output</vt:lpstr>
      <vt:lpstr>Manipulating Bits </vt:lpstr>
      <vt:lpstr>Two Main Styles of HDL Implementation</vt:lpstr>
      <vt:lpstr>Structural HDL: Instantiating a Module</vt:lpstr>
      <vt:lpstr>Structural HDL Example</vt:lpstr>
      <vt:lpstr>Structural HDL Example</vt:lpstr>
      <vt:lpstr>Structural HDL Example</vt:lpstr>
      <vt:lpstr>Structural HDL Example</vt:lpstr>
      <vt:lpstr>Structural HDL Example</vt:lpstr>
      <vt:lpstr>Behavioral HDL: Defining Functionality</vt:lpstr>
      <vt:lpstr>Outline</vt:lpstr>
      <vt:lpstr>Exercise</vt:lpstr>
      <vt:lpstr>Verilog</vt:lpstr>
      <vt:lpstr>Testbench v1</vt:lpstr>
      <vt:lpstr>Testbench v2</vt:lpstr>
      <vt:lpstr>Outline</vt:lpstr>
      <vt:lpstr>Summary</vt:lpstr>
      <vt:lpstr>2.Hardware Description Languages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/>
  <cp:lastModifiedBy>Jorge Gonzalez</cp:lastModifiedBy>
  <cp:revision>19</cp:revision>
  <dcterms:created xsi:type="dcterms:W3CDTF">2024-04-01T10:39:37Z</dcterms:created>
  <dcterms:modified xsi:type="dcterms:W3CDTF">2025-08-18T09:12:45Z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1033-11.1.0.11698</vt:lpwstr>
  </property>
</Properties>
</file>