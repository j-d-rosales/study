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13716000" cx="24384000"/>
  <p:notesSz cx="6858000" cy="9144000"/>
  <p:embeddedFontLst>
    <p:embeddedFont>
      <p:font typeface="Montserrat"/>
      <p:regular r:id="rId37"/>
      <p:bold r:id="rId38"/>
      <p:italic r:id="rId39"/>
      <p:boldItalic r:id="rId40"/>
    </p:embeddedFont>
    <p:embeddedFont>
      <p:font typeface="Tahoma"/>
      <p:regular r:id="rId41"/>
      <p:bold r:id="rId42"/>
    </p:embeddedFont>
    <p:embeddedFont>
      <p:font typeface="Helvetica Neue"/>
      <p:regular r:id="rId43"/>
      <p:bold r:id="rId44"/>
      <p:italic r:id="rId45"/>
      <p:boldItalic r:id="rId46"/>
    </p:embeddedFont>
    <p:embeddedFont>
      <p:font typeface="Helvetica Neue Light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iGc90b8gRddsoRni4cGAUqZy7X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AC3932-420F-4A02-9DB1-CCAE7E63A863}">
  <a:tblStyle styleId="{4CAC3932-420F-4A02-9DB1-CCAE7E63A86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61773-EE8C-42B1-AB48-9616E19F06F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42" Type="http://schemas.openxmlformats.org/officeDocument/2006/relationships/font" Target="fonts/Tahoma-bold.fntdata"/><Relationship Id="rId41" Type="http://schemas.openxmlformats.org/officeDocument/2006/relationships/font" Target="fonts/Tahoma-regular.fntdata"/><Relationship Id="rId44" Type="http://schemas.openxmlformats.org/officeDocument/2006/relationships/font" Target="fonts/HelveticaNeue-bold.fntdata"/><Relationship Id="rId43" Type="http://schemas.openxmlformats.org/officeDocument/2006/relationships/font" Target="fonts/HelveticaNeue-regular.fntdata"/><Relationship Id="rId46" Type="http://schemas.openxmlformats.org/officeDocument/2006/relationships/font" Target="fonts/HelveticaNeue-boldItalic.fntdata"/><Relationship Id="rId45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lveticaNeueLight-bold.fntdata"/><Relationship Id="rId47" Type="http://schemas.openxmlformats.org/officeDocument/2006/relationships/font" Target="fonts/HelveticaNeueLight-regular.fntdata"/><Relationship Id="rId49" Type="http://schemas.openxmlformats.org/officeDocument/2006/relationships/font" Target="fonts/HelveticaNeue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Montserrat-regular.fntdata"/><Relationship Id="rId36" Type="http://schemas.openxmlformats.org/officeDocument/2006/relationships/slide" Target="slides/slide31.xml"/><Relationship Id="rId39" Type="http://schemas.openxmlformats.org/officeDocument/2006/relationships/font" Target="fonts/Montserrat-italic.fntdata"/><Relationship Id="rId38" Type="http://schemas.openxmlformats.org/officeDocument/2006/relationships/font" Target="fonts/Montserrat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HelveticaNeue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0" name="Google Shape;340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" name="Google Shape;352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hyperlink" Target="mailto:CWILLIAMS@UTEC.EDU.PE" TargetMode="External"/><Relationship Id="rId5" Type="http://schemas.openxmlformats.org/officeDocument/2006/relationships/hyperlink" Target="mailto:CWILLIAMS@UTEC.EDU.PE" TargetMode="External"/><Relationship Id="rId6" Type="http://schemas.openxmlformats.org/officeDocument/2006/relationships/hyperlink" Target="mailto:LADANAQUE@UTEC.EDU.PE" TargetMode="External"/><Relationship Id="rId7" Type="http://schemas.openxmlformats.org/officeDocument/2006/relationships/hyperlink" Target="mailto:LADANAQUE@UTEC.EDU.PE" TargetMode="External"/><Relationship Id="rId8" Type="http://schemas.openxmlformats.org/officeDocument/2006/relationships/hyperlink" Target="mailto:jgonzalez@utec.edu.pe" TargetMode="Externa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3987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703" y="1036457"/>
            <a:ext cx="4666799" cy="51956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3"/>
          <p:cNvSpPr txBox="1"/>
          <p:nvPr/>
        </p:nvSpPr>
        <p:spPr>
          <a:xfrm>
            <a:off x="279816" y="12339137"/>
            <a:ext cx="1219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</a:pPr>
            <a:r>
              <a:rPr b="1" i="0" lang="en-US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CS3051 - 2025II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alibri"/>
              <a:buNone/>
            </a:pPr>
            <a:r>
              <a:rPr b="1" i="0" lang="en-US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PROF.: </a:t>
            </a:r>
            <a:r>
              <a:rPr b="1" i="0" lang="en-US" sz="1867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CWILLIAMS</a:t>
            </a:r>
            <a:r>
              <a:rPr b="1" i="0" lang="en-US" sz="1867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@UTEC.EDU.PE</a:t>
            </a:r>
            <a:r>
              <a:rPr b="1" i="0" lang="en-US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867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LADANAQUE</a:t>
            </a:r>
            <a:r>
              <a:rPr b="1" i="0" lang="en-US" sz="1867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@UTEC.EDU.PE</a:t>
            </a:r>
            <a:r>
              <a:rPr b="1" i="0" lang="en-US" sz="1867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867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JGONZALEZ@UTEC.EDU.PE</a:t>
            </a:r>
            <a:endParaRPr b="1" i="0" sz="1867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SRC: HARRIS &amp; HARRIS - DIGITAL DESIGN AND COMPUTER ARCHITECTURE RISC-V </a:t>
            </a:r>
            <a:endParaRPr b="1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3"/>
          <p:cNvSpPr txBox="1"/>
          <p:nvPr>
            <p:ph type="title"/>
          </p:nvPr>
        </p:nvSpPr>
        <p:spPr>
          <a:xfrm>
            <a:off x="1805221" y="2416857"/>
            <a:ext cx="20881032" cy="224449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14800"/>
              <a:buFont typeface="Calibri"/>
              <a:buNone/>
              <a:defRPr b="1" sz="14800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3"/>
          <p:cNvSpPr txBox="1"/>
          <p:nvPr>
            <p:ph idx="1" type="body"/>
          </p:nvPr>
        </p:nvSpPr>
        <p:spPr>
          <a:xfrm>
            <a:off x="489007" y="4755109"/>
            <a:ext cx="19587328" cy="210289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" name="Google Shape;15;p33"/>
          <p:cNvCxnSpPr/>
          <p:nvPr/>
        </p:nvCxnSpPr>
        <p:spPr>
          <a:xfrm rot="10800000">
            <a:off x="1828103" y="4464513"/>
            <a:ext cx="1529600" cy="0"/>
          </a:xfrm>
          <a:prstGeom prst="straightConnector1">
            <a:avLst/>
          </a:prstGeom>
          <a:noFill/>
          <a:ln cap="flat" cmpd="sng" w="762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" name="Google Shape;16;p33"/>
          <p:cNvGrpSpPr/>
          <p:nvPr/>
        </p:nvGrpSpPr>
        <p:grpSpPr>
          <a:xfrm>
            <a:off x="721475" y="2966051"/>
            <a:ext cx="975099" cy="1356777"/>
            <a:chOff x="910723" y="1508212"/>
            <a:chExt cx="251660" cy="350166"/>
          </a:xfrm>
        </p:grpSpPr>
        <p:sp>
          <p:nvSpPr>
            <p:cNvPr id="17" name="Google Shape;17;p33"/>
            <p:cNvSpPr/>
            <p:nvPr/>
          </p:nvSpPr>
          <p:spPr>
            <a:xfrm>
              <a:off x="910723" y="1508212"/>
              <a:ext cx="251660" cy="350166"/>
            </a:xfrm>
            <a:custGeom>
              <a:rect b="b" l="l" r="r" t="t"/>
              <a:pathLst>
                <a:path extrusionOk="0" h="11002" w="7907">
                  <a:moveTo>
                    <a:pt x="3942" y="334"/>
                  </a:moveTo>
                  <a:cubicBezTo>
                    <a:pt x="4132" y="334"/>
                    <a:pt x="4299" y="441"/>
                    <a:pt x="4394" y="608"/>
                  </a:cubicBezTo>
                  <a:cubicBezTo>
                    <a:pt x="4418" y="644"/>
                    <a:pt x="4466" y="679"/>
                    <a:pt x="4525" y="679"/>
                  </a:cubicBezTo>
                  <a:lnTo>
                    <a:pt x="5132" y="679"/>
                  </a:lnTo>
                  <a:cubicBezTo>
                    <a:pt x="5240" y="679"/>
                    <a:pt x="5311" y="763"/>
                    <a:pt x="5311" y="858"/>
                  </a:cubicBezTo>
                  <a:lnTo>
                    <a:pt x="5311" y="1382"/>
                  </a:lnTo>
                  <a:lnTo>
                    <a:pt x="2573" y="1382"/>
                  </a:lnTo>
                  <a:lnTo>
                    <a:pt x="2573" y="858"/>
                  </a:lnTo>
                  <a:cubicBezTo>
                    <a:pt x="2573" y="751"/>
                    <a:pt x="2668" y="679"/>
                    <a:pt x="2751" y="679"/>
                  </a:cubicBezTo>
                  <a:lnTo>
                    <a:pt x="3358" y="679"/>
                  </a:lnTo>
                  <a:cubicBezTo>
                    <a:pt x="3418" y="679"/>
                    <a:pt x="3466" y="644"/>
                    <a:pt x="3501" y="608"/>
                  </a:cubicBezTo>
                  <a:cubicBezTo>
                    <a:pt x="3585" y="441"/>
                    <a:pt x="3763" y="334"/>
                    <a:pt x="3942" y="334"/>
                  </a:cubicBezTo>
                  <a:close/>
                  <a:moveTo>
                    <a:pt x="7240" y="1013"/>
                  </a:moveTo>
                  <a:cubicBezTo>
                    <a:pt x="7442" y="1013"/>
                    <a:pt x="7609" y="1179"/>
                    <a:pt x="7609" y="1370"/>
                  </a:cubicBezTo>
                  <a:lnTo>
                    <a:pt x="7609" y="10323"/>
                  </a:lnTo>
                  <a:lnTo>
                    <a:pt x="7585" y="10323"/>
                  </a:lnTo>
                  <a:cubicBezTo>
                    <a:pt x="7585" y="10514"/>
                    <a:pt x="7430" y="10681"/>
                    <a:pt x="7228" y="10681"/>
                  </a:cubicBezTo>
                  <a:lnTo>
                    <a:pt x="691" y="10681"/>
                  </a:lnTo>
                  <a:cubicBezTo>
                    <a:pt x="501" y="10681"/>
                    <a:pt x="334" y="10514"/>
                    <a:pt x="334" y="10323"/>
                  </a:cubicBezTo>
                  <a:lnTo>
                    <a:pt x="334" y="1370"/>
                  </a:lnTo>
                  <a:cubicBezTo>
                    <a:pt x="334" y="1179"/>
                    <a:pt x="501" y="1013"/>
                    <a:pt x="691" y="1013"/>
                  </a:cubicBezTo>
                  <a:lnTo>
                    <a:pt x="2263" y="1013"/>
                  </a:lnTo>
                  <a:lnTo>
                    <a:pt x="2263" y="1537"/>
                  </a:lnTo>
                  <a:cubicBezTo>
                    <a:pt x="2263" y="1632"/>
                    <a:pt x="2335" y="1703"/>
                    <a:pt x="2418" y="1703"/>
                  </a:cubicBezTo>
                  <a:lnTo>
                    <a:pt x="5525" y="1703"/>
                  </a:lnTo>
                  <a:cubicBezTo>
                    <a:pt x="5609" y="1703"/>
                    <a:pt x="5680" y="1632"/>
                    <a:pt x="5680" y="1537"/>
                  </a:cubicBezTo>
                  <a:lnTo>
                    <a:pt x="5680" y="1013"/>
                  </a:lnTo>
                  <a:close/>
                  <a:moveTo>
                    <a:pt x="3954" y="1"/>
                  </a:moveTo>
                  <a:cubicBezTo>
                    <a:pt x="3692" y="1"/>
                    <a:pt x="3442" y="144"/>
                    <a:pt x="3275" y="346"/>
                  </a:cubicBezTo>
                  <a:lnTo>
                    <a:pt x="2751" y="346"/>
                  </a:lnTo>
                  <a:cubicBezTo>
                    <a:pt x="2525" y="346"/>
                    <a:pt x="2335" y="501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9"/>
                    <a:pt x="1" y="1382"/>
                  </a:cubicBezTo>
                  <a:lnTo>
                    <a:pt x="1" y="10323"/>
                  </a:lnTo>
                  <a:cubicBezTo>
                    <a:pt x="1" y="10692"/>
                    <a:pt x="299" y="11002"/>
                    <a:pt x="680" y="11002"/>
                  </a:cubicBezTo>
                  <a:lnTo>
                    <a:pt x="7216" y="11002"/>
                  </a:lnTo>
                  <a:cubicBezTo>
                    <a:pt x="7585" y="11002"/>
                    <a:pt x="7907" y="10704"/>
                    <a:pt x="7907" y="10323"/>
                  </a:cubicBezTo>
                  <a:lnTo>
                    <a:pt x="7907" y="1382"/>
                  </a:lnTo>
                  <a:cubicBezTo>
                    <a:pt x="7907" y="989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501"/>
                    <a:pt x="5383" y="346"/>
                    <a:pt x="5168" y="346"/>
                  </a:cubicBezTo>
                  <a:lnTo>
                    <a:pt x="4644" y="346"/>
                  </a:lnTo>
                  <a:cubicBezTo>
                    <a:pt x="4478" y="144"/>
                    <a:pt x="4228" y="1"/>
                    <a:pt x="3954" y="1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3"/>
            <p:cNvSpPr/>
            <p:nvPr/>
          </p:nvSpPr>
          <p:spPr>
            <a:xfrm>
              <a:off x="1031604" y="1530205"/>
              <a:ext cx="10280" cy="10248"/>
            </a:xfrm>
            <a:custGeom>
              <a:rect b="b" l="l" r="r" t="t"/>
              <a:pathLst>
                <a:path extrusionOk="0" h="322" w="323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3"/>
            <p:cNvSpPr/>
            <p:nvPr/>
          </p:nvSpPr>
          <p:spPr>
            <a:xfrm>
              <a:off x="932334" y="1551784"/>
              <a:ext cx="208088" cy="273653"/>
            </a:xfrm>
            <a:custGeom>
              <a:rect b="b" l="l" r="r" t="t"/>
              <a:pathLst>
                <a:path extrusionOk="0" h="8598" w="6538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8430"/>
                  </a:lnTo>
                  <a:cubicBezTo>
                    <a:pt x="1" y="8526"/>
                    <a:pt x="72" y="8597"/>
                    <a:pt x="167" y="8597"/>
                  </a:cubicBezTo>
                  <a:lnTo>
                    <a:pt x="6358" y="8597"/>
                  </a:lnTo>
                  <a:cubicBezTo>
                    <a:pt x="6442" y="8597"/>
                    <a:pt x="6525" y="8526"/>
                    <a:pt x="6525" y="8430"/>
                  </a:cubicBezTo>
                  <a:lnTo>
                    <a:pt x="6525" y="168"/>
                  </a:lnTo>
                  <a:cubicBezTo>
                    <a:pt x="6537" y="84"/>
                    <a:pt x="6466" y="13"/>
                    <a:pt x="6370" y="13"/>
                  </a:cubicBezTo>
                  <a:lnTo>
                    <a:pt x="5513" y="13"/>
                  </a:lnTo>
                  <a:cubicBezTo>
                    <a:pt x="5418" y="13"/>
                    <a:pt x="5346" y="84"/>
                    <a:pt x="5346" y="168"/>
                  </a:cubicBezTo>
                  <a:cubicBezTo>
                    <a:pt x="5346" y="263"/>
                    <a:pt x="5418" y="334"/>
                    <a:pt x="5513" y="334"/>
                  </a:cubicBezTo>
                  <a:lnTo>
                    <a:pt x="6204" y="334"/>
                  </a:lnTo>
                  <a:lnTo>
                    <a:pt x="6204" y="8264"/>
                  </a:lnTo>
                  <a:lnTo>
                    <a:pt x="334" y="8264"/>
                  </a:lnTo>
                  <a:lnTo>
                    <a:pt x="334" y="334"/>
                  </a:lnTo>
                  <a:lnTo>
                    <a:pt x="1024" y="334"/>
                  </a:lnTo>
                  <a:cubicBezTo>
                    <a:pt x="1120" y="334"/>
                    <a:pt x="1191" y="263"/>
                    <a:pt x="1191" y="168"/>
                  </a:cubicBezTo>
                  <a:cubicBezTo>
                    <a:pt x="1191" y="84"/>
                    <a:pt x="1120" y="1"/>
                    <a:pt x="1024" y="1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3"/>
            <p:cNvSpPr/>
            <p:nvPr/>
          </p:nvSpPr>
          <p:spPr>
            <a:xfrm>
              <a:off x="965689" y="1661302"/>
              <a:ext cx="32241" cy="32241"/>
            </a:xfrm>
            <a:custGeom>
              <a:rect b="b" l="l" r="r" t="t"/>
              <a:pathLst>
                <a:path extrusionOk="0" h="1013" w="1013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703" y="620"/>
                    <a:pt x="608" y="703"/>
                    <a:pt x="500" y="703"/>
                  </a:cubicBezTo>
                  <a:cubicBezTo>
                    <a:pt x="405" y="703"/>
                    <a:pt x="322" y="620"/>
                    <a:pt x="322" y="525"/>
                  </a:cubicBezTo>
                  <a:cubicBezTo>
                    <a:pt x="322" y="417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7"/>
                    <a:pt x="227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3"/>
            <p:cNvSpPr/>
            <p:nvPr/>
          </p:nvSpPr>
          <p:spPr>
            <a:xfrm>
              <a:off x="965689" y="1710571"/>
              <a:ext cx="32241" cy="32241"/>
            </a:xfrm>
            <a:custGeom>
              <a:rect b="b" l="l" r="r" t="t"/>
              <a:pathLst>
                <a:path extrusionOk="0" h="1013" w="1013">
                  <a:moveTo>
                    <a:pt x="500" y="346"/>
                  </a:moveTo>
                  <a:cubicBezTo>
                    <a:pt x="608" y="346"/>
                    <a:pt x="679" y="441"/>
                    <a:pt x="679" y="524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405" y="703"/>
                    <a:pt x="322" y="608"/>
                    <a:pt x="322" y="524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6"/>
                    <a:pt x="227" y="1013"/>
                    <a:pt x="500" y="1013"/>
                  </a:cubicBezTo>
                  <a:cubicBezTo>
                    <a:pt x="786" y="1013"/>
                    <a:pt x="1012" y="786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3"/>
            <p:cNvSpPr/>
            <p:nvPr/>
          </p:nvSpPr>
          <p:spPr>
            <a:xfrm>
              <a:off x="965689" y="1760604"/>
              <a:ext cx="32241" cy="31859"/>
            </a:xfrm>
            <a:custGeom>
              <a:rect b="b" l="l" r="r" t="t"/>
              <a:pathLst>
                <a:path extrusionOk="0" h="1001" w="1013">
                  <a:moveTo>
                    <a:pt x="500" y="322"/>
                  </a:moveTo>
                  <a:cubicBezTo>
                    <a:pt x="608" y="322"/>
                    <a:pt x="679" y="417"/>
                    <a:pt x="679" y="500"/>
                  </a:cubicBezTo>
                  <a:cubicBezTo>
                    <a:pt x="703" y="596"/>
                    <a:pt x="608" y="679"/>
                    <a:pt x="500" y="679"/>
                  </a:cubicBezTo>
                  <a:cubicBezTo>
                    <a:pt x="405" y="679"/>
                    <a:pt x="322" y="584"/>
                    <a:pt x="322" y="500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27" y="0"/>
                    <a:pt x="0" y="215"/>
                    <a:pt x="0" y="500"/>
                  </a:cubicBezTo>
                  <a:cubicBezTo>
                    <a:pt x="0" y="786"/>
                    <a:pt x="227" y="1000"/>
                    <a:pt x="500" y="1000"/>
                  </a:cubicBezTo>
                  <a:cubicBezTo>
                    <a:pt x="786" y="1000"/>
                    <a:pt x="1012" y="786"/>
                    <a:pt x="1012" y="500"/>
                  </a:cubicBezTo>
                  <a:cubicBezTo>
                    <a:pt x="1012" y="215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3"/>
            <p:cNvSpPr/>
            <p:nvPr/>
          </p:nvSpPr>
          <p:spPr>
            <a:xfrm>
              <a:off x="1009643" y="1661302"/>
              <a:ext cx="59899" cy="10662"/>
            </a:xfrm>
            <a:custGeom>
              <a:rect b="b" l="l" r="r" t="t"/>
              <a:pathLst>
                <a:path extrusionOk="0" h="335" w="1882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72"/>
                    <a:pt x="1798" y="1"/>
                    <a:pt x="1715" y="1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3"/>
            <p:cNvSpPr/>
            <p:nvPr/>
          </p:nvSpPr>
          <p:spPr>
            <a:xfrm>
              <a:off x="1009643" y="1683677"/>
              <a:ext cx="98188" cy="10630"/>
            </a:xfrm>
            <a:custGeom>
              <a:rect b="b" l="l" r="r" t="t"/>
              <a:pathLst>
                <a:path extrusionOk="0" h="334" w="3085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0"/>
                    <a:pt x="3084" y="167"/>
                  </a:cubicBezTo>
                  <a:cubicBezTo>
                    <a:pt x="3084" y="72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3"/>
            <p:cNvSpPr/>
            <p:nvPr/>
          </p:nvSpPr>
          <p:spPr>
            <a:xfrm>
              <a:off x="1009643" y="1710571"/>
              <a:ext cx="59899" cy="10630"/>
            </a:xfrm>
            <a:custGeom>
              <a:rect b="b" l="l" r="r" t="t"/>
              <a:pathLst>
                <a:path extrusionOk="0" h="334" w="1882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84"/>
                    <a:pt x="1798" y="1"/>
                    <a:pt x="1715" y="1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3"/>
            <p:cNvSpPr/>
            <p:nvPr/>
          </p:nvSpPr>
          <p:spPr>
            <a:xfrm>
              <a:off x="1009643" y="1732946"/>
              <a:ext cx="98188" cy="10630"/>
            </a:xfrm>
            <a:custGeom>
              <a:rect b="b" l="l" r="r" t="t"/>
              <a:pathLst>
                <a:path extrusionOk="0" h="334" w="3085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3"/>
            <p:cNvSpPr/>
            <p:nvPr/>
          </p:nvSpPr>
          <p:spPr>
            <a:xfrm>
              <a:off x="1009643" y="1760604"/>
              <a:ext cx="59899" cy="10248"/>
            </a:xfrm>
            <a:custGeom>
              <a:rect b="b" l="l" r="r" t="t"/>
              <a:pathLst>
                <a:path extrusionOk="0" h="322" w="1882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715" y="322"/>
                  </a:lnTo>
                  <a:cubicBezTo>
                    <a:pt x="1798" y="322"/>
                    <a:pt x="1882" y="250"/>
                    <a:pt x="1882" y="155"/>
                  </a:cubicBezTo>
                  <a:cubicBezTo>
                    <a:pt x="1882" y="72"/>
                    <a:pt x="1798" y="0"/>
                    <a:pt x="1715" y="0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3"/>
            <p:cNvSpPr/>
            <p:nvPr/>
          </p:nvSpPr>
          <p:spPr>
            <a:xfrm>
              <a:off x="1009643" y="1782183"/>
              <a:ext cx="98188" cy="10662"/>
            </a:xfrm>
            <a:custGeom>
              <a:rect b="b" l="l" r="r" t="t"/>
              <a:pathLst>
                <a:path extrusionOk="0" h="335" w="3085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1"/>
                    <a:pt x="3084" y="168"/>
                  </a:cubicBezTo>
                  <a:cubicBezTo>
                    <a:pt x="3084" y="72"/>
                    <a:pt x="3013" y="1"/>
                    <a:pt x="2917" y="1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3"/>
            <p:cNvSpPr/>
            <p:nvPr/>
          </p:nvSpPr>
          <p:spPr>
            <a:xfrm>
              <a:off x="1009643" y="1579473"/>
              <a:ext cx="98188" cy="10630"/>
            </a:xfrm>
            <a:custGeom>
              <a:rect b="b" l="l" r="r" t="t"/>
              <a:pathLst>
                <a:path extrusionOk="0" h="334" w="3085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3"/>
            <p:cNvSpPr/>
            <p:nvPr/>
          </p:nvSpPr>
          <p:spPr>
            <a:xfrm>
              <a:off x="965689" y="1628711"/>
              <a:ext cx="142142" cy="10662"/>
            </a:xfrm>
            <a:custGeom>
              <a:rect b="b" l="l" r="r" t="t"/>
              <a:pathLst>
                <a:path extrusionOk="0" h="335" w="4466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4298" y="334"/>
                  </a:lnTo>
                  <a:cubicBezTo>
                    <a:pt x="4394" y="334"/>
                    <a:pt x="4465" y="251"/>
                    <a:pt x="4465" y="168"/>
                  </a:cubicBezTo>
                  <a:cubicBezTo>
                    <a:pt x="4465" y="72"/>
                    <a:pt x="4394" y="1"/>
                    <a:pt x="4298" y="1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3"/>
            <p:cNvSpPr/>
            <p:nvPr/>
          </p:nvSpPr>
          <p:spPr>
            <a:xfrm>
              <a:off x="1009643" y="1601434"/>
              <a:ext cx="26926" cy="10280"/>
            </a:xfrm>
            <a:custGeom>
              <a:rect b="b" l="l" r="r" t="t"/>
              <a:pathLst>
                <a:path extrusionOk="0" h="323" w="846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6" y="251"/>
                    <a:pt x="846" y="155"/>
                  </a:cubicBezTo>
                  <a:cubicBezTo>
                    <a:pt x="846" y="72"/>
                    <a:pt x="762" y="1"/>
                    <a:pt x="691" y="1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3"/>
            <p:cNvSpPr/>
            <p:nvPr/>
          </p:nvSpPr>
          <p:spPr>
            <a:xfrm>
              <a:off x="1047550" y="1601434"/>
              <a:ext cx="26926" cy="10280"/>
            </a:xfrm>
            <a:custGeom>
              <a:rect b="b" l="l" r="r" t="t"/>
              <a:pathLst>
                <a:path extrusionOk="0" h="323" w="846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5" y="251"/>
                    <a:pt x="845" y="155"/>
                  </a:cubicBezTo>
                  <a:cubicBezTo>
                    <a:pt x="845" y="72"/>
                    <a:pt x="774" y="1"/>
                    <a:pt x="691" y="1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3"/>
            <p:cNvSpPr/>
            <p:nvPr/>
          </p:nvSpPr>
          <p:spPr>
            <a:xfrm>
              <a:off x="966071" y="1579473"/>
              <a:ext cx="32241" cy="32241"/>
            </a:xfrm>
            <a:custGeom>
              <a:rect b="b" l="l" r="r" t="t"/>
              <a:pathLst>
                <a:path extrusionOk="0" h="1013" w="1013">
                  <a:moveTo>
                    <a:pt x="691" y="310"/>
                  </a:moveTo>
                  <a:lnTo>
                    <a:pt x="691" y="691"/>
                  </a:lnTo>
                  <a:lnTo>
                    <a:pt x="310" y="691"/>
                  </a:lnTo>
                  <a:lnTo>
                    <a:pt x="310" y="310"/>
                  </a:lnTo>
                  <a:close/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845"/>
                  </a:lnTo>
                  <a:cubicBezTo>
                    <a:pt x="0" y="941"/>
                    <a:pt x="72" y="1012"/>
                    <a:pt x="167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5"/>
                  </a:cubicBezTo>
                  <a:lnTo>
                    <a:pt x="1012" y="167"/>
                  </a:lnTo>
                  <a:cubicBezTo>
                    <a:pt x="1000" y="71"/>
                    <a:pt x="941" y="0"/>
                    <a:pt x="846" y="0"/>
                  </a:cubicBezTo>
                  <a:close/>
                </a:path>
              </a:pathLst>
            </a:custGeom>
            <a:solidFill>
              <a:srgbClr val="00BFFF"/>
            </a:solidFill>
            <a:ln cap="flat" cmpd="sng" w="9525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43800" lIns="243800" spcFirstLastPara="1" rIns="243800" wrap="square" tIns="24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">
  <p:cSld name="9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34"/>
          <p:cNvPicPr preferRelativeResize="0"/>
          <p:nvPr/>
        </p:nvPicPr>
        <p:blipFill rotWithShape="1">
          <a:blip r:embed="rId2">
            <a:alphaModFix/>
          </a:blip>
          <a:srcRect b="0" l="0" r="0" t="92127"/>
          <a:stretch/>
        </p:blipFill>
        <p:spPr>
          <a:xfrm>
            <a:off x="0" y="12616253"/>
            <a:ext cx="24384000" cy="107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4"/>
          <p:cNvPicPr preferRelativeResize="0"/>
          <p:nvPr/>
        </p:nvPicPr>
        <p:blipFill rotWithShape="1">
          <a:blip r:embed="rId2">
            <a:alphaModFix/>
          </a:blip>
          <a:srcRect b="87543" l="80051" r="811" t="6515"/>
          <a:stretch/>
        </p:blipFill>
        <p:spPr>
          <a:xfrm>
            <a:off x="19645285" y="12616253"/>
            <a:ext cx="4666273" cy="81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96264" y="13243677"/>
            <a:ext cx="3550825" cy="395323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4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34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  <a:defRPr b="1" sz="255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">
  <p:cSld name="8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17201" y="433024"/>
            <a:ext cx="4666799" cy="738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>
  <p:cSld name="标题和内容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/>
          <p:nvPr>
            <p:ph type="title"/>
          </p:nvPr>
        </p:nvSpPr>
        <p:spPr>
          <a:xfrm>
            <a:off x="888090" y="0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584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1pPr>
            <a:lvl2pPr indent="-5842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2pPr>
            <a:lvl3pPr indent="-5842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3pPr>
            <a:lvl4pPr indent="-5842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4pPr>
            <a:lvl5pPr indent="-5842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5pPr>
            <a:lvl6pPr indent="-5842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6pPr>
            <a:lvl7pPr indent="-5842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7pPr>
            <a:lvl8pPr indent="-5842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8pPr>
            <a:lvl9pPr indent="-5842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9pPr>
          </a:lstStyle>
          <a:p/>
        </p:txBody>
      </p:sp>
      <p:sp>
        <p:nvSpPr>
          <p:cNvPr id="48" name="Google Shape;48;p36"/>
          <p:cNvSpPr/>
          <p:nvPr/>
        </p:nvSpPr>
        <p:spPr>
          <a:xfrm rot="5400000">
            <a:off x="-783589" y="1198227"/>
            <a:ext cx="2664823" cy="1149531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-25943" y="1327548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i="0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36"/>
          <p:cNvPicPr preferRelativeResize="0"/>
          <p:nvPr/>
        </p:nvPicPr>
        <p:blipFill rotWithShape="1">
          <a:blip r:embed="rId2">
            <a:alphaModFix/>
          </a:blip>
          <a:srcRect b="0" l="0" r="54024" t="-1912"/>
          <a:stretch/>
        </p:blipFill>
        <p:spPr>
          <a:xfrm>
            <a:off x="21880286" y="12409713"/>
            <a:ext cx="2503714" cy="135671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6"/>
          <p:cNvSpPr txBox="1"/>
          <p:nvPr/>
        </p:nvSpPr>
        <p:spPr>
          <a:xfrm>
            <a:off x="634570" y="12932505"/>
            <a:ext cx="7166412" cy="51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CS3501-COMPUTER ARCHITECTURE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">
  <p:cSld name="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434" y="12295534"/>
            <a:ext cx="4666799" cy="738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">
  <p:cSld name="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3987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434" y="12295534"/>
            <a:ext cx="4666799" cy="738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act">
  <p:cSld name="Big Fa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59" name="Google Shape;59;p39"/>
          <p:cNvPicPr preferRelativeResize="0"/>
          <p:nvPr/>
        </p:nvPicPr>
        <p:blipFill rotWithShape="1">
          <a:blip r:embed="rId2">
            <a:alphaModFix amt="95000"/>
          </a:blip>
          <a:srcRect b="11249" l="23939" r="19218" t="4189"/>
          <a:stretch/>
        </p:blipFill>
        <p:spPr>
          <a:xfrm>
            <a:off x="0" y="1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9"/>
          <p:cNvSpPr/>
          <p:nvPr/>
        </p:nvSpPr>
        <p:spPr>
          <a:xfrm>
            <a:off x="0" y="53662"/>
            <a:ext cx="24384000" cy="13716000"/>
          </a:xfrm>
          <a:prstGeom prst="rect">
            <a:avLst/>
          </a:prstGeom>
          <a:solidFill>
            <a:srgbClr val="00B0F0">
              <a:alpha val="50980"/>
            </a:srgbClr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9"/>
          <p:cNvSpPr txBox="1"/>
          <p:nvPr>
            <p:ph idx="1" type="body"/>
          </p:nvPr>
        </p:nvSpPr>
        <p:spPr>
          <a:xfrm>
            <a:off x="3798093" y="4197928"/>
            <a:ext cx="3018343" cy="4655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  <a:defRPr b="1" i="0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0"/>
              <a:buFont typeface="Calibri"/>
              <a:buNone/>
              <a:defRPr b="1" i="0" sz="28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b="1" i="0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2" type="body"/>
          </p:nvPr>
        </p:nvSpPr>
        <p:spPr>
          <a:xfrm>
            <a:off x="7206311" y="5759981"/>
            <a:ext cx="11497325" cy="230336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  <a:defRPr b="1" sz="52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2" type="sldNum"/>
          </p:nvPr>
        </p:nvSpPr>
        <p:spPr>
          <a:xfrm>
            <a:off x="22983974" y="12722275"/>
            <a:ext cx="632802" cy="630942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0"/>
          <p:cNvSpPr/>
          <p:nvPr>
            <p:ph idx="2" type="pic"/>
          </p:nvPr>
        </p:nvSpPr>
        <p:spPr>
          <a:xfrm>
            <a:off x="12031265" y="6518950"/>
            <a:ext cx="8709021" cy="5840017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/>
          <p:nvPr>
            <p:ph idx="3" type="pic"/>
          </p:nvPr>
        </p:nvSpPr>
        <p:spPr>
          <a:xfrm>
            <a:off x="12084843" y="839390"/>
            <a:ext cx="8626257" cy="5731879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40"/>
          <p:cNvSpPr/>
          <p:nvPr>
            <p:ph idx="4" type="pic"/>
          </p:nvPr>
        </p:nvSpPr>
        <p:spPr>
          <a:xfrm>
            <a:off x="3369468" y="839390"/>
            <a:ext cx="9269017" cy="1144465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0"/>
          <p:cNvSpPr txBox="1"/>
          <p:nvPr>
            <p:ph idx="12" type="sldNum"/>
          </p:nvPr>
        </p:nvSpPr>
        <p:spPr>
          <a:xfrm>
            <a:off x="20299523" y="12441864"/>
            <a:ext cx="309576" cy="454153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/>
          <p:nvPr>
            <p:ph idx="2" type="pic"/>
          </p:nvPr>
        </p:nvSpPr>
        <p:spPr>
          <a:xfrm>
            <a:off x="2101453" y="-535782"/>
            <a:ext cx="23520797" cy="14510756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20299523" y="12441864"/>
            <a:ext cx="309576" cy="454153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20299523" y="12441864"/>
            <a:ext cx="309576" cy="454153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43"/>
          <p:cNvCxnSpPr/>
          <p:nvPr/>
        </p:nvCxnSpPr>
        <p:spPr>
          <a:xfrm>
            <a:off x="3851671" y="6679406"/>
            <a:ext cx="16689508" cy="182"/>
          </a:xfrm>
          <a:prstGeom prst="straightConnector1">
            <a:avLst/>
          </a:prstGeom>
          <a:noFill/>
          <a:ln cap="flat" cmpd="sng" w="12700">
            <a:solidFill>
              <a:srgbClr val="9A9A9A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76" name="Google Shape;76;p43"/>
          <p:cNvSpPr txBox="1"/>
          <p:nvPr>
            <p:ph type="title"/>
          </p:nvPr>
        </p:nvSpPr>
        <p:spPr>
          <a:xfrm>
            <a:off x="3851671" y="1857375"/>
            <a:ext cx="16680658" cy="4464844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Helvetica Neue Light"/>
              <a:buNone/>
              <a:defRPr sz="5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" type="body"/>
          </p:nvPr>
        </p:nvSpPr>
        <p:spPr>
          <a:xfrm>
            <a:off x="3851671" y="7054453"/>
            <a:ext cx="16680658" cy="142875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Helvetica Neue"/>
              <a:buNone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Helvetica Neue"/>
              <a:buNone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Helvetica Neue"/>
              <a:buNone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Helvetica Neue"/>
              <a:buNone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Helvetica Neue"/>
              <a:buNone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43"/>
          <p:cNvSpPr txBox="1"/>
          <p:nvPr>
            <p:ph idx="12" type="sldNum"/>
          </p:nvPr>
        </p:nvSpPr>
        <p:spPr>
          <a:xfrm>
            <a:off x="20329146" y="12942938"/>
            <a:ext cx="409779" cy="415875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44"/>
          <p:cNvCxnSpPr/>
          <p:nvPr/>
        </p:nvCxnSpPr>
        <p:spPr>
          <a:xfrm>
            <a:off x="3851671" y="1357312"/>
            <a:ext cx="16689524" cy="182"/>
          </a:xfrm>
          <a:prstGeom prst="straightConnector1">
            <a:avLst/>
          </a:prstGeom>
          <a:noFill/>
          <a:ln cap="flat" cmpd="sng" w="12700">
            <a:solidFill>
              <a:srgbClr val="9A9A9A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81" name="Google Shape;81;p44"/>
          <p:cNvSpPr txBox="1"/>
          <p:nvPr>
            <p:ph type="title"/>
          </p:nvPr>
        </p:nvSpPr>
        <p:spPr>
          <a:xfrm>
            <a:off x="3851671" y="-839391"/>
            <a:ext cx="16680658" cy="1964532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Helvetica Neue Light"/>
              <a:buNone/>
              <a:defRPr sz="58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2" type="sldNum"/>
          </p:nvPr>
        </p:nvSpPr>
        <p:spPr>
          <a:xfrm>
            <a:off x="20074943" y="12670399"/>
            <a:ext cx="663982" cy="688414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5"/>
          <p:cNvSpPr/>
          <p:nvPr/>
        </p:nvSpPr>
        <p:spPr>
          <a:xfrm>
            <a:off x="1676400" y="247106"/>
            <a:ext cx="21031200" cy="1685636"/>
          </a:xfrm>
          <a:prstGeom prst="rect">
            <a:avLst/>
          </a:prstGeom>
          <a:solidFill>
            <a:srgbClr val="2F5C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2732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5"/>
          <p:cNvSpPr/>
          <p:nvPr/>
        </p:nvSpPr>
        <p:spPr>
          <a:xfrm flipH="1" rot="10800000">
            <a:off x="21551683" y="12381871"/>
            <a:ext cx="1169234" cy="1004346"/>
          </a:xfrm>
          <a:prstGeom prst="ellipse">
            <a:avLst/>
          </a:prstGeom>
          <a:solidFill>
            <a:srgbClr val="2F5C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2732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5"/>
          <p:cNvSpPr txBox="1"/>
          <p:nvPr>
            <p:ph idx="1" type="body"/>
          </p:nvPr>
        </p:nvSpPr>
        <p:spPr>
          <a:xfrm>
            <a:off x="1676400" y="2356106"/>
            <a:ext cx="21031200" cy="99957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584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Font typeface="Noto Sans Symbols"/>
              <a:buChar char="▪"/>
              <a:defRPr sz="7200">
                <a:solidFill>
                  <a:srgbClr val="273272"/>
                </a:solidFill>
              </a:defRPr>
            </a:lvl1pPr>
            <a:lvl2pPr indent="-584200" lvl="1" marL="914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7B217"/>
              </a:buClr>
              <a:buSzPts val="5600"/>
              <a:buFont typeface="Noto Sans Symbols"/>
              <a:buChar char="▪"/>
              <a:defRPr sz="6400">
                <a:solidFill>
                  <a:srgbClr val="273272"/>
                </a:solidFill>
              </a:defRPr>
            </a:lvl2pPr>
            <a:lvl3pPr indent="-584200" lvl="2" marL="1371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Font typeface="Noto Sans Symbols"/>
              <a:buChar char="▪"/>
              <a:defRPr sz="4800">
                <a:solidFill>
                  <a:srgbClr val="273272"/>
                </a:solidFill>
              </a:defRPr>
            </a:lvl3pPr>
            <a:lvl4pPr indent="-584200" lvl="3" marL="1828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 sz="4000">
                <a:solidFill>
                  <a:srgbClr val="273272"/>
                </a:solidFill>
              </a:defRPr>
            </a:lvl4pPr>
            <a:lvl5pPr indent="-584200" lvl="4" marL="2286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 sz="3600">
                <a:solidFill>
                  <a:srgbClr val="273272"/>
                </a:solidFill>
              </a:defRPr>
            </a:lvl5pPr>
            <a:lvl6pPr indent="-584200" lvl="5" marL="2743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6pPr>
            <a:lvl7pPr indent="-584200" lvl="6" marL="3200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7pPr>
            <a:lvl8pPr indent="-584200" lvl="7" marL="3657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8pPr>
            <a:lvl9pPr indent="-584200" lvl="8" marL="41148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Char char="•"/>
              <a:defRPr/>
            </a:lvl9pPr>
          </a:lstStyle>
          <a:p/>
        </p:txBody>
      </p:sp>
      <p:sp>
        <p:nvSpPr>
          <p:cNvPr id="87" name="Google Shape;87;p45"/>
          <p:cNvSpPr txBox="1"/>
          <p:nvPr>
            <p:ph idx="12" type="sldNum"/>
          </p:nvPr>
        </p:nvSpPr>
        <p:spPr>
          <a:xfrm>
            <a:off x="21552063" y="12461201"/>
            <a:ext cx="1189346" cy="800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1" i="0" sz="4000" u="none" cap="none" strike="noStrike">
                <a:solidFill>
                  <a:srgbClr val="F7B21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1" i="0" sz="4000" u="none" cap="none" strike="noStrike">
                <a:solidFill>
                  <a:srgbClr val="F7B21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1" i="0" sz="4000" u="none" cap="none" strike="noStrike">
                <a:solidFill>
                  <a:srgbClr val="F7B21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1" i="0" sz="4000" u="none" cap="none" strike="noStrike">
                <a:solidFill>
                  <a:srgbClr val="F7B21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1" i="0" sz="4000" u="none" cap="none" strike="noStrike">
                <a:solidFill>
                  <a:srgbClr val="F7B21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1" i="0" sz="4000" u="none" cap="none" strike="noStrike">
                <a:solidFill>
                  <a:srgbClr val="F7B21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1" i="0" sz="4000" u="none" cap="none" strike="noStrike">
                <a:solidFill>
                  <a:srgbClr val="F7B21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1" i="0" sz="4000" u="none" cap="none" strike="noStrike">
                <a:solidFill>
                  <a:srgbClr val="F7B21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1" i="0" sz="4000" u="none" cap="none" strike="noStrike">
                <a:solidFill>
                  <a:srgbClr val="F7B21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45"/>
          <p:cNvSpPr txBox="1"/>
          <p:nvPr>
            <p:ph type="title"/>
          </p:nvPr>
        </p:nvSpPr>
        <p:spPr>
          <a:xfrm>
            <a:off x="1676400" y="215735"/>
            <a:ext cx="21031200" cy="1680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200" lIns="72000" spcFirstLastPara="1" rIns="0" wrap="square" tIns="25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b="1" sz="9600">
                <a:solidFill>
                  <a:srgbClr val="F7B217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1676400" y="730250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b="0" i="0" sz="8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584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84200" lvl="1" marL="914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84200" lvl="2" marL="1371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84200" lvl="3" marL="1828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84200" lvl="4" marL="22860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84200" lvl="5" marL="2743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84200" lvl="6" marL="32004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84200" lvl="7" marL="36576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84200" lvl="8" marL="41148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22203052" y="12835870"/>
            <a:ext cx="504548" cy="483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erubio@utec.edu.pe" TargetMode="External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title"/>
          </p:nvPr>
        </p:nvSpPr>
        <p:spPr>
          <a:xfrm>
            <a:off x="1805221" y="2416857"/>
            <a:ext cx="20881032" cy="224449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14800"/>
              <a:buFont typeface="Calibri"/>
              <a:buNone/>
            </a:pPr>
            <a:r>
              <a:rPr lang="en-US"/>
              <a:t>1.Introduction</a:t>
            </a:r>
            <a:endParaRPr/>
          </a:p>
        </p:txBody>
      </p:sp>
      <p:sp>
        <p:nvSpPr>
          <p:cNvPr id="94" name="Google Shape;94;p1"/>
          <p:cNvSpPr txBox="1"/>
          <p:nvPr>
            <p:ph idx="1" type="body"/>
          </p:nvPr>
        </p:nvSpPr>
        <p:spPr>
          <a:xfrm>
            <a:off x="489007" y="4799491"/>
            <a:ext cx="19587328" cy="210289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</a:pPr>
            <a:r>
              <a:rPr lang="en-US"/>
              <a:t>Computer Architecture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Executive Summary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Char char="•"/>
            </a:pPr>
            <a:r>
              <a:rPr b="1" lang="en-US"/>
              <a:t>Motivation: </a:t>
            </a:r>
            <a:r>
              <a:rPr lang="en-US"/>
              <a:t>Computer Architecture studies and proposes novel system architectures using both low- and high-level analysis.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FFF"/>
              </a:buClr>
              <a:buSzPts val="5600"/>
              <a:buChar char="•"/>
            </a:pPr>
            <a:r>
              <a:rPr b="1" lang="en-US">
                <a:solidFill>
                  <a:srgbClr val="00BFFF"/>
                </a:solidFill>
              </a:rPr>
              <a:t>Problem: </a:t>
            </a:r>
            <a:r>
              <a:rPr lang="en-US">
                <a:solidFill>
                  <a:srgbClr val="00BFFF"/>
                </a:solidFill>
              </a:rPr>
              <a:t>Computing systems technology is continuously evolving and software trends are constantly changing.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F0000"/>
              </a:buClr>
              <a:buSzPts val="5600"/>
              <a:buChar char="•"/>
            </a:pPr>
            <a:r>
              <a:rPr b="1" lang="en-US">
                <a:solidFill>
                  <a:srgbClr val="FF0000"/>
                </a:solidFill>
              </a:rPr>
              <a:t>Overview: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</a:pP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- CS3051 course logistics.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F0000"/>
              </a:buClr>
              <a:buSzPts val="5600"/>
              <a:buNone/>
            </a:pPr>
            <a:r>
              <a:rPr lang="en-US">
                <a:solidFill>
                  <a:srgbClr val="FF0000"/>
                </a:solidFill>
              </a:rPr>
              <a:t> - Computer  Architecture Introduction and show abstraction levels.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F0000"/>
              </a:buClr>
              <a:buSzPts val="5600"/>
              <a:buNone/>
            </a:pPr>
            <a:r>
              <a:rPr lang="en-US">
                <a:solidFill>
                  <a:srgbClr val="FF0000"/>
                </a:solidFill>
              </a:rPr>
              <a:t> - Review of number representation and data types.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050"/>
              </a:buClr>
              <a:buSzPts val="5600"/>
              <a:buChar char="•"/>
            </a:pPr>
            <a:r>
              <a:rPr b="1" lang="en-US">
                <a:solidFill>
                  <a:srgbClr val="00B050"/>
                </a:solidFill>
              </a:rPr>
              <a:t>Conclusion: </a:t>
            </a:r>
            <a:r>
              <a:rPr lang="en-US">
                <a:solidFill>
                  <a:srgbClr val="00B050"/>
                </a:solidFill>
              </a:rPr>
              <a:t>Computer Architecture provides insight of the processor design paradigm to propose next-gen designs and allows the designer to create efficient software.</a:t>
            </a:r>
            <a:endParaRPr/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2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rPr lang="en-US"/>
              <a:t>CS3051-COMPUTER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9190425" y="3691570"/>
            <a:ext cx="13016400" cy="7803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360765" y="3840946"/>
            <a:ext cx="10993800" cy="27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Msc. Carlos Williams Valencia </a:t>
            </a:r>
            <a:endParaRPr b="1" sz="5400" u="sng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u="sng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cwilliams@utec.edu.pe</a:t>
            </a:r>
            <a:endParaRPr b="1" sz="5200" u="sng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 b="1" sz="5200" u="sng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u="sng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</a:t>
            </a:r>
            <a:endParaRPr b="1" sz="5200" u="sng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9360775" y="7131050"/>
            <a:ext cx="12784200" cy="38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3400">
                <a:solidFill>
                  <a:srgbClr val="FFFFFF"/>
                </a:solidFill>
              </a:rPr>
              <a:t>He has a master's degree in Nanophysics from the Freie</a:t>
            </a:r>
            <a:endParaRPr sz="3400">
              <a:solidFill>
                <a:srgbClr val="FFFFFF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3400">
                <a:solidFill>
                  <a:srgbClr val="FFFFFF"/>
                </a:solidFill>
              </a:rPr>
              <a:t>Universität Berlin (Germany) and the École Polytechnique</a:t>
            </a:r>
            <a:endParaRPr sz="3400">
              <a:solidFill>
                <a:srgbClr val="FFFFFF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400">
                <a:solidFill>
                  <a:srgbClr val="FFFFFF"/>
                </a:solidFill>
              </a:rPr>
              <a:t>(France). He has completed internships in different institutions and companies (INICTEL-UNI, STMicroelectronics and EPFL) where he has obtained extensive experience in semiconductor physics, optics and device design. His current research interests focus on photonics, design optimization and nanophysics.</a:t>
            </a:r>
            <a:endParaRPr sz="3400">
              <a:solidFill>
                <a:srgbClr val="FFFFFF"/>
              </a:solidFill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4775" y="4025263"/>
            <a:ext cx="7275700" cy="713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4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rPr lang="en-US"/>
              <a:t>CS3051-COMPUTER ARCHITECTURE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888090" y="2580094"/>
            <a:ext cx="23125795" cy="14523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888090" y="4208927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Representation</a:t>
            </a:r>
            <a:endParaRPr b="0" i="0" sz="6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888090" y="7462905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888090" y="5835916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Floating Point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627198" y="8523149"/>
            <a:ext cx="22472653" cy="1591222"/>
          </a:xfrm>
          <a:prstGeom prst="rect">
            <a:avLst/>
          </a:prstGeom>
          <a:solidFill>
            <a:srgbClr val="98CD06">
              <a:alpha val="41960"/>
            </a:srgbClr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27198" y="10180293"/>
            <a:ext cx="22472653" cy="1332000"/>
          </a:xfrm>
          <a:prstGeom prst="rect">
            <a:avLst/>
          </a:prstGeom>
          <a:solidFill>
            <a:srgbClr val="C00000">
              <a:alpha val="41960"/>
            </a:srgbClr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27197" y="11709863"/>
            <a:ext cx="22472653" cy="1332000"/>
          </a:xfrm>
          <a:prstGeom prst="rect">
            <a:avLst/>
          </a:prstGeom>
          <a:solidFill>
            <a:srgbClr val="FFC000">
              <a:alpha val="41960"/>
            </a:srgbClr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>
            <p:ph type="title"/>
          </p:nvPr>
        </p:nvSpPr>
        <p:spPr>
          <a:xfrm>
            <a:off x="888089" y="2002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Recall:Binary Representation Summary</a:t>
            </a:r>
            <a:endParaRPr/>
          </a:p>
        </p:txBody>
      </p:sp>
      <p:sp>
        <p:nvSpPr>
          <p:cNvPr id="131" name="Google Shape;131;p5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5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rPr lang="en-US"/>
              <a:t>CS3051-COMPUTER ARCHITECTURE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  <p:graphicFrame>
        <p:nvGraphicFramePr>
          <p:cNvPr id="134" name="Google Shape;134;p5"/>
          <p:cNvGraphicFramePr/>
          <p:nvPr/>
        </p:nvGraphicFramePr>
        <p:xfrm>
          <a:off x="533400" y="7245350"/>
          <a:ext cx="22969538" cy="5389563"/>
        </p:xfrm>
        <a:graphic>
          <a:graphicData uri="http://schemas.openxmlformats.org/presentationml/2006/ole">
            <mc:AlternateContent>
              <mc:Choice Requires="v">
                <p:oleObj r:id="rId4" imgH="5389563" imgW="22969538" progId="Visio.Drawing.6" spid="_x0000_s1">
                  <p:embed/>
                </p:oleObj>
              </mc:Choice>
              <mc:Fallback>
                <p:oleObj r:id="rId5" imgH="5389563" imgW="22969538" progId="Visio.Drawing.6">
                  <p:embed/>
                  <p:pic>
                    <p:nvPicPr>
                      <p:cNvPr id="134" name="Google Shape;134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33400" y="7245350"/>
                        <a:ext cx="22969538" cy="538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Google Shape;135;p5"/>
          <p:cNvGraphicFramePr/>
          <p:nvPr/>
        </p:nvGraphicFramePr>
        <p:xfrm>
          <a:off x="6858000" y="1973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{4CAC3932-420F-4A02-9DB1-CCAE7E63A863}</a:tableStyleId>
              </a:tblPr>
              <a:tblGrid>
                <a:gridCol w="5657850"/>
                <a:gridCol w="5314950"/>
              </a:tblGrid>
              <a:tr h="985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400"/>
                        <a:buFont typeface="Calibri"/>
                        <a:buNone/>
                      </a:pPr>
                      <a:r>
                        <a:rPr b="1" i="0" lang="en-US" sz="4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System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400"/>
                        <a:buFont typeface="Calibri"/>
                        <a:buNone/>
                      </a:pPr>
                      <a:r>
                        <a:rPr b="1" i="0" lang="en-US" sz="4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89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4000"/>
                        <a:buFont typeface="Calibri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Unsigned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b="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[0, 2</a:t>
                      </a:r>
                      <a:r>
                        <a:rPr b="0" baseline="30000" i="1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1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b="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1]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4000"/>
                        <a:buFont typeface="Calibri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Sign-magnitude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b="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</a:t>
                      </a:r>
                      <a:r>
                        <a:rPr b="1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b="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</a:t>
                      </a:r>
                      <a:r>
                        <a:rPr b="0" baseline="30000" i="1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0" baseline="3000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r>
                        <a:rPr b="1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b="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1), 2</a:t>
                      </a:r>
                      <a:r>
                        <a:rPr b="0" baseline="30000" i="1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0" baseline="3000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r>
                        <a:rPr b="1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b="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1]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D8200"/>
                        </a:buClr>
                        <a:buSzPts val="4000"/>
                        <a:buFont typeface="Calibri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DD82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Two’s Complement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Calibri"/>
                        <a:buNone/>
                      </a:pPr>
                      <a:r>
                        <a:rPr b="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</a:t>
                      </a:r>
                      <a:r>
                        <a:rPr b="1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b="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0" baseline="30000" i="1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0" baseline="3000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r>
                        <a:rPr b="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2</a:t>
                      </a:r>
                      <a:r>
                        <a:rPr b="0" baseline="30000" i="1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="0" baseline="3000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</a:t>
                      </a:r>
                      <a:r>
                        <a:rPr b="1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b="0" i="0" lang="en-US" sz="4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1]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5"/>
          <p:cNvSpPr/>
          <p:nvPr/>
        </p:nvSpPr>
        <p:spPr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888089" y="6116847"/>
            <a:ext cx="861513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Example, 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4-bit representation: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Recall: Example Data Representations (Bytes)</a:t>
            </a:r>
            <a:endParaRPr/>
          </a:p>
        </p:txBody>
      </p:sp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888090" y="2580094"/>
            <a:ext cx="4699911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/>
              <a:t>IEEE 754 standard</a:t>
            </a:r>
            <a:endParaRPr/>
          </a:p>
        </p:txBody>
      </p:sp>
      <p:sp>
        <p:nvSpPr>
          <p:cNvPr id="144" name="Google Shape;144;p6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6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  <p:graphicFrame>
        <p:nvGraphicFramePr>
          <p:cNvPr id="146" name="Google Shape;146;p6"/>
          <p:cNvGraphicFramePr/>
          <p:nvPr/>
        </p:nvGraphicFramePr>
        <p:xfrm>
          <a:off x="5588001" y="27432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{70961773-EE8C-42B1-AB48-9616E19F06FC}</a:tableStyleId>
              </a:tblPr>
              <a:tblGrid>
                <a:gridCol w="5035550"/>
                <a:gridCol w="4454525"/>
                <a:gridCol w="4454525"/>
              </a:tblGrid>
              <a:tr h="109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 Data Type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C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32-bit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C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64-bit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CB5"/>
                    </a:solidFill>
                  </a:tcPr>
                </a:tc>
              </a:tr>
              <a:tr h="98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4F4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char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</a:tr>
              <a:tr h="98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4F4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short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</a:tr>
              <a:tr h="98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4F4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endParaRPr b="1" i="0" sz="4000" u="none" cap="none" strike="noStrike">
                        <a:solidFill>
                          <a:srgbClr val="F4F4FF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</a:tr>
              <a:tr h="98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4F4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</a:tr>
              <a:tr h="98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4F4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float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</a:tr>
              <a:tr h="98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4F4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double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</a:tr>
              <a:tr h="98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1" i="0" lang="en-US" sz="4000" u="none" cap="none" strike="noStrike">
                          <a:solidFill>
                            <a:srgbClr val="F4F4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 double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</a:t>
                      </a:r>
                      <a:endParaRPr b="0" i="0" sz="4000" u="none" cap="none" strike="noStrike">
                        <a:solidFill>
                          <a:srgbClr val="F4F4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</a:t>
                      </a:r>
                      <a:endParaRPr b="0" i="0" sz="4000" u="none" cap="none" strike="noStrike">
                        <a:solidFill>
                          <a:srgbClr val="F4F4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</a:tr>
              <a:tr h="986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160"/>
                        <a:buFont typeface="Noto Sans Symbols"/>
                        <a:buNone/>
                      </a:pPr>
                      <a:r>
                        <a:rPr b="0" i="0" lang="en-US" sz="3600" u="none" cap="none" strike="noStrike">
                          <a:solidFill>
                            <a:srgbClr val="F4F4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pointer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4000" u="none" cap="none" strike="noStrike">
                          <a:solidFill>
                            <a:srgbClr val="F4F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A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52" name="Google Shape;152;p7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7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rPr lang="en-US"/>
              <a:t>CS3051-COMPUTER ARCHITECTURE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888090" y="2580094"/>
            <a:ext cx="23125795" cy="14523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888090" y="4208927"/>
            <a:ext cx="23125795" cy="1452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Representation</a:t>
            </a:r>
            <a:endParaRPr b="0" i="0" sz="6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888090" y="7462905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888090" y="5835916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Floating Point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/>
          <p:nvPr>
            <p:ph type="title"/>
          </p:nvPr>
        </p:nvSpPr>
        <p:spPr>
          <a:xfrm>
            <a:off x="888090" y="0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01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 txBox="1"/>
          <p:nvPr>
            <p:ph idx="12" type="sldNum"/>
          </p:nvPr>
        </p:nvSpPr>
        <p:spPr>
          <a:xfrm>
            <a:off x="-25943" y="1327548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6410" y="2736850"/>
            <a:ext cx="18792190" cy="3034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title"/>
          </p:nvPr>
        </p:nvSpPr>
        <p:spPr>
          <a:xfrm>
            <a:off x="888090" y="0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01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 txBox="1"/>
          <p:nvPr>
            <p:ph idx="12" type="sldNum"/>
          </p:nvPr>
        </p:nvSpPr>
        <p:spPr>
          <a:xfrm>
            <a:off x="-25943" y="1327548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1285" y="3099435"/>
            <a:ext cx="19556730" cy="385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 txBox="1"/>
          <p:nvPr>
            <p:ph type="title"/>
          </p:nvPr>
        </p:nvSpPr>
        <p:spPr>
          <a:xfrm>
            <a:off x="888090" y="0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01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 txBox="1"/>
          <p:nvPr>
            <p:ph idx="12" type="sldNum"/>
          </p:nvPr>
        </p:nvSpPr>
        <p:spPr>
          <a:xfrm>
            <a:off x="-25943" y="1327548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xt&#10;&#10;Description automatically generated"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547" y="1327548"/>
            <a:ext cx="21360847" cy="5631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9606" y="6798611"/>
            <a:ext cx="20344421" cy="4451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 txBox="1"/>
          <p:nvPr>
            <p:ph type="title"/>
          </p:nvPr>
        </p:nvSpPr>
        <p:spPr>
          <a:xfrm>
            <a:off x="888090" y="0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01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5600"/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 txBox="1"/>
          <p:nvPr>
            <p:ph idx="12" type="sldNum"/>
          </p:nvPr>
        </p:nvSpPr>
        <p:spPr>
          <a:xfrm>
            <a:off x="-25943" y="1327548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Graphical user interface, text&#10;&#10;Description automatically generated"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1994" y="2797525"/>
            <a:ext cx="19563953" cy="833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97" name="Google Shape;197;p12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12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rPr lang="en-US"/>
              <a:t>CS3051-COMPUTER ARCHITECTURE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888090" y="2580094"/>
            <a:ext cx="23125795" cy="14523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888090" y="4208927"/>
            <a:ext cx="23125795" cy="1452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Representation</a:t>
            </a:r>
            <a:endParaRPr b="0" i="0" sz="6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888090" y="7462905"/>
            <a:ext cx="23125795" cy="1452320"/>
          </a:xfrm>
          <a:prstGeom prst="rect">
            <a:avLst/>
          </a:prstGeom>
          <a:solidFill>
            <a:srgbClr val="999D95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888090" y="5835916"/>
            <a:ext cx="23125795" cy="1452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Floating Point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>
                <a:solidFill>
                  <a:srgbClr val="5B9BD5"/>
                </a:solidFill>
              </a:rPr>
              <a:t> </a:t>
            </a:r>
            <a:r>
              <a:rPr lang="en-US" sz="9800"/>
              <a:t>Floating-Point Format</a:t>
            </a:r>
            <a:endParaRPr sz="9800">
              <a:solidFill>
                <a:srgbClr val="273272"/>
              </a:solidFill>
            </a:endParaRPr>
          </a:p>
        </p:txBody>
      </p:sp>
      <p:sp>
        <p:nvSpPr>
          <p:cNvPr id="209" name="Google Shape;209;p13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13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1" name="Google Shape;211;p13"/>
          <p:cNvSpPr txBox="1"/>
          <p:nvPr/>
        </p:nvSpPr>
        <p:spPr>
          <a:xfrm>
            <a:off x="1757548" y="2470084"/>
            <a:ext cx="20900572" cy="99752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/>
          <a:p>
            <a:pPr indent="-857250" lvl="0" marL="857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72"/>
              </a:buClr>
              <a:buSzPts val="7200"/>
              <a:buFont typeface="Arial"/>
              <a:buChar char="•"/>
            </a:pPr>
            <a:r>
              <a:rPr b="0" i="0" lang="en-US" sz="72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Representation for non-integral numbers</a:t>
            </a:r>
            <a:endParaRPr/>
          </a:p>
          <a:p>
            <a:pPr indent="-857250" lvl="1" marL="1771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7B217"/>
              </a:buClr>
              <a:buSzPts val="6400"/>
              <a:buFont typeface="Arial"/>
              <a:buChar char="•"/>
            </a:pPr>
            <a:r>
              <a:rPr b="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Including </a:t>
            </a:r>
            <a:r>
              <a:rPr b="1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very small</a:t>
            </a:r>
            <a:r>
              <a:rPr b="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very large </a:t>
            </a:r>
            <a:r>
              <a:rPr b="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numbers</a:t>
            </a:r>
            <a:endParaRPr/>
          </a:p>
          <a:p>
            <a:pPr indent="-857250" lvl="0" marL="85725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273272"/>
              </a:buClr>
              <a:buSzPts val="7200"/>
              <a:buFont typeface="Arial"/>
              <a:buChar char="•"/>
            </a:pPr>
            <a:r>
              <a:rPr b="0" i="0" lang="en-US" sz="72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Like scientific notation</a:t>
            </a:r>
            <a:endParaRPr/>
          </a:p>
          <a:p>
            <a:pPr indent="-857250" lvl="1" marL="1771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7B217"/>
              </a:buClr>
              <a:buSzPts val="6400"/>
              <a:buFont typeface="Arial"/>
              <a:buChar char="•"/>
            </a:pPr>
            <a:r>
              <a:rPr b="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–2.34 × 10</a:t>
            </a:r>
            <a:r>
              <a:rPr b="0" baseline="3000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 b="0" i="0" sz="6400" u="none" cap="none" strike="noStrike">
              <a:solidFill>
                <a:srgbClr val="2732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57250" lvl="1" marL="1771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7B217"/>
              </a:buClr>
              <a:buSzPts val="6400"/>
              <a:buFont typeface="Arial"/>
              <a:buChar char="•"/>
            </a:pPr>
            <a:r>
              <a:rPr b="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+0.002 × 10</a:t>
            </a:r>
            <a:r>
              <a:rPr b="0" baseline="3000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–4</a:t>
            </a:r>
            <a:endParaRPr b="0" i="0" sz="6400" u="none" cap="none" strike="noStrike">
              <a:solidFill>
                <a:srgbClr val="2732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57250" lvl="1" marL="1771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7B217"/>
              </a:buClr>
              <a:buSzPts val="6400"/>
              <a:buFont typeface="Arial"/>
              <a:buChar char="•"/>
            </a:pPr>
            <a:r>
              <a:rPr b="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+987.02 × 10</a:t>
            </a:r>
            <a:r>
              <a:rPr b="0" baseline="3000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6400" u="none" cap="none" strike="noStrike">
              <a:solidFill>
                <a:srgbClr val="2732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57250" lvl="0" marL="85725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273272"/>
              </a:buClr>
              <a:buSzPts val="7200"/>
              <a:buFont typeface="Arial"/>
              <a:buChar char="•"/>
            </a:pPr>
            <a:r>
              <a:rPr b="0" i="0" lang="en-US" sz="72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In binary</a:t>
            </a:r>
            <a:endParaRPr/>
          </a:p>
          <a:p>
            <a:pPr indent="-857250" lvl="1" marL="1771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72"/>
              </a:buClr>
              <a:buSzPts val="6400"/>
              <a:buFont typeface="Arial"/>
              <a:buChar char="•"/>
            </a:pPr>
            <a:r>
              <a:rPr b="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±1.</a:t>
            </a:r>
            <a:r>
              <a:rPr b="0" i="1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xxxxxxx</a:t>
            </a:r>
            <a:r>
              <a:rPr b="0" baseline="-2500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 × 2</a:t>
            </a:r>
            <a:r>
              <a:rPr b="0" baseline="30000" i="1" lang="en-US" sz="64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yyyy</a:t>
            </a:r>
            <a:endParaRPr/>
          </a:p>
          <a:p>
            <a:pPr indent="-857250" lvl="0" marL="85725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273272"/>
              </a:buClr>
              <a:buSzPts val="7200"/>
              <a:buFont typeface="Arial"/>
              <a:buChar char="•"/>
            </a:pPr>
            <a:r>
              <a:rPr b="0" i="0" lang="en-US" sz="72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Types </a:t>
            </a:r>
            <a:r>
              <a:rPr b="1" i="0" lang="en-US" sz="7200" u="none" cap="none" strike="noStrike">
                <a:solidFill>
                  <a:srgbClr val="273272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float</a:t>
            </a:r>
            <a:r>
              <a:rPr b="0" i="0" lang="en-US" sz="72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7200" u="none" cap="none" strike="noStrike">
                <a:solidFill>
                  <a:srgbClr val="273272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double</a:t>
            </a:r>
            <a:r>
              <a:rPr b="0" i="0" lang="en-US" sz="72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 in C</a:t>
            </a:r>
            <a:endParaRPr b="0" i="0" sz="7200" u="none" cap="none" strike="noStrike">
              <a:solidFill>
                <a:srgbClr val="2732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13431899" y="6038349"/>
            <a:ext cx="4642342" cy="94434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061" y="34150"/>
                </a:moveTo>
                <a:lnTo>
                  <a:pt x="-109261" y="34150"/>
                </a:lnTo>
              </a:path>
            </a:pathLst>
          </a:custGeom>
          <a:solidFill>
            <a:srgbClr val="2F5CB5"/>
          </a:solidFill>
          <a:ln cap="flat" cmpd="sng" w="25400">
            <a:solidFill>
              <a:srgbClr val="2F5C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7B217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endParaRPr b="1" i="0" sz="4800" u="none" cap="none" strike="noStrike">
              <a:solidFill>
                <a:srgbClr val="F7B2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13440499" y="7384426"/>
            <a:ext cx="4633742" cy="92830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700" y="34150"/>
                </a:moveTo>
                <a:lnTo>
                  <a:pt x="-104717" y="-2844"/>
                </a:lnTo>
              </a:path>
            </a:pathLst>
          </a:custGeom>
          <a:solidFill>
            <a:srgbClr val="2F5CB5"/>
          </a:solidFill>
          <a:ln cap="flat" cmpd="sng" w="25400">
            <a:solidFill>
              <a:srgbClr val="2F5C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7B217"/>
                </a:solidFill>
                <a:latin typeface="Arial"/>
                <a:ea typeface="Arial"/>
                <a:cs typeface="Arial"/>
                <a:sym typeface="Arial"/>
              </a:rPr>
              <a:t>not normalized</a:t>
            </a:r>
            <a:endParaRPr b="1" i="0" sz="4800" u="none" cap="none" strike="noStrike">
              <a:solidFill>
                <a:srgbClr val="F7B2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3"/>
          <p:cNvCxnSpPr/>
          <p:nvPr/>
        </p:nvCxnSpPr>
        <p:spPr>
          <a:xfrm flipH="1">
            <a:off x="9476510" y="7956468"/>
            <a:ext cx="3752604" cy="712520"/>
          </a:xfrm>
          <a:prstGeom prst="straightConnector1">
            <a:avLst/>
          </a:prstGeom>
          <a:noFill/>
          <a:ln cap="flat" cmpd="sng" w="25400">
            <a:solidFill>
              <a:srgbClr val="2F5CB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Floating-Point Standard</a:t>
            </a:r>
            <a:endParaRPr/>
          </a:p>
        </p:txBody>
      </p:sp>
      <p:sp>
        <p:nvSpPr>
          <p:cNvPr id="220" name="Google Shape;220;p14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Defined by </a:t>
            </a:r>
            <a:r>
              <a:rPr b="1" lang="en-US"/>
              <a:t>IEEE Std 754-1985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Developed in response to divergence of representations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Portability</a:t>
            </a:r>
            <a:r>
              <a:rPr lang="en-US"/>
              <a:t> issues for scientific code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Now almost universally adopted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Two representations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Single precision </a:t>
            </a:r>
            <a:r>
              <a:rPr lang="en-US"/>
              <a:t>(32-bit)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Double precision</a:t>
            </a:r>
            <a:r>
              <a:rPr lang="en-US"/>
              <a:t> (64-bit) </a:t>
            </a:r>
            <a:endParaRPr/>
          </a:p>
        </p:txBody>
      </p:sp>
      <p:sp>
        <p:nvSpPr>
          <p:cNvPr id="221" name="Google Shape;221;p14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4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IEEE Floating-Point Format</a:t>
            </a:r>
            <a:endParaRPr/>
          </a:p>
        </p:txBody>
      </p:sp>
      <p:sp>
        <p:nvSpPr>
          <p:cNvPr id="228" name="Google Shape;228;p15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15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1629677" y="6149420"/>
            <a:ext cx="21075938" cy="64384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72"/>
              </a:buClr>
              <a:buSzPts val="5600"/>
              <a:buFont typeface="Arial"/>
              <a:buChar char="•"/>
            </a:pPr>
            <a:r>
              <a:rPr b="1" i="0" lang="en-US" sz="56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56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: sign bit (0 ⇒ non-negative, 1 ⇒ negative)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73272"/>
              </a:buClr>
              <a:buSzPts val="5600"/>
              <a:buFont typeface="Arial"/>
              <a:buChar char="•"/>
            </a:pPr>
            <a:r>
              <a:rPr b="0" i="0" lang="en-US" sz="56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Normalized </a:t>
            </a:r>
            <a:r>
              <a:rPr b="1" i="0" lang="en-US" sz="56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significand</a:t>
            </a:r>
            <a:r>
              <a:rPr b="0" i="0" lang="en-US" sz="56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: 1.0 ≤ |significand| &lt; 2.0</a:t>
            </a:r>
            <a:endParaRPr/>
          </a:p>
          <a:p>
            <a:pPr indent="-685800" lvl="1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B217"/>
              </a:buClr>
              <a:buSzPts val="4800"/>
              <a:buFont typeface="Arial"/>
              <a:buChar char="•"/>
            </a:pPr>
            <a:r>
              <a:rPr b="0" i="0" lang="en-US" sz="48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Always has a leading pre-binary-point 1 bit, so no need to represent it explicitly (hidden bit)</a:t>
            </a:r>
            <a:endParaRPr/>
          </a:p>
          <a:p>
            <a:pPr indent="-685800" lvl="1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B217"/>
              </a:buClr>
              <a:buSzPts val="4800"/>
              <a:buFont typeface="Arial"/>
              <a:buChar char="•"/>
            </a:pPr>
            <a:r>
              <a:rPr b="0" i="0" lang="en-US" sz="48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Significand is </a:t>
            </a:r>
            <a:r>
              <a:rPr b="1" i="0" lang="en-US" sz="48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r>
              <a:rPr b="0" i="0" lang="en-US" sz="48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 with the “1.” restored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73272"/>
              </a:buClr>
              <a:buSzPts val="5600"/>
              <a:buFont typeface="Arial"/>
              <a:buChar char="•"/>
            </a:pPr>
            <a:r>
              <a:rPr b="1" i="0" lang="en-US" sz="56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r>
              <a:rPr b="0" i="0" lang="en-US" sz="56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: excess representation: actual exponent + Bias</a:t>
            </a:r>
            <a:endParaRPr/>
          </a:p>
          <a:p>
            <a:pPr indent="-685800" lvl="1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B217"/>
              </a:buClr>
              <a:buSzPts val="4800"/>
              <a:buFont typeface="Arial"/>
              <a:buChar char="•"/>
            </a:pPr>
            <a:r>
              <a:rPr b="0" i="0" lang="en-US" sz="48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Ensures exponent is unsigned</a:t>
            </a:r>
            <a:endParaRPr/>
          </a:p>
          <a:p>
            <a:pPr indent="-685800" lvl="1" marL="1600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B217"/>
              </a:buClr>
              <a:buSzPts val="4800"/>
              <a:buFont typeface="Arial"/>
              <a:buChar char="•"/>
            </a:pPr>
            <a:r>
              <a:rPr b="0" i="0" lang="en-US" sz="48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Single: Bias = 127; Double: Bias = 1203</a:t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6471301" y="3502901"/>
            <a:ext cx="717550" cy="830997"/>
          </a:xfrm>
          <a:prstGeom prst="rect">
            <a:avLst/>
          </a:prstGeom>
          <a:noFill/>
          <a:ln cap="flat" cmpd="sng" w="25400">
            <a:solidFill>
              <a:srgbClr val="2F5C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232" name="Google Shape;232;p15"/>
          <p:cNvSpPr txBox="1"/>
          <p:nvPr/>
        </p:nvSpPr>
        <p:spPr>
          <a:xfrm>
            <a:off x="7188851" y="3502900"/>
            <a:ext cx="3168650" cy="830997"/>
          </a:xfrm>
          <a:prstGeom prst="rect">
            <a:avLst/>
          </a:prstGeom>
          <a:noFill/>
          <a:ln cap="flat" cmpd="sng" w="25400">
            <a:solidFill>
              <a:srgbClr val="2F5C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10360677" y="3502901"/>
            <a:ext cx="7343774" cy="830997"/>
          </a:xfrm>
          <a:prstGeom prst="rect">
            <a:avLst/>
          </a:prstGeom>
          <a:noFill/>
          <a:ln cap="flat" cmpd="sng" w="25400">
            <a:solidFill>
              <a:srgbClr val="2F5C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7045976" y="2085201"/>
            <a:ext cx="356700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2F5CB5"/>
                </a:solidFill>
                <a:latin typeface="Tahoma"/>
                <a:ea typeface="Tahoma"/>
                <a:cs typeface="Tahoma"/>
                <a:sym typeface="Tahoma"/>
              </a:rPr>
              <a:t>single: 8 bits</a:t>
            </a:r>
            <a:br>
              <a:rPr b="0" i="0" lang="en-US" sz="4000" u="none" cap="none" strike="noStrike">
                <a:solidFill>
                  <a:srgbClr val="2F5CB5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rgbClr val="2F5CB5"/>
                </a:solidFill>
                <a:latin typeface="Tahoma"/>
                <a:ea typeface="Tahoma"/>
                <a:cs typeface="Tahoma"/>
                <a:sym typeface="Tahoma"/>
              </a:rPr>
              <a:t>double: 11 bits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12227576" y="2061451"/>
            <a:ext cx="356700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2F5CB5"/>
                </a:solidFill>
                <a:latin typeface="Tahoma"/>
                <a:ea typeface="Tahoma"/>
                <a:cs typeface="Tahoma"/>
                <a:sym typeface="Tahoma"/>
              </a:rPr>
              <a:t>single: 23 bits</a:t>
            </a:r>
            <a:br>
              <a:rPr b="0" i="0" lang="en-US" sz="4000" u="none" cap="none" strike="noStrike">
                <a:solidFill>
                  <a:srgbClr val="2F5CB5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rgbClr val="2F5CB5"/>
                </a:solidFill>
                <a:latin typeface="Tahoma"/>
                <a:ea typeface="Tahoma"/>
                <a:cs typeface="Tahoma"/>
                <a:sym typeface="Tahoma"/>
              </a:rPr>
              <a:t>double: 52 bits</a:t>
            </a:r>
            <a:endParaRPr/>
          </a:p>
        </p:txBody>
      </p:sp>
      <p:pic>
        <p:nvPicPr>
          <p:cNvPr id="236" name="Google Shape;2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0250" y="4811500"/>
            <a:ext cx="11734800" cy="109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Single-Precision Range</a:t>
            </a:r>
            <a:endParaRPr/>
          </a:p>
        </p:txBody>
      </p:sp>
      <p:sp>
        <p:nvSpPr>
          <p:cNvPr id="242" name="Google Shape;242;p16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/>
              <a:t>Exponents 00000000 and 11111111 reserved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>
                <a:solidFill>
                  <a:srgbClr val="00B0F0"/>
                </a:solidFill>
              </a:rPr>
              <a:t>Smallest value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Exponent: 00000001 ⇒ actual exponent = 1 – 127 = –126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Fraction: 000…00 ⇒ significand = 1.0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±1.0 × 2</a:t>
            </a:r>
            <a:r>
              <a:rPr baseline="30000" lang="en-US" sz="5600"/>
              <a:t>–126</a:t>
            </a:r>
            <a:r>
              <a:rPr lang="en-US" sz="5600"/>
              <a:t> ≈ ±1.2 × 10</a:t>
            </a:r>
            <a:r>
              <a:rPr baseline="30000" lang="en-US" sz="5600"/>
              <a:t>–38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>
                <a:solidFill>
                  <a:srgbClr val="00B0F0"/>
                </a:solidFill>
              </a:rPr>
              <a:t>Largest value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exponent: 11111110 ⇒ actual exponent = 254 – 127 = +127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Fraction: 111…11 ⇒ significand ≈ 2.0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±2.0 × 2</a:t>
            </a:r>
            <a:r>
              <a:rPr baseline="30000" lang="en-US" sz="5600"/>
              <a:t>+127</a:t>
            </a:r>
            <a:r>
              <a:rPr lang="en-US" sz="5600"/>
              <a:t> ≈ ±3.4 × 10</a:t>
            </a:r>
            <a:r>
              <a:rPr baseline="30000" lang="en-US" sz="5600"/>
              <a:t>+38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3" name="Google Shape;243;p16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16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Double-Precision Range</a:t>
            </a:r>
            <a:endParaRPr/>
          </a:p>
        </p:txBody>
      </p:sp>
      <p:sp>
        <p:nvSpPr>
          <p:cNvPr id="250" name="Google Shape;250;p17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/>
              <a:t>Exponents 0000…00 and 1111…11 reserved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>
                <a:solidFill>
                  <a:srgbClr val="00B0F0"/>
                </a:solidFill>
              </a:rPr>
              <a:t>Smallest value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Exponent: 00000000001 ⇒ actual exponent = 1 – 1023 = –1022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Fraction: 000…00 ⇒ significand = 1.0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±1.0 × 2</a:t>
            </a:r>
            <a:r>
              <a:rPr baseline="30000" lang="en-US" sz="5600"/>
              <a:t>–1022</a:t>
            </a:r>
            <a:r>
              <a:rPr lang="en-US" sz="5600"/>
              <a:t> ≈ ±2.2 × 10</a:t>
            </a:r>
            <a:r>
              <a:rPr baseline="30000" lang="en-US" sz="5600"/>
              <a:t>–308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>
                <a:solidFill>
                  <a:srgbClr val="00B0F0"/>
                </a:solidFill>
              </a:rPr>
              <a:t>Largest value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Exponent: 11111111110 ⇒ actual exponent = 2046 – 1023 = +1023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Fraction: 111…11 ⇒ significand ≈ 2.0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±2.0 × 2</a:t>
            </a:r>
            <a:r>
              <a:rPr baseline="30000" lang="en-US" sz="5600"/>
              <a:t>+1023</a:t>
            </a:r>
            <a:r>
              <a:rPr lang="en-US" sz="5600"/>
              <a:t> ≈ ±1.8 × 10</a:t>
            </a:r>
            <a:r>
              <a:rPr baseline="30000" lang="en-US" sz="5600"/>
              <a:t>+308</a:t>
            </a:r>
            <a:endParaRPr/>
          </a:p>
        </p:txBody>
      </p:sp>
      <p:sp>
        <p:nvSpPr>
          <p:cNvPr id="251" name="Google Shape;251;p17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17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Floating-Point Precision</a:t>
            </a:r>
            <a:endParaRPr/>
          </a:p>
        </p:txBody>
      </p:sp>
      <p:sp>
        <p:nvSpPr>
          <p:cNvPr id="258" name="Google Shape;258;p18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 sz="8000">
                <a:solidFill>
                  <a:srgbClr val="00B0F0"/>
                </a:solidFill>
              </a:rPr>
              <a:t>Relative precision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 fraction bits are significant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Single: approx 2</a:t>
            </a:r>
            <a:r>
              <a:rPr baseline="30000" lang="en-US"/>
              <a:t>–23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Equivalent to 23 × log</a:t>
            </a:r>
            <a:r>
              <a:rPr baseline="-25000" lang="en-US" sz="5600"/>
              <a:t>10</a:t>
            </a:r>
            <a:r>
              <a:rPr lang="en-US" sz="5600"/>
              <a:t>2 ≈ 23 × 0.3 ≈ 6 decimal digits of precision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Double: approx 2</a:t>
            </a:r>
            <a:r>
              <a:rPr baseline="30000" lang="en-US"/>
              <a:t>–52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Equivalent to 52 × log</a:t>
            </a:r>
            <a:r>
              <a:rPr baseline="-25000" lang="en-US" sz="5600"/>
              <a:t>10</a:t>
            </a:r>
            <a:r>
              <a:rPr lang="en-US" sz="5600"/>
              <a:t>2 ≈ 52 × 0.3 ≈ 16 decimal digits of precision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9" name="Google Shape;259;p18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18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Floating-Point Example</a:t>
            </a:r>
            <a:endParaRPr/>
          </a:p>
        </p:txBody>
      </p:sp>
      <p:sp>
        <p:nvSpPr>
          <p:cNvPr id="266" name="Google Shape;266;p19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/>
              <a:t>Represent –0.75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–0.75 = (–1)</a:t>
            </a:r>
            <a:r>
              <a:rPr baseline="30000" lang="en-US"/>
              <a:t>1</a:t>
            </a:r>
            <a:r>
              <a:rPr lang="en-US"/>
              <a:t> × 1.1</a:t>
            </a:r>
            <a:r>
              <a:rPr baseline="-25000" lang="en-US"/>
              <a:t>2</a:t>
            </a:r>
            <a:r>
              <a:rPr lang="en-US"/>
              <a:t> × 2</a:t>
            </a:r>
            <a:r>
              <a:rPr baseline="30000" lang="en-US"/>
              <a:t>–1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 = </a:t>
            </a:r>
            <a:r>
              <a:rPr lang="en-US">
                <a:solidFill>
                  <a:schemeClr val="hlink"/>
                </a:solidFill>
              </a:rPr>
              <a:t>1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Fraction = </a:t>
            </a:r>
            <a:r>
              <a:rPr lang="en-US">
                <a:solidFill>
                  <a:srgbClr val="03A2F8"/>
                </a:solidFill>
              </a:rPr>
              <a:t>1000…00</a:t>
            </a:r>
            <a:r>
              <a:rPr baseline="-25000" lang="en-US"/>
              <a:t>2</a:t>
            </a:r>
            <a:endParaRPr>
              <a:solidFill>
                <a:schemeClr val="folHlink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Exponent = –1 + Bias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Single: –1 + 127 = 126 = </a:t>
            </a:r>
            <a:r>
              <a:rPr lang="en-US" sz="5600">
                <a:solidFill>
                  <a:srgbClr val="008000"/>
                </a:solidFill>
              </a:rPr>
              <a:t>01111110</a:t>
            </a:r>
            <a:r>
              <a:rPr baseline="-25000" lang="en-US" sz="5600"/>
              <a:t>2</a:t>
            </a:r>
            <a:endParaRPr sz="5600"/>
          </a:p>
          <a:p>
            <a:pPr indent="-342900" lvl="2" marL="13716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 sz="5600"/>
              <a:t>Double: –1 + 1023 = 1022 = </a:t>
            </a:r>
            <a:r>
              <a:rPr lang="en-US" sz="5600">
                <a:solidFill>
                  <a:srgbClr val="008000"/>
                </a:solidFill>
              </a:rPr>
              <a:t>01111111110</a:t>
            </a:r>
            <a:r>
              <a:rPr baseline="-25000" lang="en-US" sz="5600"/>
              <a:t>2</a:t>
            </a:r>
            <a:endParaRPr sz="5600"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/>
              <a:t>Single: </a:t>
            </a:r>
            <a:r>
              <a:rPr lang="en-US">
                <a:solidFill>
                  <a:schemeClr val="hlink"/>
                </a:solidFill>
              </a:rPr>
              <a:t>1</a:t>
            </a:r>
            <a:r>
              <a:rPr lang="en-US">
                <a:solidFill>
                  <a:srgbClr val="008000"/>
                </a:solidFill>
              </a:rPr>
              <a:t>01111110</a:t>
            </a:r>
            <a:r>
              <a:rPr lang="en-US">
                <a:solidFill>
                  <a:srgbClr val="03A2F8"/>
                </a:solidFill>
              </a:rPr>
              <a:t>1000…00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/>
              <a:t>Double: </a:t>
            </a:r>
            <a:r>
              <a:rPr lang="en-US">
                <a:solidFill>
                  <a:schemeClr val="hlink"/>
                </a:solidFill>
              </a:rPr>
              <a:t>1</a:t>
            </a:r>
            <a:r>
              <a:rPr lang="en-US">
                <a:solidFill>
                  <a:srgbClr val="008000"/>
                </a:solidFill>
              </a:rPr>
              <a:t>01111111110</a:t>
            </a:r>
            <a:r>
              <a:rPr lang="en-US">
                <a:solidFill>
                  <a:srgbClr val="03A2F8"/>
                </a:solidFill>
              </a:rPr>
              <a:t>1000…00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19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Floating-Point Example</a:t>
            </a:r>
            <a:endParaRPr/>
          </a:p>
        </p:txBody>
      </p:sp>
      <p:sp>
        <p:nvSpPr>
          <p:cNvPr id="274" name="Google Shape;274;p20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/>
              <a:t>What number is represented by the single-precision float  </a:t>
            </a:r>
            <a:r>
              <a:rPr lang="en-US">
                <a:solidFill>
                  <a:schemeClr val="hlink"/>
                </a:solidFill>
              </a:rPr>
              <a:t>1</a:t>
            </a:r>
            <a:r>
              <a:rPr lang="en-US">
                <a:solidFill>
                  <a:srgbClr val="008000"/>
                </a:solidFill>
              </a:rPr>
              <a:t>10000001</a:t>
            </a:r>
            <a:r>
              <a:rPr lang="en-US">
                <a:solidFill>
                  <a:srgbClr val="03A2F8"/>
                </a:solidFill>
              </a:rPr>
              <a:t>01000…00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 = </a:t>
            </a:r>
            <a:r>
              <a:rPr lang="en-US">
                <a:solidFill>
                  <a:schemeClr val="hlink"/>
                </a:solidFill>
              </a:rPr>
              <a:t>1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Fraction = </a:t>
            </a:r>
            <a:r>
              <a:rPr lang="en-US">
                <a:solidFill>
                  <a:srgbClr val="03A2F8"/>
                </a:solidFill>
              </a:rPr>
              <a:t>01000…00</a:t>
            </a:r>
            <a:r>
              <a:rPr baseline="-25000" lang="en-US"/>
              <a:t>2</a:t>
            </a:r>
            <a:endParaRPr>
              <a:solidFill>
                <a:schemeClr val="folHlink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Fxponent = </a:t>
            </a:r>
            <a:r>
              <a:rPr lang="en-US">
                <a:solidFill>
                  <a:srgbClr val="008000"/>
                </a:solidFill>
              </a:rPr>
              <a:t>10000001</a:t>
            </a:r>
            <a:r>
              <a:rPr baseline="-25000" lang="en-US"/>
              <a:t>2</a:t>
            </a:r>
            <a:r>
              <a:rPr lang="en-US"/>
              <a:t> = 129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/>
              <a:t>x = (–1)</a:t>
            </a:r>
            <a:r>
              <a:rPr baseline="30000" lang="en-US"/>
              <a:t>1</a:t>
            </a:r>
            <a:r>
              <a:rPr lang="en-US"/>
              <a:t> × (1 + 01</a:t>
            </a:r>
            <a:r>
              <a:rPr baseline="-25000" lang="en-US"/>
              <a:t>2</a:t>
            </a:r>
            <a:r>
              <a:rPr lang="en-US"/>
              <a:t>) × 2</a:t>
            </a:r>
            <a:r>
              <a:rPr baseline="30000" lang="en-US"/>
              <a:t>(129 – 127)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</a:pPr>
            <a:r>
              <a:rPr lang="en-US" sz="7200"/>
              <a:t>= (–1) × 1.25 × 2</a:t>
            </a:r>
            <a:r>
              <a:rPr baseline="30000" lang="en-US" sz="7200"/>
              <a:t>2</a:t>
            </a:r>
            <a:endParaRPr sz="7200"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None/>
            </a:pPr>
            <a:r>
              <a:rPr lang="en-US" sz="7200"/>
              <a:t>= –5.0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0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Denormal Numbers</a:t>
            </a:r>
            <a:endParaRPr/>
          </a:p>
        </p:txBody>
      </p:sp>
      <p:sp>
        <p:nvSpPr>
          <p:cNvPr id="282" name="Google Shape;282;p21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/>
              <a:t>Smaller than normal numbers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allow for gradual underflow, with diminishing precision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/>
              <a:t>Denormal with fraction = 000...0</a:t>
            </a:r>
            <a:endParaRPr/>
          </a:p>
        </p:txBody>
      </p:sp>
      <p:sp>
        <p:nvSpPr>
          <p:cNvPr id="283" name="Google Shape;283;p21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21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1916062" y="1746250"/>
            <a:ext cx="20933444" cy="10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72"/>
              </a:buClr>
              <a:buSzPts val="7200"/>
              <a:buFont typeface="Noto Sans Symbols"/>
              <a:buChar char="▪"/>
            </a:pPr>
            <a:r>
              <a:rPr b="0" i="0" lang="en-US" sz="7200" u="none" cap="none" strike="noStrike">
                <a:solidFill>
                  <a:srgbClr val="273272"/>
                </a:solidFill>
                <a:latin typeface="Arial"/>
                <a:ea typeface="Arial"/>
                <a:cs typeface="Arial"/>
                <a:sym typeface="Arial"/>
              </a:rPr>
              <a:t>Exponent = 000...0 ⇒ hidden bit is 0</a:t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9636858" y="10419175"/>
            <a:ext cx="5789844" cy="1646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24000" y="21178"/>
                </a:moveTo>
                <a:lnTo>
                  <a:pt x="147900" y="-31766"/>
                </a:lnTo>
              </a:path>
            </a:pathLst>
          </a:custGeom>
          <a:solidFill>
            <a:srgbClr val="2F5CB5"/>
          </a:solidFill>
          <a:ln cap="flat" cmpd="sng" w="25400">
            <a:solidFill>
              <a:srgbClr val="2F5C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7B217"/>
                </a:solidFill>
                <a:latin typeface="Arial"/>
                <a:ea typeface="Arial"/>
                <a:cs typeface="Arial"/>
                <a:sym typeface="Arial"/>
              </a:rPr>
              <a:t>Two representations of 0.0!</a:t>
            </a:r>
            <a:endParaRPr b="1" i="0" sz="4800" u="none" cap="none" strike="noStrike">
              <a:solidFill>
                <a:srgbClr val="F7B2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307" y="6304882"/>
            <a:ext cx="12310954" cy="13855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id="288" name="Google Shape;2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1433" y="8491411"/>
            <a:ext cx="12234614" cy="13771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Infinities and NaNs</a:t>
            </a:r>
            <a:endParaRPr/>
          </a:p>
        </p:txBody>
      </p:sp>
      <p:sp>
        <p:nvSpPr>
          <p:cNvPr id="294" name="Google Shape;294;p22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3A2F8"/>
                </a:solidFill>
              </a:rPr>
              <a:t>Exponent = 111...1, Fraction = 000...0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±Infinity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be used in subsequent calculations, avoiding need for overflow check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3A2F8"/>
                </a:solidFill>
              </a:rPr>
              <a:t>Exponent = 111...1, Fraction ≠ 000...0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Not-a-Number (NaN)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Indicates illegal or undefined result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e.g., 0.0 / 0.0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be used in subsequent calculations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95" name="Google Shape;295;p22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22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Special Values</a:t>
            </a:r>
            <a:endParaRPr/>
          </a:p>
        </p:txBody>
      </p:sp>
      <p:sp>
        <p:nvSpPr>
          <p:cNvPr id="302" name="Google Shape;302;p23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" name="Google Shape;304;p23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Screenshot 2021-02-02 at 11.06.04.png" id="305" name="Google Shape;3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6100" y="4262736"/>
            <a:ext cx="20640676" cy="5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Floating-Point Addition</a:t>
            </a:r>
            <a:endParaRPr/>
          </a:p>
        </p:txBody>
      </p:sp>
      <p:sp>
        <p:nvSpPr>
          <p:cNvPr id="311" name="Google Shape;311;p24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34749"/>
              <a:buChar char="•"/>
            </a:pPr>
            <a:r>
              <a:rPr b="1" lang="en-US">
                <a:solidFill>
                  <a:srgbClr val="03A2F8"/>
                </a:solidFill>
              </a:rPr>
              <a:t>Consider a 4-digit decimal example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Char char="•"/>
            </a:pPr>
            <a:r>
              <a:rPr lang="en-US" sz="4800"/>
              <a:t>9.999 × 10</a:t>
            </a:r>
            <a:r>
              <a:rPr baseline="30000" lang="en-US" sz="4800"/>
              <a:t>1</a:t>
            </a:r>
            <a:r>
              <a:rPr lang="en-US" sz="4800"/>
              <a:t> + 1.610 × 10</a:t>
            </a:r>
            <a:r>
              <a:rPr baseline="30000" lang="en-US" sz="4800"/>
              <a:t>–1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34749"/>
              <a:buNone/>
            </a:pPr>
            <a:r>
              <a:rPr lang="en-US"/>
              <a:t>1. Align decimal points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None/>
            </a:pPr>
            <a:r>
              <a:rPr lang="en-US" sz="4800"/>
              <a:t>Shift number with smaller exponent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None/>
            </a:pPr>
            <a:r>
              <a:rPr lang="en-US" sz="4800"/>
              <a:t>9.999 × 10</a:t>
            </a:r>
            <a:r>
              <a:rPr baseline="30000" lang="en-US" sz="4800"/>
              <a:t>1</a:t>
            </a:r>
            <a:r>
              <a:rPr lang="en-US" sz="4800"/>
              <a:t> + 0.016 × 10</a:t>
            </a:r>
            <a:r>
              <a:rPr baseline="30000" lang="en-US" sz="4800"/>
              <a:t>1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34749"/>
              <a:buNone/>
            </a:pPr>
            <a:r>
              <a:rPr lang="en-US"/>
              <a:t>2. Add significands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None/>
            </a:pPr>
            <a:r>
              <a:rPr lang="en-US" sz="4800"/>
              <a:t>9.999 × 10</a:t>
            </a:r>
            <a:r>
              <a:rPr baseline="30000" lang="en-US" sz="4800"/>
              <a:t>1</a:t>
            </a:r>
            <a:r>
              <a:rPr lang="en-US" sz="4800"/>
              <a:t> + 0.016 × 10</a:t>
            </a:r>
            <a:r>
              <a:rPr baseline="30000" lang="en-US" sz="4800"/>
              <a:t>1</a:t>
            </a:r>
            <a:r>
              <a:rPr lang="en-US" sz="4800"/>
              <a:t> = 10.015 × 10</a:t>
            </a:r>
            <a:r>
              <a:rPr baseline="30000" lang="en-US" sz="4800"/>
              <a:t>1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34749"/>
              <a:buNone/>
            </a:pPr>
            <a:r>
              <a:rPr lang="en-US"/>
              <a:t>3. Normalize result &amp; check for over/underflow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None/>
            </a:pPr>
            <a:r>
              <a:rPr lang="en-US" sz="4800"/>
              <a:t>1.0015 × 10</a:t>
            </a:r>
            <a:r>
              <a:rPr baseline="30000" lang="en-US" sz="4800"/>
              <a:t>2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34749"/>
              <a:buNone/>
            </a:pPr>
            <a:r>
              <a:rPr lang="en-US"/>
              <a:t>4. Round and renormalize if necessary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None/>
            </a:pPr>
            <a:r>
              <a:rPr lang="en-US" sz="4800"/>
              <a:t>1.002 × 10</a:t>
            </a:r>
            <a:r>
              <a:rPr baseline="30000" lang="en-US" sz="4800"/>
              <a:t>2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34749"/>
              <a:buNone/>
            </a:pPr>
            <a:r>
              <a:t/>
            </a:r>
            <a:endParaRPr/>
          </a:p>
        </p:txBody>
      </p:sp>
      <p:sp>
        <p:nvSpPr>
          <p:cNvPr id="312" name="Google Shape;312;p24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24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Floating-Point Addition</a:t>
            </a:r>
            <a:endParaRPr/>
          </a:p>
        </p:txBody>
      </p:sp>
      <p:sp>
        <p:nvSpPr>
          <p:cNvPr id="319" name="Google Shape;319;p25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34749"/>
              <a:buChar char="•"/>
            </a:pPr>
            <a:r>
              <a:rPr b="1" lang="en-US">
                <a:solidFill>
                  <a:srgbClr val="03A2F8"/>
                </a:solidFill>
              </a:rPr>
              <a:t>Now consider a 4-digit binary example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Char char="•"/>
            </a:pPr>
            <a:r>
              <a:rPr lang="en-US" sz="4800"/>
              <a:t>1.000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–1</a:t>
            </a:r>
            <a:r>
              <a:rPr lang="en-US" sz="4800"/>
              <a:t> + –1.110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–2</a:t>
            </a:r>
            <a:r>
              <a:rPr lang="en-US" sz="4800"/>
              <a:t> (0.5 + –0.4375)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34749"/>
              <a:buNone/>
            </a:pPr>
            <a:r>
              <a:rPr lang="en-US"/>
              <a:t>1. Align binary points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None/>
            </a:pPr>
            <a:r>
              <a:rPr lang="en-US" sz="4800"/>
              <a:t>Shift number with smaller exponent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None/>
            </a:pPr>
            <a:r>
              <a:rPr lang="en-US" sz="4800"/>
              <a:t>1.000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–1</a:t>
            </a:r>
            <a:r>
              <a:rPr lang="en-US" sz="4800"/>
              <a:t> + –0.111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–1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34749"/>
              <a:buNone/>
            </a:pPr>
            <a:r>
              <a:rPr lang="en-US"/>
              <a:t>2. Add significands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None/>
            </a:pPr>
            <a:r>
              <a:rPr lang="en-US" sz="4800"/>
              <a:t>1.000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–1</a:t>
            </a:r>
            <a:r>
              <a:rPr lang="en-US" sz="4800"/>
              <a:t> + –0.111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–1</a:t>
            </a:r>
            <a:r>
              <a:rPr lang="en-US" sz="4800"/>
              <a:t> = 0.001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–1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34749"/>
              <a:buNone/>
            </a:pPr>
            <a:r>
              <a:rPr lang="en-US"/>
              <a:t>3. Normalize result &amp; check for over/underflow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None/>
            </a:pPr>
            <a:r>
              <a:rPr lang="en-US" sz="4800"/>
              <a:t>1.000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–4</a:t>
            </a:r>
            <a:r>
              <a:rPr lang="en-US" sz="4800"/>
              <a:t>, with no over/underflow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34749"/>
              <a:buNone/>
            </a:pPr>
            <a:r>
              <a:rPr lang="en-US"/>
              <a:t>4. Round and renormalize if necessary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ct val="40540"/>
              <a:buNone/>
            </a:pPr>
            <a:r>
              <a:rPr lang="en-US" sz="4800"/>
              <a:t>1.000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–4</a:t>
            </a:r>
            <a:r>
              <a:rPr lang="en-US" sz="4800"/>
              <a:t> (no change)  = 0.0625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ct val="34749"/>
              <a:buNone/>
            </a:pPr>
            <a:r>
              <a:t/>
            </a:r>
            <a:endParaRPr/>
          </a:p>
        </p:txBody>
      </p:sp>
      <p:sp>
        <p:nvSpPr>
          <p:cNvPr id="320" name="Google Shape;320;p25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25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Floating-Point Multiplication</a:t>
            </a:r>
            <a:endParaRPr/>
          </a:p>
        </p:txBody>
      </p:sp>
      <p:sp>
        <p:nvSpPr>
          <p:cNvPr id="327" name="Google Shape;327;p26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 sz="5600">
                <a:solidFill>
                  <a:srgbClr val="03A2F8"/>
                </a:solidFill>
              </a:rPr>
              <a:t>Consider a 4-digit decimal example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4800"/>
              <a:t>1.110 × 10</a:t>
            </a:r>
            <a:r>
              <a:rPr baseline="30000" lang="en-US" sz="4800"/>
              <a:t>10</a:t>
            </a:r>
            <a:r>
              <a:rPr lang="en-US" sz="4800"/>
              <a:t> × 9.200 × 10</a:t>
            </a:r>
            <a:r>
              <a:rPr baseline="30000" lang="en-US" sz="4800"/>
              <a:t>–5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1. Add exponents</a:t>
            </a:r>
            <a:endParaRPr/>
          </a:p>
          <a:p>
            <a:pPr indent="0" lvl="2" marL="1028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For biased exponents, subtract bias from sum</a:t>
            </a:r>
            <a:endParaRPr/>
          </a:p>
          <a:p>
            <a:pPr indent="0" lvl="2" marL="1028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New exponent = 10 + –5 = 5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2. Multiply significands</a:t>
            </a:r>
            <a:endParaRPr/>
          </a:p>
          <a:p>
            <a:pPr indent="0" lvl="2" marL="1028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1.110 × 9.200 = 10.212  ⇒  10.212 × 10</a:t>
            </a:r>
            <a:r>
              <a:rPr baseline="30000" lang="en-US" sz="4800"/>
              <a:t>5</a:t>
            </a:r>
            <a:endParaRPr baseline="30000" sz="4800"/>
          </a:p>
          <a:p>
            <a:pPr indent="0" lvl="1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3. Normalize result &amp; check for over/underflow</a:t>
            </a:r>
            <a:endParaRPr/>
          </a:p>
          <a:p>
            <a:pPr indent="0" lvl="2" marL="1028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1.0212 × 10</a:t>
            </a:r>
            <a:r>
              <a:rPr baseline="30000" lang="en-US" sz="4800"/>
              <a:t>6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4. Round and renormalize if necessary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1.021 × 10</a:t>
            </a:r>
            <a:r>
              <a:rPr baseline="30000" lang="en-US" sz="4800"/>
              <a:t>6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5. Determine sign of result from signs of operands</a:t>
            </a:r>
            <a:endParaRPr/>
          </a:p>
          <a:p>
            <a:pPr indent="0" lvl="2" marL="1028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+1.021 × 10</a:t>
            </a:r>
            <a:r>
              <a:rPr baseline="30000" lang="en-US" sz="4800"/>
              <a:t>6</a:t>
            </a:r>
            <a:endParaRPr/>
          </a:p>
        </p:txBody>
      </p:sp>
      <p:sp>
        <p:nvSpPr>
          <p:cNvPr id="328" name="Google Shape;328;p26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26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Floating-Point Multiplication</a:t>
            </a:r>
            <a:endParaRPr/>
          </a:p>
        </p:txBody>
      </p:sp>
      <p:sp>
        <p:nvSpPr>
          <p:cNvPr id="335" name="Google Shape;335;p27"/>
          <p:cNvSpPr txBox="1"/>
          <p:nvPr>
            <p:ph idx="1" type="body"/>
          </p:nvPr>
        </p:nvSpPr>
        <p:spPr>
          <a:xfrm>
            <a:off x="888090" y="219508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5600">
                <a:solidFill>
                  <a:srgbClr val="03A2F8"/>
                </a:solidFill>
              </a:rPr>
              <a:t>Now consider a 4-digit binary example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4800"/>
              <a:t>1.000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–1</a:t>
            </a:r>
            <a:r>
              <a:rPr lang="en-US" sz="4800"/>
              <a:t> × –1.110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–2</a:t>
            </a:r>
            <a:r>
              <a:rPr lang="en-US" sz="4800"/>
              <a:t> (0.5 × –0.4375)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1. Add exponents</a:t>
            </a:r>
            <a:endParaRPr/>
          </a:p>
          <a:p>
            <a:pPr indent="0" lvl="2" marL="1028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Unbiased: –1 + –2 = –3</a:t>
            </a:r>
            <a:endParaRPr/>
          </a:p>
          <a:p>
            <a:pPr indent="0" lvl="2" marL="1028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Biased: (–1 + 127) + (–2 + 127) = –3 + 254 – 127 = –3 + 127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2. Multiply significands</a:t>
            </a:r>
            <a:endParaRPr/>
          </a:p>
          <a:p>
            <a:pPr indent="0" lvl="2" marL="1028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1.000</a:t>
            </a:r>
            <a:r>
              <a:rPr baseline="-25000" lang="en-US" sz="4800"/>
              <a:t>2</a:t>
            </a:r>
            <a:r>
              <a:rPr lang="en-US" sz="4800"/>
              <a:t> × 1.110</a:t>
            </a:r>
            <a:r>
              <a:rPr baseline="-25000" lang="en-US" sz="4800"/>
              <a:t>2</a:t>
            </a:r>
            <a:r>
              <a:rPr lang="en-US" sz="4800"/>
              <a:t> = 1.1102  ⇒  1.110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–3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3. Normalize result &amp; check for over/underflow</a:t>
            </a:r>
            <a:endParaRPr/>
          </a:p>
          <a:p>
            <a:pPr indent="0" lvl="2" marL="1028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1.110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–3</a:t>
            </a:r>
            <a:r>
              <a:rPr lang="en-US" sz="4800"/>
              <a:t> (no change) with no over/underflow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4. Round and renormalize if necessary</a:t>
            </a:r>
            <a:endParaRPr/>
          </a:p>
          <a:p>
            <a:pPr indent="0" lvl="2" marL="1028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1.110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–3</a:t>
            </a:r>
            <a:r>
              <a:rPr lang="en-US" sz="4800"/>
              <a:t> (no change)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5. Determine sign: +ve × –ve ⇒ –ve</a:t>
            </a:r>
            <a:endParaRPr/>
          </a:p>
          <a:p>
            <a:pPr indent="0" lvl="2" marL="1028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/>
              <a:t>–1.110</a:t>
            </a:r>
            <a:r>
              <a:rPr baseline="-25000" lang="en-US" sz="4800"/>
              <a:t>2</a:t>
            </a:r>
            <a:r>
              <a:rPr lang="en-US" sz="4800"/>
              <a:t> × 2</a:t>
            </a:r>
            <a:r>
              <a:rPr baseline="30000" lang="en-US" sz="4800"/>
              <a:t>–3</a:t>
            </a:r>
            <a:r>
              <a:rPr lang="en-US" sz="4800"/>
              <a:t>  = –0.21875</a:t>
            </a:r>
            <a:endParaRPr/>
          </a:p>
        </p:txBody>
      </p:sp>
      <p:sp>
        <p:nvSpPr>
          <p:cNvPr id="336" name="Google Shape;336;p27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27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"/>
          <p:cNvSpPr txBox="1"/>
          <p:nvPr>
            <p:ph type="title"/>
          </p:nvPr>
        </p:nvSpPr>
        <p:spPr>
          <a:xfrm>
            <a:off x="888090" y="216675"/>
            <a:ext cx="22211762" cy="1772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343" name="Google Shape;343;p28"/>
          <p:cNvSpPr txBox="1"/>
          <p:nvPr>
            <p:ph idx="1" type="body"/>
          </p:nvPr>
        </p:nvSpPr>
        <p:spPr>
          <a:xfrm>
            <a:off x="888090" y="2580094"/>
            <a:ext cx="22211762" cy="98296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44" name="Google Shape;344;p28"/>
          <p:cNvSpPr txBox="1"/>
          <p:nvPr>
            <p:ph idx="12" type="sldNum"/>
          </p:nvPr>
        </p:nvSpPr>
        <p:spPr>
          <a:xfrm>
            <a:off x="72442" y="12901281"/>
            <a:ext cx="914033" cy="923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28"/>
          <p:cNvSpPr txBox="1"/>
          <p:nvPr>
            <p:ph idx="2" type="body"/>
          </p:nvPr>
        </p:nvSpPr>
        <p:spPr>
          <a:xfrm>
            <a:off x="1009353" y="13114675"/>
            <a:ext cx="10424160" cy="7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52"/>
              <a:buFont typeface="Calibri"/>
              <a:buNone/>
            </a:pPr>
            <a:r>
              <a:rPr lang="en-US"/>
              <a:t>CS3051-COMPUTER ARCHITECTURE</a:t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888090" y="2580094"/>
            <a:ext cx="23125795" cy="145232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888090" y="4208927"/>
            <a:ext cx="23125795" cy="1452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Representation</a:t>
            </a:r>
            <a:endParaRPr b="0" i="0" sz="6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 txBox="1"/>
          <p:nvPr/>
        </p:nvSpPr>
        <p:spPr>
          <a:xfrm>
            <a:off x="888090" y="7462905"/>
            <a:ext cx="23125795" cy="1452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>
            <a:off x="888090" y="5835916"/>
            <a:ext cx="23125795" cy="1452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Floating Point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/>
          <p:nvPr/>
        </p:nvSpPr>
        <p:spPr>
          <a:xfrm>
            <a:off x="0" y="8101310"/>
            <a:ext cx="24384000" cy="38284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9"/>
          <p:cNvSpPr txBox="1"/>
          <p:nvPr>
            <p:ph idx="4294967295" type="body"/>
          </p:nvPr>
        </p:nvSpPr>
        <p:spPr>
          <a:xfrm>
            <a:off x="4212431" y="3901426"/>
            <a:ext cx="15959138" cy="10475912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00"/>
              <a:buFont typeface="Calibri"/>
              <a:buNone/>
            </a:pPr>
            <a:r>
              <a:rPr b="1" lang="en-US" sz="10300">
                <a:solidFill>
                  <a:srgbClr val="DDDDDB"/>
                </a:solidFill>
                <a:latin typeface="Montserrat"/>
                <a:ea typeface="Montserrat"/>
                <a:cs typeface="Montserrat"/>
                <a:sym typeface="Montserrat"/>
              </a:rPr>
              <a:t>Which one requires more hardware?</a:t>
            </a:r>
            <a:endParaRPr/>
          </a:p>
        </p:txBody>
      </p:sp>
      <p:sp>
        <p:nvSpPr>
          <p:cNvPr id="356" name="Google Shape;356;p29"/>
          <p:cNvSpPr txBox="1"/>
          <p:nvPr>
            <p:ph idx="4294967295" type="sldNum"/>
          </p:nvPr>
        </p:nvSpPr>
        <p:spPr>
          <a:xfrm>
            <a:off x="23750588" y="12722225"/>
            <a:ext cx="633412" cy="63023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29"/>
          <p:cNvSpPr txBox="1"/>
          <p:nvPr/>
        </p:nvSpPr>
        <p:spPr>
          <a:xfrm>
            <a:off x="2339163" y="8719267"/>
            <a:ext cx="20457374" cy="2848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600"/>
              <a:buFont typeface="Arial"/>
              <a:buChar char="•"/>
            </a:pPr>
            <a:r>
              <a:rPr b="1" i="0" lang="en-US" sz="5400" u="none" cap="none" strike="noStrike">
                <a:solidFill>
                  <a:srgbClr val="F4F4FF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050"/>
              </a:buClr>
              <a:buSzPts val="5600"/>
              <a:buFont typeface="Arial"/>
              <a:buChar char="•"/>
            </a:pPr>
            <a:r>
              <a:rPr b="1" i="0" lang="en-US" sz="5400" u="none" cap="none" strike="noStrike">
                <a:solidFill>
                  <a:srgbClr val="F4F4FF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/>
          </a:p>
          <a:p>
            <a:pPr indent="-1016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B050"/>
              </a:buClr>
              <a:buSzPts val="56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"/>
          <p:cNvSpPr txBox="1"/>
          <p:nvPr>
            <p:ph idx="4294967295" type="body"/>
          </p:nvPr>
        </p:nvSpPr>
        <p:spPr>
          <a:xfrm>
            <a:off x="10178716" y="2579688"/>
            <a:ext cx="12033584" cy="9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533400" lvl="1" marL="990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4F4FF"/>
              </a:buClr>
              <a:buSzPts val="6000"/>
              <a:buChar char="•"/>
            </a:pPr>
            <a:r>
              <a:rPr b="1" lang="en-US" sz="6600">
                <a:solidFill>
                  <a:srgbClr val="F4F4FF"/>
                </a:solidFill>
              </a:rPr>
              <a:t>Computer</a:t>
            </a:r>
            <a:r>
              <a:rPr lang="en-US" sz="6600">
                <a:solidFill>
                  <a:srgbClr val="F4F4FF"/>
                </a:solidFill>
              </a:rPr>
              <a:t> </a:t>
            </a:r>
            <a:r>
              <a:rPr b="1" lang="en-US" sz="6600">
                <a:solidFill>
                  <a:srgbClr val="F4F4FF"/>
                </a:solidFill>
              </a:rPr>
              <a:t>Architecture </a:t>
            </a:r>
            <a:r>
              <a:rPr b="1" lang="en-US" sz="6600">
                <a:solidFill>
                  <a:srgbClr val="0CF2BB"/>
                </a:solidFill>
              </a:rPr>
              <a:t>is a very important and active area in Computer Science.</a:t>
            </a:r>
            <a:endParaRPr sz="6000">
              <a:solidFill>
                <a:srgbClr val="0CF2BB"/>
              </a:solidFill>
            </a:endParaRPr>
          </a:p>
          <a:p>
            <a:pPr indent="-533400" lvl="1" marL="9906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4F4FF"/>
              </a:buClr>
              <a:buSzPts val="6000"/>
              <a:buChar char="•"/>
            </a:pPr>
            <a:r>
              <a:rPr lang="en-US" sz="6600">
                <a:solidFill>
                  <a:srgbClr val="96D9FD"/>
                </a:solidFill>
              </a:rPr>
              <a:t>Data is represented as fixed size values inside the computing system.</a:t>
            </a:r>
            <a:endParaRPr sz="6000">
              <a:solidFill>
                <a:srgbClr val="96D9FD"/>
              </a:solidFill>
            </a:endParaRPr>
          </a:p>
          <a:p>
            <a:pPr indent="-533400" lvl="2" marL="14478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4F4FF"/>
              </a:buClr>
              <a:buSzPts val="6000"/>
              <a:buChar char="•"/>
            </a:pPr>
            <a:r>
              <a:rPr lang="en-US" sz="6600">
                <a:solidFill>
                  <a:srgbClr val="FFFF00"/>
                </a:solidFill>
              </a:rPr>
              <a:t>We reviewed binary number representation.</a:t>
            </a:r>
            <a:endParaRPr/>
          </a:p>
          <a:p>
            <a:pPr indent="-533400" lvl="2" marL="14478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4F4FF"/>
              </a:buClr>
              <a:buSzPts val="6000"/>
              <a:buChar char="•"/>
            </a:pPr>
            <a:r>
              <a:rPr lang="en-US" sz="6000">
                <a:solidFill>
                  <a:srgbClr val="FFFF00"/>
                </a:solidFill>
              </a:rPr>
              <a:t>We introduced FP representation.</a:t>
            </a:r>
            <a:endParaRPr/>
          </a:p>
          <a:p>
            <a:pPr indent="-152400" lvl="1" marL="9906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4F4FF"/>
              </a:buClr>
              <a:buSzPts val="6000"/>
              <a:buNone/>
            </a:pPr>
            <a:r>
              <a:t/>
            </a:r>
            <a:endParaRPr sz="6600">
              <a:solidFill>
                <a:srgbClr val="F4F4FF"/>
              </a:solidFill>
            </a:endParaRPr>
          </a:p>
        </p:txBody>
      </p:sp>
      <p:sp>
        <p:nvSpPr>
          <p:cNvPr id="363" name="Google Shape;363;p30"/>
          <p:cNvSpPr txBox="1"/>
          <p:nvPr>
            <p:ph idx="4294967295" type="sldNum"/>
          </p:nvPr>
        </p:nvSpPr>
        <p:spPr>
          <a:xfrm>
            <a:off x="0" y="12901613"/>
            <a:ext cx="912813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30"/>
          <p:cNvSpPr txBox="1"/>
          <p:nvPr>
            <p:ph idx="4294967295" type="title"/>
          </p:nvPr>
        </p:nvSpPr>
        <p:spPr>
          <a:xfrm>
            <a:off x="11106150" y="419893"/>
            <a:ext cx="22212300" cy="1773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</a:pPr>
            <a:r>
              <a:rPr b="1" lang="en-US">
                <a:solidFill>
                  <a:srgbClr val="F4F4FF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/>
          <p:nvPr>
            <p:ph type="title"/>
          </p:nvPr>
        </p:nvSpPr>
        <p:spPr>
          <a:xfrm>
            <a:off x="1805221" y="2416857"/>
            <a:ext cx="20881032" cy="224449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14800"/>
              <a:buFont typeface="Calibri"/>
              <a:buNone/>
            </a:pPr>
            <a:r>
              <a:rPr lang="en-US"/>
              <a:t>1.Introduction</a:t>
            </a:r>
            <a:endParaRPr/>
          </a:p>
        </p:txBody>
      </p:sp>
      <p:sp>
        <p:nvSpPr>
          <p:cNvPr id="370" name="Google Shape;370;p31"/>
          <p:cNvSpPr txBox="1"/>
          <p:nvPr>
            <p:ph idx="1" type="body"/>
          </p:nvPr>
        </p:nvSpPr>
        <p:spPr>
          <a:xfrm>
            <a:off x="489007" y="4799491"/>
            <a:ext cx="19587328" cy="210289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rmAutofit/>
          </a:bodyPr>
          <a:lstStyle/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Calibri"/>
              <a:buNone/>
            </a:pPr>
            <a:r>
              <a:rPr lang="en-US"/>
              <a:t>Computer Architecture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8_Academy">
  <a:themeElements>
    <a:clrScheme name="28_Academy">
      <a:dk1>
        <a:srgbClr val="000000"/>
      </a:dk1>
      <a:lt1>
        <a:srgbClr val="000034"/>
      </a:lt1>
      <a:dk2>
        <a:srgbClr val="555952"/>
      </a:dk2>
      <a:lt2>
        <a:srgbClr val="D6DCCF"/>
      </a:lt2>
      <a:accent1>
        <a:srgbClr val="3B39E4"/>
      </a:accent1>
      <a:accent2>
        <a:srgbClr val="51C1FD"/>
      </a:accent2>
      <a:accent3>
        <a:srgbClr val="5EF7D2"/>
      </a:accent3>
      <a:accent4>
        <a:srgbClr val="BFF823"/>
      </a:accent4>
      <a:accent5>
        <a:srgbClr val="FFA728"/>
      </a:accent5>
      <a:accent6>
        <a:srgbClr val="FF5F52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8_Academy">
  <a:themeElements>
    <a:clrScheme name="28_Academy">
      <a:dk1>
        <a:srgbClr val="000000"/>
      </a:dk1>
      <a:lt1>
        <a:srgbClr val="FFFFFF"/>
      </a:lt1>
      <a:dk2>
        <a:srgbClr val="555952"/>
      </a:dk2>
      <a:lt2>
        <a:srgbClr val="D6DCCF"/>
      </a:lt2>
      <a:accent1>
        <a:srgbClr val="3B39E4"/>
      </a:accent1>
      <a:accent2>
        <a:srgbClr val="51C1FD"/>
      </a:accent2>
      <a:accent3>
        <a:srgbClr val="5EF7D2"/>
      </a:accent3>
      <a:accent4>
        <a:srgbClr val="BFF823"/>
      </a:accent4>
      <a:accent5>
        <a:srgbClr val="FFA728"/>
      </a:accent5>
      <a:accent6>
        <a:srgbClr val="FF5F52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2024-04-01T10:39:37Z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1033-11.1.0.11698</vt:lpwstr>
  </property>
</Properties>
</file>